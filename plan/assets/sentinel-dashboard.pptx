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7050" cy="10287000"/>
          </a:xfrm>
          <a:prstGeom prst="rect">
            <a:avLst/>
          </a:prstGeom>
          <a:solidFill>
            <a:srgbClr val="171923"/>
          </a:solidFill>
          <a:ln/>
        </p:spPr>
      </p:sp>
      <p:sp>
        <p:nvSpPr>
          <p:cNvPr id="3" name="Shape 1"/>
          <p:cNvSpPr/>
          <p:nvPr/>
        </p:nvSpPr>
        <p:spPr>
          <a:xfrm>
            <a:off x="3059430" y="0"/>
            <a:ext cx="9525" cy="10287000"/>
          </a:xfrm>
          <a:prstGeom prst="rect">
            <a:avLst/>
          </a:prstGeom>
          <a:solidFill>
            <a:srgbClr val="949ED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5" name="Shape 3"/>
          <p:cNvSpPr/>
          <p:nvPr/>
        </p:nvSpPr>
        <p:spPr>
          <a:xfrm>
            <a:off x="223838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2400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3838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8" name="Text 6"/>
          <p:cNvSpPr/>
          <p:nvPr/>
        </p:nvSpPr>
        <p:spPr>
          <a:xfrm>
            <a:off x="357188" y="152400"/>
            <a:ext cx="834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8968" y="160020"/>
            <a:ext cx="688062" cy="144780"/>
          </a:xfrm>
          <a:prstGeom prst="roundRect">
            <a:avLst>
              <a:gd name="adj" fmla="val 26316"/>
            </a:avLst>
          </a:prstGeom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3738" y="186690"/>
            <a:ext cx="63472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57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MODE</a:t>
            </a:r>
            <a:endParaRPr lang="en-US" sz="638" dirty="0"/>
          </a:p>
        </p:txBody>
      </p:sp>
      <p:sp>
        <p:nvSpPr>
          <p:cNvPr id="11" name="Text 9"/>
          <p:cNvSpPr/>
          <p:nvPr/>
        </p:nvSpPr>
        <p:spPr>
          <a:xfrm>
            <a:off x="152400" y="436245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P&amp;L · 09:15 → NOW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152400" y="571500"/>
            <a:ext cx="3030093" cy="40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75" b="1" spc="-55" kern="0" dirty="0">
                <a:solidFill>
                  <a:srgbClr val="F1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−₹18,683</a:t>
            </a:r>
            <a:endParaRPr lang="en-US" sz="2775" dirty="0"/>
          </a:p>
        </p:txBody>
      </p:sp>
      <p:sp>
        <p:nvSpPr>
          <p:cNvPr id="13" name="Text 11"/>
          <p:cNvSpPr/>
          <p:nvPr/>
        </p:nvSpPr>
        <p:spPr>
          <a:xfrm>
            <a:off x="152400" y="970121"/>
            <a:ext cx="84617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</a:t>
            </a:r>
            <a:pPr algn="l" indent="0" marL="0">
              <a:buNone/>
            </a:pPr>
            <a:r>
              <a:rPr lang="en-US" sz="788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−₹20,540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1046202" y="970121"/>
            <a:ext cx="78617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unrl </a:t>
            </a:r>
            <a:pPr algn="l" indent="0" marL="0">
              <a:buNone/>
            </a:pPr>
            <a:r>
              <a:rPr lang="en-US" sz="788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+₹1,857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152400" y="1223486"/>
            <a:ext cx="2754630" cy="1158240"/>
          </a:xfrm>
          <a:prstGeom prst="roundRect">
            <a:avLst>
              <a:gd name="adj" fmla="val 9868"/>
            </a:avLst>
          </a:prstGeom>
          <a:solidFill>
            <a:srgbClr val="1B1D27"/>
          </a:solidFill>
          <a:ln w="7620">
            <a:solidFill>
              <a:srgbClr val="EEB65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" y="1345406"/>
            <a:ext cx="914400" cy="914400"/>
          </a:xfrm>
          <a:prstGeom prst="ellipse">
            <a:avLst/>
          </a:prstGeom>
          <a:solidFill>
            <a:srgbClr val="EEB653"/>
          </a:solidFill>
          <a:ln/>
        </p:spPr>
      </p:sp>
      <p:sp>
        <p:nvSpPr>
          <p:cNvPr id="17" name="Text 15"/>
          <p:cNvSpPr/>
          <p:nvPr/>
        </p:nvSpPr>
        <p:spPr>
          <a:xfrm>
            <a:off x="531257" y="1634966"/>
            <a:ext cx="49565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89585" y="1878806"/>
            <a:ext cx="57912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36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LIMIT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31595" y="1482923"/>
            <a:ext cx="1588389" cy="185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₹20,540 of ₹25,000 daily limit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1331595" y="1668899"/>
            <a:ext cx="1520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auto-halt at 100%. Exits always allowed.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31595" y="1973699"/>
            <a:ext cx="1343144" cy="148590"/>
          </a:xfrm>
          <a:prstGeom prst="roundRect">
            <a:avLst>
              <a:gd name="adj" fmla="val 25641"/>
            </a:avLst>
          </a:prstGeom>
          <a:solidFill>
            <a:srgbClr val="EEB653">
              <a:alpha val="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88745" y="2002274"/>
            <a:ext cx="130504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8" kern="0" dirty="0">
                <a:solidFill>
                  <a:srgbClr val="EEB653">
                    <a:alpha val="30000"/>
                  </a:srgbClr>
                </a:solidFill>
                <a:highlight>
                  <a:srgbClr val="FDF8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ARMED </a:t>
            </a:r>
            <a:pPr algn="l" indent="0" marL="0">
              <a:buNone/>
            </a:pPr>
            <a:r>
              <a:rPr lang="en-US" sz="638" b="1" spc="38" kern="0" dirty="0">
                <a:solidFill>
                  <a:srgbClr val="EEB653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13:15 IST</a:t>
            </a:r>
            <a:endParaRPr lang="en-US" sz="638" dirty="0"/>
          </a:p>
        </p:txBody>
      </p:sp>
      <p:sp>
        <p:nvSpPr>
          <p:cNvPr id="23" name="Shape 21"/>
          <p:cNvSpPr/>
          <p:nvPr/>
        </p:nvSpPr>
        <p:spPr>
          <a:xfrm>
            <a:off x="152400" y="2505551"/>
            <a:ext cx="2754630" cy="994410"/>
          </a:xfrm>
          <a:prstGeom prst="roundRect">
            <a:avLst>
              <a:gd name="adj" fmla="val 11494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370" y="267700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436245" y="2636996"/>
            <a:ext cx="40528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080141" y="2652236"/>
            <a:ext cx="7621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FYERS · 44ms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98120" y="285035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" y="297418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9" name="Text 27"/>
          <p:cNvSpPr/>
          <p:nvPr/>
        </p:nvSpPr>
        <p:spPr>
          <a:xfrm>
            <a:off x="436245" y="2934176"/>
            <a:ext cx="43088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679972" y="2949416"/>
            <a:ext cx="116228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13:42:27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8120" y="314753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" y="3271361"/>
            <a:ext cx="57150" cy="57150"/>
          </a:xfrm>
          <a:prstGeom prst="ellipse">
            <a:avLst/>
          </a:prstGeom>
          <a:solidFill>
            <a:srgbClr val="8F97F9"/>
          </a:solidFill>
          <a:ln/>
        </p:spPr>
      </p:sp>
      <p:sp>
        <p:nvSpPr>
          <p:cNvPr id="33" name="Text 31"/>
          <p:cNvSpPr/>
          <p:nvPr/>
        </p:nvSpPr>
        <p:spPr>
          <a:xfrm>
            <a:off x="436245" y="3231356"/>
            <a:ext cx="41874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622822" y="3246596"/>
            <a:ext cx="121943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· 26 signals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2400" y="8660606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CONTROLS</a:t>
            </a:r>
            <a:endParaRPr lang="en-US" sz="713" dirty="0"/>
          </a:p>
        </p:txBody>
      </p:sp>
      <p:sp>
        <p:nvSpPr>
          <p:cNvPr id="36" name="Shape 34"/>
          <p:cNvSpPr/>
          <p:nvPr/>
        </p:nvSpPr>
        <p:spPr>
          <a:xfrm>
            <a:off x="152400" y="8843486"/>
            <a:ext cx="2754630" cy="419100"/>
          </a:xfrm>
          <a:prstGeom prst="roundRect">
            <a:avLst>
              <a:gd name="adj" fmla="val 25000"/>
            </a:avLst>
          </a:prstGeom>
          <a:solidFill>
            <a:srgbClr val="EEB653">
              <a:alpha val="8000"/>
            </a:srgbClr>
          </a:solidFill>
          <a:ln w="7620">
            <a:solidFill>
              <a:srgbClr val="EEB653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851" y="8860631"/>
            <a:ext cx="2707729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69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⏸ PAUSE ALL TRADING</a:t>
            </a:r>
            <a:endParaRPr lang="en-US" sz="863" dirty="0"/>
          </a:p>
        </p:txBody>
      </p:sp>
      <p:sp>
        <p:nvSpPr>
          <p:cNvPr id="38" name="Shape 36"/>
          <p:cNvSpPr/>
          <p:nvPr/>
        </p:nvSpPr>
        <p:spPr>
          <a:xfrm>
            <a:off x="152400" y="9338786"/>
            <a:ext cx="2754630" cy="476250"/>
          </a:xfrm>
          <a:prstGeom prst="roundRect">
            <a:avLst>
              <a:gd name="adj" fmla="val 22000"/>
            </a:avLst>
          </a:prstGeom>
          <a:solidFill>
            <a:srgbClr val="3A1D22"/>
          </a:solidFill>
          <a:ln w="7620">
            <a:solidFill>
              <a:srgbClr val="F16F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441" y="9453086"/>
            <a:ext cx="9565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SWITCH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042" y="9601676"/>
            <a:ext cx="865346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spc="32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TO CONFIRM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152400" y="9891237"/>
            <a:ext cx="2837269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trades; you supervise. Pause and kill are the only manual levers — there is deliberately no order ticket.</a:t>
            </a:r>
            <a:endParaRPr lang="en-US" sz="713" dirty="0"/>
          </a:p>
        </p:txBody>
      </p:sp>
      <p:sp>
        <p:nvSpPr>
          <p:cNvPr id="42" name="Shape 40"/>
          <p:cNvSpPr/>
          <p:nvPr/>
        </p:nvSpPr>
        <p:spPr>
          <a:xfrm>
            <a:off x="3067050" y="476250"/>
            <a:ext cx="1522095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324225" y="173355"/>
            <a:ext cx="55256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05175" y="436245"/>
            <a:ext cx="514469" cy="19050"/>
          </a:xfrm>
          <a:prstGeom prst="roundRect">
            <a:avLst>
              <a:gd name="adj" fmla="val 50000"/>
            </a:avLst>
          </a:prstGeom>
          <a:solidFill>
            <a:srgbClr val="8F97F9"/>
          </a:solidFill>
          <a:ln/>
        </p:spPr>
      </p:sp>
      <p:sp>
        <p:nvSpPr>
          <p:cNvPr id="45" name="Text 43"/>
          <p:cNvSpPr/>
          <p:nvPr/>
        </p:nvSpPr>
        <p:spPr>
          <a:xfrm>
            <a:off x="3991094" y="173355"/>
            <a:ext cx="59090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34401" y="173355"/>
            <a:ext cx="54006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26869" y="173355"/>
            <a:ext cx="4255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04798" y="173355"/>
            <a:ext cx="29229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49496" y="173355"/>
            <a:ext cx="5399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Digest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41845" y="173355"/>
            <a:ext cx="4892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5330488" y="177165"/>
            <a:ext cx="151779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13:42:27 IST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16824603" y="120015"/>
            <a:ext cx="1310997" cy="236220"/>
          </a:xfrm>
          <a:prstGeom prst="roundRect">
            <a:avLst>
              <a:gd name="adj" fmla="val 50000"/>
            </a:avLst>
          </a:prstGeom>
          <a:solidFill>
            <a:srgbClr val="3ECF8E">
              <a:alpha val="8000"/>
            </a:srgbClr>
          </a:solidFill>
          <a:ln w="7620">
            <a:solidFill>
              <a:srgbClr val="3ECF8E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936998" y="209550"/>
            <a:ext cx="57150" cy="57150"/>
          </a:xfrm>
          <a:prstGeom prst="ellipse">
            <a:avLst/>
          </a:prstGeom>
          <a:solidFill>
            <a:srgbClr val="3ECF8E">
              <a:alpha val="31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7060823" y="184785"/>
            <a:ext cx="73306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 ·</a:t>
            </a:r>
            <a:endParaRPr lang="en-US" sz="713" dirty="0"/>
          </a:p>
        </p:txBody>
      </p:sp>
      <p:sp>
        <p:nvSpPr>
          <p:cNvPr id="55" name="Text 53"/>
          <p:cNvSpPr/>
          <p:nvPr/>
        </p:nvSpPr>
        <p:spPr>
          <a:xfrm>
            <a:off x="17784366" y="184785"/>
            <a:ext cx="31503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44ms</a:t>
            </a:r>
            <a:endParaRPr lang="en-US" sz="713" dirty="0"/>
          </a:p>
        </p:txBody>
      </p:sp>
      <p:sp>
        <p:nvSpPr>
          <p:cNvPr id="56" name="Shape 54"/>
          <p:cNvSpPr/>
          <p:nvPr/>
        </p:nvSpPr>
        <p:spPr>
          <a:xfrm>
            <a:off x="3067050" y="483870"/>
            <a:ext cx="15220950" cy="396240"/>
          </a:xfrm>
          <a:prstGeom prst="rect">
            <a:avLst/>
          </a:prstGeom>
          <a:solidFill>
            <a:srgbClr val="EEB653">
              <a:alpha val="11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067050" y="872490"/>
            <a:ext cx="15220950" cy="9525"/>
          </a:xfrm>
          <a:prstGeom prst="rect">
            <a:avLst/>
          </a:prstGeom>
          <a:solidFill>
            <a:srgbClr val="EEB653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219450" y="575310"/>
            <a:ext cx="205740" cy="205740"/>
          </a:xfrm>
          <a:prstGeom prst="ellipse">
            <a:avLst/>
          </a:prstGeom>
          <a:ln w="7620">
            <a:solidFill>
              <a:srgbClr val="EEB65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88970" y="58293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29965" y="598170"/>
            <a:ext cx="72509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 at 82% of limit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₹20,540 of ₹25,000 realized. New entries auto-halt at 100%; exits and stop-losses stay active.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5762684" y="65436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949EDC">
              <a:alpha val="1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762684" y="654368"/>
            <a:ext cx="1017270" cy="47625"/>
          </a:xfrm>
          <a:prstGeom prst="rect">
            <a:avLst/>
          </a:prstGeom>
          <a:solidFill>
            <a:srgbClr val="EEB653"/>
          </a:solidFill>
          <a:ln/>
        </p:spPr>
      </p:sp>
      <p:sp>
        <p:nvSpPr>
          <p:cNvPr id="63" name="Shape 61"/>
          <p:cNvSpPr/>
          <p:nvPr/>
        </p:nvSpPr>
        <p:spPr>
          <a:xfrm>
            <a:off x="17105709" y="560070"/>
            <a:ext cx="1029891" cy="236220"/>
          </a:xfrm>
          <a:prstGeom prst="roundRect">
            <a:avLst>
              <a:gd name="adj" fmla="val 28226"/>
            </a:avLst>
          </a:prstGeom>
          <a:solidFill>
            <a:srgbClr val="EEB653">
              <a:alpha val="10000"/>
            </a:srgbClr>
          </a:solidFill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180004" y="624840"/>
            <a:ext cx="88130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38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ENTRIES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219450" y="1003935"/>
            <a:ext cx="3657600" cy="689610"/>
          </a:xfrm>
          <a:prstGeom prst="roundRect">
            <a:avLst>
              <a:gd name="adj" fmla="val 15193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41370" y="1106805"/>
            <a:ext cx="3755136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6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3341370" y="1245870"/>
            <a:ext cx="375513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₹4,50,697 </a:t>
            </a:r>
            <a:pPr algn="l" indent="0" marL="0">
              <a:buNone/>
            </a:pPr>
            <a:r>
              <a:rPr lang="en-US" sz="788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₹6,00,000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341370" y="1468755"/>
            <a:ext cx="3413760" cy="38100"/>
          </a:xfrm>
          <a:prstGeom prst="roundRect">
            <a:avLst>
              <a:gd name="adj" fmla="val 50000"/>
            </a:avLst>
          </a:prstGeom>
          <a:solidFill>
            <a:srgbClr val="949EDC">
              <a:alpha val="12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341370" y="1468755"/>
            <a:ext cx="2564249" cy="38100"/>
          </a:xfrm>
          <a:prstGeom prst="rect">
            <a:avLst/>
          </a:prstGeom>
          <a:solidFill>
            <a:srgbClr val="8F97F9"/>
          </a:solidFill>
          <a:ln/>
        </p:spPr>
      </p:sp>
      <p:sp>
        <p:nvSpPr>
          <p:cNvPr id="70" name="Shape 68"/>
          <p:cNvSpPr/>
          <p:nvPr/>
        </p:nvSpPr>
        <p:spPr>
          <a:xfrm>
            <a:off x="6972300" y="1003935"/>
            <a:ext cx="3657600" cy="689610"/>
          </a:xfrm>
          <a:prstGeom prst="roundRect">
            <a:avLst>
              <a:gd name="adj" fmla="val 15193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94220" y="1106805"/>
            <a:ext cx="3755136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6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MARGIN</a:t>
            </a:r>
            <a:endParaRPr lang="en-US" sz="675" dirty="0"/>
          </a:p>
        </p:txBody>
      </p:sp>
      <p:sp>
        <p:nvSpPr>
          <p:cNvPr id="72" name="Text 70"/>
          <p:cNvSpPr/>
          <p:nvPr/>
        </p:nvSpPr>
        <p:spPr>
          <a:xfrm>
            <a:off x="7094220" y="1245870"/>
            <a:ext cx="375513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₹1,49,303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094220" y="1468755"/>
            <a:ext cx="375513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₹6,00,000 allocated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0725150" y="1003935"/>
            <a:ext cx="3657600" cy="689610"/>
          </a:xfrm>
          <a:prstGeom prst="roundRect">
            <a:avLst>
              <a:gd name="adj" fmla="val 15193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847070" y="1106805"/>
            <a:ext cx="3755136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6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POSITIONS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10847070" y="1245870"/>
            <a:ext cx="375513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6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847070" y="1468755"/>
            <a:ext cx="375513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long · 1 short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4478000" y="1003935"/>
            <a:ext cx="3657600" cy="689610"/>
          </a:xfrm>
          <a:prstGeom prst="roundRect">
            <a:avLst>
              <a:gd name="adj" fmla="val 15193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599920" y="1106805"/>
            <a:ext cx="3755136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6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TODAY</a:t>
            </a:r>
            <a:endParaRPr lang="en-US" sz="675" dirty="0"/>
          </a:p>
        </p:txBody>
      </p:sp>
      <p:sp>
        <p:nvSpPr>
          <p:cNvPr id="80" name="Text 78"/>
          <p:cNvSpPr/>
          <p:nvPr/>
        </p:nvSpPr>
        <p:spPr>
          <a:xfrm>
            <a:off x="14599920" y="1245870"/>
            <a:ext cx="375513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algn="l" indent="0" marL="0">
              <a:buNone/>
            </a:pPr>
            <a:r>
              <a:rPr lang="en-US" sz="788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</a:t>
            </a:r>
            <a:pPr algn="l" indent="0" marL="0">
              <a:buNone/>
            </a:pPr>
            <a:r>
              <a:rPr lang="en-US" sz="120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buNone/>
            </a:pPr>
            <a:r>
              <a:rPr lang="en-US" sz="1200" b="1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blocked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4599920" y="1468755"/>
            <a:ext cx="375513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logged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219450" y="1807845"/>
            <a:ext cx="14916150" cy="2047875"/>
          </a:xfrm>
          <a:prstGeom prst="roundRect">
            <a:avLst>
              <a:gd name="adj" fmla="val 5581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60420" y="1929765"/>
            <a:ext cx="9022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positions</a:t>
            </a:r>
            <a:endParaRPr lang="en-US" sz="975" dirty="0"/>
          </a:p>
        </p:txBody>
      </p:sp>
      <p:sp>
        <p:nvSpPr>
          <p:cNvPr id="84" name="Text 82"/>
          <p:cNvSpPr/>
          <p:nvPr/>
        </p:nvSpPr>
        <p:spPr>
          <a:xfrm>
            <a:off x="4272201" y="1948815"/>
            <a:ext cx="4192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OF 6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16862822" y="1945005"/>
            <a:ext cx="12080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UNREALIZED +₹1,857</a:t>
            </a:r>
            <a:endParaRPr lang="en-US" sz="825" dirty="0"/>
          </a:p>
        </p:txBody>
      </p:sp>
      <p:sp>
        <p:nvSpPr>
          <p:cNvPr id="86" name="Shape 84"/>
          <p:cNvSpPr/>
          <p:nvPr/>
        </p:nvSpPr>
        <p:spPr>
          <a:xfrm>
            <a:off x="3360420" y="2318385"/>
            <a:ext cx="1463421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3360420" y="2169795"/>
            <a:ext cx="11430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675" dirty="0"/>
          </a:p>
        </p:txBody>
      </p:sp>
      <p:sp>
        <p:nvSpPr>
          <p:cNvPr id="88" name="Text 86"/>
          <p:cNvSpPr/>
          <p:nvPr/>
        </p:nvSpPr>
        <p:spPr>
          <a:xfrm>
            <a:off x="4427220" y="2169795"/>
            <a:ext cx="7048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</a:t>
            </a:r>
            <a:endParaRPr lang="en-US" sz="675" dirty="0"/>
          </a:p>
        </p:txBody>
      </p:sp>
      <p:sp>
        <p:nvSpPr>
          <p:cNvPr id="89" name="Text 87"/>
          <p:cNvSpPr/>
          <p:nvPr/>
        </p:nvSpPr>
        <p:spPr>
          <a:xfrm>
            <a:off x="4979670" y="2169795"/>
            <a:ext cx="5143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</a:t>
            </a:r>
            <a:endParaRPr lang="en-US" sz="675" dirty="0"/>
          </a:p>
        </p:txBody>
      </p:sp>
      <p:sp>
        <p:nvSpPr>
          <p:cNvPr id="90" name="Text 88"/>
          <p:cNvSpPr/>
          <p:nvPr/>
        </p:nvSpPr>
        <p:spPr>
          <a:xfrm>
            <a:off x="5417820" y="2169795"/>
            <a:ext cx="8763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endParaRPr lang="en-US" sz="675" dirty="0"/>
          </a:p>
        </p:txBody>
      </p:sp>
      <p:sp>
        <p:nvSpPr>
          <p:cNvPr id="91" name="Text 89"/>
          <p:cNvSpPr/>
          <p:nvPr/>
        </p:nvSpPr>
        <p:spPr>
          <a:xfrm>
            <a:off x="6217920" y="2169795"/>
            <a:ext cx="8763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LTP</a:t>
            </a:r>
            <a:endParaRPr lang="en-US" sz="675" dirty="0"/>
          </a:p>
        </p:txBody>
      </p:sp>
      <p:sp>
        <p:nvSpPr>
          <p:cNvPr id="92" name="Text 90"/>
          <p:cNvSpPr/>
          <p:nvPr/>
        </p:nvSpPr>
        <p:spPr>
          <a:xfrm>
            <a:off x="7018020" y="2169795"/>
            <a:ext cx="9715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P&amp;L ₹</a:t>
            </a:r>
            <a:endParaRPr lang="en-US" sz="675" dirty="0"/>
          </a:p>
        </p:txBody>
      </p:sp>
      <p:sp>
        <p:nvSpPr>
          <p:cNvPr id="93" name="Text 91"/>
          <p:cNvSpPr/>
          <p:nvPr/>
        </p:nvSpPr>
        <p:spPr>
          <a:xfrm>
            <a:off x="7913370" y="2169795"/>
            <a:ext cx="6096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675" dirty="0"/>
          </a:p>
        </p:txBody>
      </p:sp>
      <p:sp>
        <p:nvSpPr>
          <p:cNvPr id="94" name="Text 92"/>
          <p:cNvSpPr/>
          <p:nvPr/>
        </p:nvSpPr>
        <p:spPr>
          <a:xfrm>
            <a:off x="8446770" y="2169795"/>
            <a:ext cx="8953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675" dirty="0"/>
          </a:p>
        </p:txBody>
      </p:sp>
      <p:sp>
        <p:nvSpPr>
          <p:cNvPr id="95" name="Text 93"/>
          <p:cNvSpPr/>
          <p:nvPr/>
        </p:nvSpPr>
        <p:spPr>
          <a:xfrm>
            <a:off x="9265920" y="2169795"/>
            <a:ext cx="8953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675" dirty="0"/>
          </a:p>
        </p:txBody>
      </p:sp>
      <p:sp>
        <p:nvSpPr>
          <p:cNvPr id="96" name="Text 94"/>
          <p:cNvSpPr/>
          <p:nvPr/>
        </p:nvSpPr>
        <p:spPr>
          <a:xfrm>
            <a:off x="9377934" y="2169795"/>
            <a:ext cx="8616696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675" dirty="0"/>
          </a:p>
        </p:txBody>
      </p:sp>
      <p:sp>
        <p:nvSpPr>
          <p:cNvPr id="97" name="Shape 95"/>
          <p:cNvSpPr/>
          <p:nvPr/>
        </p:nvSpPr>
        <p:spPr>
          <a:xfrm>
            <a:off x="3360420" y="262318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3360420" y="2402205"/>
            <a:ext cx="11430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</a:t>
            </a:r>
            <a:endParaRPr lang="en-US" sz="975" dirty="0"/>
          </a:p>
        </p:txBody>
      </p:sp>
      <p:sp>
        <p:nvSpPr>
          <p:cNvPr id="99" name="Text 97"/>
          <p:cNvSpPr/>
          <p:nvPr/>
        </p:nvSpPr>
        <p:spPr>
          <a:xfrm>
            <a:off x="4427220" y="2421255"/>
            <a:ext cx="7048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979670" y="2406015"/>
            <a:ext cx="514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5417820" y="2406015"/>
            <a:ext cx="8763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2,412.30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6217920" y="2406015"/>
            <a:ext cx="8763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2,432.29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018020" y="2406015"/>
            <a:ext cx="971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+₹999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7913370" y="2406015"/>
            <a:ext cx="6096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+0.83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8446770" y="2406015"/>
            <a:ext cx="895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2,398.00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9265920" y="2406015"/>
            <a:ext cx="895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2,441.00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9377934" y="2406015"/>
            <a:ext cx="861669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825" dirty="0"/>
          </a:p>
        </p:txBody>
      </p:sp>
      <p:sp>
        <p:nvSpPr>
          <p:cNvPr id="108" name="Shape 106"/>
          <p:cNvSpPr/>
          <p:nvPr/>
        </p:nvSpPr>
        <p:spPr>
          <a:xfrm>
            <a:off x="3360420" y="292798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09" name="Text 107"/>
          <p:cNvSpPr/>
          <p:nvPr/>
        </p:nvSpPr>
        <p:spPr>
          <a:xfrm>
            <a:off x="3360420" y="2707005"/>
            <a:ext cx="11430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</a:t>
            </a:r>
            <a:endParaRPr lang="en-US" sz="975" dirty="0"/>
          </a:p>
        </p:txBody>
      </p:sp>
      <p:sp>
        <p:nvSpPr>
          <p:cNvPr id="110" name="Text 108"/>
          <p:cNvSpPr/>
          <p:nvPr/>
        </p:nvSpPr>
        <p:spPr>
          <a:xfrm>
            <a:off x="4427220" y="2726055"/>
            <a:ext cx="7048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SHORT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4979670" y="2710815"/>
            <a:ext cx="514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5417820" y="2710815"/>
            <a:ext cx="8763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3,148.00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6217920" y="2710815"/>
            <a:ext cx="8763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3,134.30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7018020" y="2710815"/>
            <a:ext cx="971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+₹411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7913370" y="2710815"/>
            <a:ext cx="6096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+0.44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8446770" y="2710815"/>
            <a:ext cx="895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3,167.00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9265920" y="2710815"/>
            <a:ext cx="895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3,110.00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9377934" y="2710815"/>
            <a:ext cx="861669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119" name="Shape 117"/>
          <p:cNvSpPr/>
          <p:nvPr/>
        </p:nvSpPr>
        <p:spPr>
          <a:xfrm>
            <a:off x="3360420" y="323278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20" name="Text 118"/>
          <p:cNvSpPr/>
          <p:nvPr/>
        </p:nvSpPr>
        <p:spPr>
          <a:xfrm>
            <a:off x="3360420" y="3011805"/>
            <a:ext cx="11430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HDFCBANK</a:t>
            </a:r>
            <a:endParaRPr lang="en-US" sz="975" dirty="0"/>
          </a:p>
        </p:txBody>
      </p:sp>
      <p:sp>
        <p:nvSpPr>
          <p:cNvPr id="121" name="Text 119"/>
          <p:cNvSpPr/>
          <p:nvPr/>
        </p:nvSpPr>
        <p:spPr>
          <a:xfrm>
            <a:off x="4427220" y="3030855"/>
            <a:ext cx="7048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4979670" y="3015615"/>
            <a:ext cx="514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5417820" y="3015615"/>
            <a:ext cx="8763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1,678.25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217920" y="3015615"/>
            <a:ext cx="8763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1,671.95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7018020" y="3015615"/>
            <a:ext cx="971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−₹535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913370" y="3015615"/>
            <a:ext cx="6096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−0.38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446770" y="3011805"/>
            <a:ext cx="89535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⟳ 1,664.90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9265920" y="3015615"/>
            <a:ext cx="895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9377934" y="3015615"/>
            <a:ext cx="861669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SuperTrend</a:t>
            </a:r>
            <a:endParaRPr lang="en-US" sz="825" dirty="0"/>
          </a:p>
        </p:txBody>
      </p:sp>
      <p:sp>
        <p:nvSpPr>
          <p:cNvPr id="130" name="Shape 128"/>
          <p:cNvSpPr/>
          <p:nvPr/>
        </p:nvSpPr>
        <p:spPr>
          <a:xfrm>
            <a:off x="3360420" y="353758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31" name="Text 129"/>
          <p:cNvSpPr/>
          <p:nvPr/>
        </p:nvSpPr>
        <p:spPr>
          <a:xfrm>
            <a:off x="3360420" y="3316605"/>
            <a:ext cx="11430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INFY</a:t>
            </a:r>
            <a:endParaRPr lang="en-US" sz="975" dirty="0"/>
          </a:p>
        </p:txBody>
      </p:sp>
      <p:sp>
        <p:nvSpPr>
          <p:cNvPr id="132" name="Text 130"/>
          <p:cNvSpPr/>
          <p:nvPr/>
        </p:nvSpPr>
        <p:spPr>
          <a:xfrm>
            <a:off x="4427220" y="3335655"/>
            <a:ext cx="7048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4979670" y="3320415"/>
            <a:ext cx="514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5417820" y="3320415"/>
            <a:ext cx="8763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1,532.60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6217920" y="3320415"/>
            <a:ext cx="8763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1,548.97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7018020" y="3320415"/>
            <a:ext cx="971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+₹982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7913370" y="3320415"/>
            <a:ext cx="6096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+1.07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8446770" y="3320415"/>
            <a:ext cx="895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1,521.00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9265920" y="3320415"/>
            <a:ext cx="895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1,555.80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9377934" y="3320415"/>
            <a:ext cx="861669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  <a:endParaRPr lang="en-US" sz="825" dirty="0"/>
          </a:p>
        </p:txBody>
      </p:sp>
      <p:sp>
        <p:nvSpPr>
          <p:cNvPr id="141" name="Text 139"/>
          <p:cNvSpPr/>
          <p:nvPr/>
        </p:nvSpPr>
        <p:spPr>
          <a:xfrm>
            <a:off x="3360420" y="3611880"/>
            <a:ext cx="1507323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Exits managed by engine · stops enforced on closed candles · square-off 15:12 IST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3219450" y="3970020"/>
            <a:ext cx="11658600" cy="6164580"/>
          </a:xfrm>
          <a:prstGeom prst="roundRect">
            <a:avLst>
              <a:gd name="adj" fmla="val 1854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360420" y="4095750"/>
            <a:ext cx="96285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 FLEET</a:t>
            </a:r>
            <a:endParaRPr lang="en-US" sz="713" dirty="0"/>
          </a:p>
        </p:txBody>
      </p:sp>
      <p:sp>
        <p:nvSpPr>
          <p:cNvPr id="144" name="Text 142"/>
          <p:cNvSpPr/>
          <p:nvPr/>
        </p:nvSpPr>
        <p:spPr>
          <a:xfrm>
            <a:off x="14222731" y="4091940"/>
            <a:ext cx="5905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enabled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3360420" y="4282440"/>
            <a:ext cx="5654993" cy="381000"/>
          </a:xfrm>
          <a:prstGeom prst="roundRect">
            <a:avLst>
              <a:gd name="adj" fmla="val 22500"/>
            </a:avLst>
          </a:prstGeom>
          <a:solidFill>
            <a:srgbClr val="20232F"/>
          </a:solidFill>
          <a:ln/>
        </p:spPr>
      </p:sp>
      <p:sp>
        <p:nvSpPr>
          <p:cNvPr id="146" name="Text 144"/>
          <p:cNvSpPr/>
          <p:nvPr/>
        </p:nvSpPr>
        <p:spPr>
          <a:xfrm>
            <a:off x="3589020" y="4358640"/>
            <a:ext cx="115633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863" dirty="0"/>
          </a:p>
        </p:txBody>
      </p:sp>
      <p:sp>
        <p:nvSpPr>
          <p:cNvPr id="147" name="Text 145"/>
          <p:cNvSpPr/>
          <p:nvPr/>
        </p:nvSpPr>
        <p:spPr>
          <a:xfrm>
            <a:off x="3589020" y="4480560"/>
            <a:ext cx="1156335" cy="144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1 open · 6 sig</a:t>
            </a:r>
            <a:endParaRPr lang="en-US" sz="675" dirty="0"/>
          </a:p>
        </p:txBody>
      </p:sp>
      <p:sp>
        <p:nvSpPr>
          <p:cNvPr id="148" name="Text 146"/>
          <p:cNvSpPr/>
          <p:nvPr/>
        </p:nvSpPr>
        <p:spPr>
          <a:xfrm>
            <a:off x="8177093" y="4419600"/>
            <a:ext cx="47636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−₹4,341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8653463" y="4396740"/>
            <a:ext cx="266700" cy="15240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8805863" y="4415790"/>
            <a:ext cx="114300" cy="11430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082088" y="4282440"/>
            <a:ext cx="5654993" cy="381000"/>
          </a:xfrm>
          <a:prstGeom prst="roundRect">
            <a:avLst>
              <a:gd name="adj" fmla="val 22500"/>
            </a:avLst>
          </a:prstGeom>
          <a:solidFill>
            <a:srgbClr val="20232F"/>
          </a:solidFill>
          <a:ln/>
        </p:spPr>
      </p:sp>
      <p:sp>
        <p:nvSpPr>
          <p:cNvPr id="152" name="Text 150"/>
          <p:cNvSpPr/>
          <p:nvPr/>
        </p:nvSpPr>
        <p:spPr>
          <a:xfrm>
            <a:off x="9310688" y="4358640"/>
            <a:ext cx="164077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63" dirty="0"/>
          </a:p>
        </p:txBody>
      </p:sp>
      <p:sp>
        <p:nvSpPr>
          <p:cNvPr id="153" name="Text 151"/>
          <p:cNvSpPr/>
          <p:nvPr/>
        </p:nvSpPr>
        <p:spPr>
          <a:xfrm>
            <a:off x="9310688" y="4480560"/>
            <a:ext cx="1640777" cy="144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1 open · 7 sig · 3 blk</a:t>
            </a:r>
            <a:endParaRPr lang="en-US" sz="675" dirty="0"/>
          </a:p>
        </p:txBody>
      </p:sp>
      <p:sp>
        <p:nvSpPr>
          <p:cNvPr id="154" name="Text 152"/>
          <p:cNvSpPr/>
          <p:nvPr/>
        </p:nvSpPr>
        <p:spPr>
          <a:xfrm>
            <a:off x="13898761" y="4419600"/>
            <a:ext cx="47636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−₹7,249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14375131" y="4396740"/>
            <a:ext cx="266700" cy="15240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14527531" y="4415790"/>
            <a:ext cx="114300" cy="11430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3360420" y="4730115"/>
            <a:ext cx="5654993" cy="381000"/>
          </a:xfrm>
          <a:prstGeom prst="roundRect">
            <a:avLst>
              <a:gd name="adj" fmla="val 22500"/>
            </a:avLst>
          </a:prstGeom>
          <a:solidFill>
            <a:srgbClr val="20232F"/>
          </a:solidFill>
          <a:ln/>
        </p:spPr>
      </p:sp>
      <p:sp>
        <p:nvSpPr>
          <p:cNvPr id="158" name="Text 156"/>
          <p:cNvSpPr/>
          <p:nvPr/>
        </p:nvSpPr>
        <p:spPr>
          <a:xfrm>
            <a:off x="3589020" y="4806315"/>
            <a:ext cx="115633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SuperTrend Follow</a:t>
            </a:r>
            <a:endParaRPr lang="en-US" sz="863" dirty="0"/>
          </a:p>
        </p:txBody>
      </p:sp>
      <p:sp>
        <p:nvSpPr>
          <p:cNvPr id="159" name="Text 157"/>
          <p:cNvSpPr/>
          <p:nvPr/>
        </p:nvSpPr>
        <p:spPr>
          <a:xfrm>
            <a:off x="3589020" y="4928235"/>
            <a:ext cx="1156335" cy="144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1 open · 4 sig</a:t>
            </a:r>
            <a:endParaRPr lang="en-US" sz="675" dirty="0"/>
          </a:p>
        </p:txBody>
      </p:sp>
      <p:sp>
        <p:nvSpPr>
          <p:cNvPr id="160" name="Text 158"/>
          <p:cNvSpPr/>
          <p:nvPr/>
        </p:nvSpPr>
        <p:spPr>
          <a:xfrm>
            <a:off x="8119943" y="4867275"/>
            <a:ext cx="5335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−₹10,215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8653463" y="4844415"/>
            <a:ext cx="266700" cy="15240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8805863" y="4863465"/>
            <a:ext cx="114300" cy="11430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082088" y="4730115"/>
            <a:ext cx="5654993" cy="381000"/>
          </a:xfrm>
          <a:prstGeom prst="roundRect">
            <a:avLst>
              <a:gd name="adj" fmla="val 22500"/>
            </a:avLst>
          </a:prstGeom>
          <a:solidFill>
            <a:srgbClr val="20232F"/>
          </a:solidFill>
          <a:ln/>
        </p:spPr>
      </p:sp>
      <p:sp>
        <p:nvSpPr>
          <p:cNvPr id="164" name="Text 162"/>
          <p:cNvSpPr/>
          <p:nvPr/>
        </p:nvSpPr>
        <p:spPr>
          <a:xfrm>
            <a:off x="9310688" y="4806315"/>
            <a:ext cx="135945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Range Breakout</a:t>
            </a:r>
            <a:endParaRPr lang="en-US" sz="863" dirty="0"/>
          </a:p>
        </p:txBody>
      </p:sp>
      <p:sp>
        <p:nvSpPr>
          <p:cNvPr id="165" name="Text 163"/>
          <p:cNvSpPr/>
          <p:nvPr/>
        </p:nvSpPr>
        <p:spPr>
          <a:xfrm>
            <a:off x="9310688" y="4928235"/>
            <a:ext cx="1359456" cy="144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1 open · 5 sig</a:t>
            </a:r>
            <a:endParaRPr lang="en-US" sz="675" dirty="0"/>
          </a:p>
        </p:txBody>
      </p:sp>
      <p:sp>
        <p:nvSpPr>
          <p:cNvPr id="166" name="Text 164"/>
          <p:cNvSpPr/>
          <p:nvPr/>
        </p:nvSpPr>
        <p:spPr>
          <a:xfrm>
            <a:off x="13898761" y="4867275"/>
            <a:ext cx="47636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+₹3,122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14375131" y="4844415"/>
            <a:ext cx="266700" cy="15240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14527531" y="4863465"/>
            <a:ext cx="114300" cy="11430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3360420" y="5177790"/>
            <a:ext cx="5654993" cy="381000"/>
          </a:xfrm>
          <a:prstGeom prst="roundRect">
            <a:avLst>
              <a:gd name="adj" fmla="val 22500"/>
            </a:avLst>
          </a:prstGeom>
          <a:solidFill>
            <a:srgbClr val="20232F"/>
          </a:solidFill>
          <a:ln/>
        </p:spPr>
      </p:sp>
      <p:sp>
        <p:nvSpPr>
          <p:cNvPr id="170" name="Text 168"/>
          <p:cNvSpPr/>
          <p:nvPr/>
        </p:nvSpPr>
        <p:spPr>
          <a:xfrm>
            <a:off x="3589020" y="5253990"/>
            <a:ext cx="986314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= High / Low</a:t>
            </a:r>
            <a:endParaRPr lang="en-US" sz="863" dirty="0"/>
          </a:p>
        </p:txBody>
      </p:sp>
      <p:sp>
        <p:nvSpPr>
          <p:cNvPr id="171" name="Text 169"/>
          <p:cNvSpPr/>
          <p:nvPr/>
        </p:nvSpPr>
        <p:spPr>
          <a:xfrm>
            <a:off x="3589020" y="5375910"/>
            <a:ext cx="986314" cy="144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ARMED · 0 sig</a:t>
            </a:r>
            <a:endParaRPr lang="en-US" sz="675" dirty="0"/>
          </a:p>
        </p:txBody>
      </p:sp>
      <p:sp>
        <p:nvSpPr>
          <p:cNvPr id="172" name="Text 170"/>
          <p:cNvSpPr/>
          <p:nvPr/>
        </p:nvSpPr>
        <p:spPr>
          <a:xfrm>
            <a:off x="8519993" y="5314950"/>
            <a:ext cx="13346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8653463" y="5292090"/>
            <a:ext cx="266700" cy="15240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8805863" y="5311140"/>
            <a:ext cx="114300" cy="11430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9082088" y="5177790"/>
            <a:ext cx="5654993" cy="381000"/>
          </a:xfrm>
          <a:prstGeom prst="roundRect">
            <a:avLst>
              <a:gd name="adj" fmla="val 22500"/>
            </a:avLst>
          </a:prstGeom>
          <a:solidFill>
            <a:srgbClr val="20232F"/>
          </a:solidFill>
          <a:ln/>
        </p:spPr>
      </p:sp>
      <p:sp>
        <p:nvSpPr>
          <p:cNvPr id="176" name="Text 174"/>
          <p:cNvSpPr/>
          <p:nvPr/>
        </p:nvSpPr>
        <p:spPr>
          <a:xfrm>
            <a:off x="9310688" y="5253990"/>
            <a:ext cx="110490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Gap-Up Continuation</a:t>
            </a:r>
            <a:endParaRPr lang="en-US" sz="863" dirty="0"/>
          </a:p>
        </p:txBody>
      </p:sp>
      <p:sp>
        <p:nvSpPr>
          <p:cNvPr id="177" name="Text 175"/>
          <p:cNvSpPr/>
          <p:nvPr/>
        </p:nvSpPr>
        <p:spPr>
          <a:xfrm>
            <a:off x="9310688" y="5375910"/>
            <a:ext cx="1104900" cy="144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ARMED · 0 sig</a:t>
            </a:r>
            <a:endParaRPr lang="en-US" sz="675" dirty="0"/>
          </a:p>
        </p:txBody>
      </p:sp>
      <p:sp>
        <p:nvSpPr>
          <p:cNvPr id="178" name="Text 176"/>
          <p:cNvSpPr/>
          <p:nvPr/>
        </p:nvSpPr>
        <p:spPr>
          <a:xfrm>
            <a:off x="14241661" y="5314950"/>
            <a:ext cx="13346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14375131" y="5292090"/>
            <a:ext cx="266700" cy="15240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14527531" y="5311140"/>
            <a:ext cx="114300" cy="11430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3360420" y="5625465"/>
            <a:ext cx="5654993" cy="381000"/>
          </a:xfrm>
          <a:prstGeom prst="roundRect">
            <a:avLst>
              <a:gd name="adj" fmla="val 22500"/>
            </a:avLst>
          </a:prstGeom>
          <a:solidFill>
            <a:srgbClr val="20232F">
              <a:alpha val="55000"/>
            </a:srgbClr>
          </a:solidFill>
          <a:ln/>
        </p:spPr>
      </p:sp>
      <p:sp>
        <p:nvSpPr>
          <p:cNvPr id="182" name="Text 180"/>
          <p:cNvSpPr/>
          <p:nvPr/>
        </p:nvSpPr>
        <p:spPr>
          <a:xfrm>
            <a:off x="3589020" y="5701665"/>
            <a:ext cx="782122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Reversion</a:t>
            </a:r>
            <a:endParaRPr lang="en-US" sz="863" dirty="0"/>
          </a:p>
        </p:txBody>
      </p:sp>
      <p:sp>
        <p:nvSpPr>
          <p:cNvPr id="183" name="Text 181"/>
          <p:cNvSpPr/>
          <p:nvPr/>
        </p:nvSpPr>
        <p:spPr>
          <a:xfrm>
            <a:off x="3589020" y="5823585"/>
            <a:ext cx="782122" cy="144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 · 2 sig</a:t>
            </a:r>
            <a:endParaRPr lang="en-US" sz="675" dirty="0"/>
          </a:p>
        </p:txBody>
      </p:sp>
      <p:sp>
        <p:nvSpPr>
          <p:cNvPr id="184" name="Text 182"/>
          <p:cNvSpPr/>
          <p:nvPr/>
        </p:nvSpPr>
        <p:spPr>
          <a:xfrm>
            <a:off x="8519993" y="5762625"/>
            <a:ext cx="13346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8653463" y="5739765"/>
            <a:ext cx="266700" cy="152400"/>
          </a:xfrm>
          <a:prstGeom prst="roundRect">
            <a:avLst>
              <a:gd name="adj" fmla="val 50000"/>
            </a:avLst>
          </a:prstGeom>
          <a:solidFill>
            <a:srgbClr val="949EDC">
              <a:alpha val="16000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8672513" y="5758815"/>
            <a:ext cx="114300" cy="114300"/>
          </a:xfrm>
          <a:prstGeom prst="ellipse">
            <a:avLst/>
          </a:prstGeom>
          <a:solidFill>
            <a:srgbClr val="6A7086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082088" y="5625465"/>
            <a:ext cx="5654993" cy="381000"/>
          </a:xfrm>
          <a:prstGeom prst="roundRect">
            <a:avLst>
              <a:gd name="adj" fmla="val 22500"/>
            </a:avLst>
          </a:prstGeom>
          <a:solidFill>
            <a:srgbClr val="20232F">
              <a:alpha val="55000"/>
            </a:srgbClr>
          </a:solidFill>
          <a:ln/>
        </p:spPr>
      </p:sp>
      <p:sp>
        <p:nvSpPr>
          <p:cNvPr id="188" name="Text 186"/>
          <p:cNvSpPr/>
          <p:nvPr/>
        </p:nvSpPr>
        <p:spPr>
          <a:xfrm>
            <a:off x="9310688" y="5701665"/>
            <a:ext cx="91023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Breakout</a:t>
            </a:r>
            <a:endParaRPr lang="en-US" sz="863" dirty="0"/>
          </a:p>
        </p:txBody>
      </p:sp>
      <p:sp>
        <p:nvSpPr>
          <p:cNvPr id="189" name="Text 187"/>
          <p:cNvSpPr/>
          <p:nvPr/>
        </p:nvSpPr>
        <p:spPr>
          <a:xfrm>
            <a:off x="9310688" y="5823585"/>
            <a:ext cx="910233" cy="144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 · 2 sig</a:t>
            </a:r>
            <a:endParaRPr lang="en-US" sz="675" dirty="0"/>
          </a:p>
        </p:txBody>
      </p:sp>
      <p:sp>
        <p:nvSpPr>
          <p:cNvPr id="190" name="Text 188"/>
          <p:cNvSpPr/>
          <p:nvPr/>
        </p:nvSpPr>
        <p:spPr>
          <a:xfrm>
            <a:off x="14241661" y="5762625"/>
            <a:ext cx="13346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14375131" y="5739765"/>
            <a:ext cx="266700" cy="152400"/>
          </a:xfrm>
          <a:prstGeom prst="roundRect">
            <a:avLst>
              <a:gd name="adj" fmla="val 50000"/>
            </a:avLst>
          </a:prstGeom>
          <a:solidFill>
            <a:srgbClr val="949EDC">
              <a:alpha val="16000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14394181" y="5758815"/>
            <a:ext cx="114300" cy="114300"/>
          </a:xfrm>
          <a:prstGeom prst="ellipse">
            <a:avLst/>
          </a:prstGeom>
          <a:solidFill>
            <a:srgbClr val="6A7086"/>
          </a:solidFill>
          <a:ln/>
        </p:spPr>
      </p:sp>
      <p:sp>
        <p:nvSpPr>
          <p:cNvPr id="193" name="Text 191"/>
          <p:cNvSpPr/>
          <p:nvPr/>
        </p:nvSpPr>
        <p:spPr>
          <a:xfrm>
            <a:off x="3360420" y="9890760"/>
            <a:ext cx="1251432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strategy to configure · toggles stop new signals only, open positions stay managed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14992350" y="3970020"/>
            <a:ext cx="3143250" cy="6164580"/>
          </a:xfrm>
          <a:prstGeom prst="roundRect">
            <a:avLst>
              <a:gd name="adj" fmla="val 3636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5123795" y="4091940"/>
            <a:ext cx="772835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EVENTS</a:t>
            </a:r>
            <a:endParaRPr lang="en-US" sz="713" dirty="0"/>
          </a:p>
        </p:txBody>
      </p:sp>
      <p:sp>
        <p:nvSpPr>
          <p:cNvPr id="196" name="Shape 194"/>
          <p:cNvSpPr/>
          <p:nvPr/>
        </p:nvSpPr>
        <p:spPr>
          <a:xfrm>
            <a:off x="15887105" y="4121468"/>
            <a:ext cx="47625" cy="47625"/>
          </a:xfrm>
          <a:prstGeom prst="ellipse">
            <a:avLst/>
          </a:prstGeom>
          <a:solidFill>
            <a:srgbClr val="8F97F9">
              <a:alpha val="41000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15123795" y="4265295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98" name="Text 196"/>
          <p:cNvSpPr/>
          <p:nvPr/>
        </p:nvSpPr>
        <p:spPr>
          <a:xfrm>
            <a:off x="15190470" y="4339590"/>
            <a:ext cx="552450" cy="27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13:42:23</a:t>
            </a:r>
            <a:endParaRPr lang="en-US" sz="713" dirty="0"/>
          </a:p>
        </p:txBody>
      </p:sp>
      <p:sp>
        <p:nvSpPr>
          <p:cNvPr id="199" name="Text 197"/>
          <p:cNvSpPr/>
          <p:nvPr/>
        </p:nvSpPr>
        <p:spPr>
          <a:xfrm>
            <a:off x="15752445" y="4330065"/>
            <a:ext cx="152932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PNL</a:t>
            </a:r>
            <a:endParaRPr lang="en-US" sz="675" dirty="0"/>
          </a:p>
        </p:txBody>
      </p:sp>
      <p:sp>
        <p:nvSpPr>
          <p:cNvPr id="200" name="Text 198"/>
          <p:cNvSpPr/>
          <p:nvPr/>
        </p:nvSpPr>
        <p:spPr>
          <a:xfrm>
            <a:off x="15752445" y="4431030"/>
            <a:ext cx="1529322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unrealized +₹1,727</a:t>
            </a:r>
            <a:endParaRPr lang="en-US" sz="825" dirty="0"/>
          </a:p>
        </p:txBody>
      </p:sp>
      <p:sp>
        <p:nvSpPr>
          <p:cNvPr id="201" name="Shape 199"/>
          <p:cNvSpPr/>
          <p:nvPr/>
        </p:nvSpPr>
        <p:spPr>
          <a:xfrm>
            <a:off x="15123795" y="4629626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02" name="Text 200"/>
          <p:cNvSpPr/>
          <p:nvPr/>
        </p:nvSpPr>
        <p:spPr>
          <a:xfrm>
            <a:off x="15190470" y="4703921"/>
            <a:ext cx="552450" cy="27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13:42:11</a:t>
            </a:r>
            <a:endParaRPr lang="en-US" sz="713" dirty="0"/>
          </a:p>
        </p:txBody>
      </p:sp>
      <p:sp>
        <p:nvSpPr>
          <p:cNvPr id="203" name="Text 201"/>
          <p:cNvSpPr/>
          <p:nvPr/>
        </p:nvSpPr>
        <p:spPr>
          <a:xfrm>
            <a:off x="15752445" y="4694396"/>
            <a:ext cx="154032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PNL</a:t>
            </a:r>
            <a:endParaRPr lang="en-US" sz="675" dirty="0"/>
          </a:p>
        </p:txBody>
      </p:sp>
      <p:sp>
        <p:nvSpPr>
          <p:cNvPr id="204" name="Text 202"/>
          <p:cNvSpPr/>
          <p:nvPr/>
        </p:nvSpPr>
        <p:spPr>
          <a:xfrm>
            <a:off x="15752445" y="4795361"/>
            <a:ext cx="1540323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unrealized +₹1,784</a:t>
            </a:r>
            <a:endParaRPr lang="en-US" sz="825" dirty="0"/>
          </a:p>
        </p:txBody>
      </p:sp>
      <p:sp>
        <p:nvSpPr>
          <p:cNvPr id="205" name="Shape 203"/>
          <p:cNvSpPr/>
          <p:nvPr/>
        </p:nvSpPr>
        <p:spPr>
          <a:xfrm>
            <a:off x="15123795" y="4993957"/>
            <a:ext cx="2880360" cy="497681"/>
          </a:xfrm>
          <a:prstGeom prst="roundRect">
            <a:avLst>
              <a:gd name="adj" fmla="val 11483"/>
            </a:avLst>
          </a:prstGeom>
          <a:solidFill>
            <a:srgbClr val="EEB653">
              <a:alpha val="7000"/>
            </a:srgb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15123795" y="4993957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07" name="Text 205"/>
          <p:cNvSpPr/>
          <p:nvPr/>
        </p:nvSpPr>
        <p:spPr>
          <a:xfrm>
            <a:off x="15190470" y="5068253"/>
            <a:ext cx="552450" cy="404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13:41:48</a:t>
            </a:r>
            <a:endParaRPr lang="en-US" sz="713" dirty="0"/>
          </a:p>
        </p:txBody>
      </p:sp>
      <p:sp>
        <p:nvSpPr>
          <p:cNvPr id="208" name="Text 206"/>
          <p:cNvSpPr/>
          <p:nvPr/>
        </p:nvSpPr>
        <p:spPr>
          <a:xfrm>
            <a:off x="15752445" y="5058728"/>
            <a:ext cx="1942005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BLOCKED</a:t>
            </a:r>
            <a:endParaRPr lang="en-US" sz="675" dirty="0"/>
          </a:p>
        </p:txBody>
      </p:sp>
      <p:sp>
        <p:nvSpPr>
          <p:cNvPr id="209" name="Text 207"/>
          <p:cNvSpPr/>
          <p:nvPr/>
        </p:nvSpPr>
        <p:spPr>
          <a:xfrm>
            <a:off x="15752445" y="5159693"/>
            <a:ext cx="1942005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 → SELL TCS ×30</a:t>
            </a:r>
            <a:endParaRPr lang="en-US" sz="825" dirty="0"/>
          </a:p>
        </p:txBody>
      </p:sp>
      <p:sp>
        <p:nvSpPr>
          <p:cNvPr id="210" name="Text 208"/>
          <p:cNvSpPr/>
          <p:nvPr/>
        </p:nvSpPr>
        <p:spPr>
          <a:xfrm>
            <a:off x="15752445" y="5310664"/>
            <a:ext cx="19420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— TCS position already open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15123795" y="5491639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12" name="Text 210"/>
          <p:cNvSpPr/>
          <p:nvPr/>
        </p:nvSpPr>
        <p:spPr>
          <a:xfrm>
            <a:off x="15190470" y="5565934"/>
            <a:ext cx="552450" cy="27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13:40:03</a:t>
            </a:r>
            <a:endParaRPr lang="en-US" sz="713" dirty="0"/>
          </a:p>
        </p:txBody>
      </p:sp>
      <p:sp>
        <p:nvSpPr>
          <p:cNvPr id="213" name="Text 211"/>
          <p:cNvSpPr/>
          <p:nvPr/>
        </p:nvSpPr>
        <p:spPr>
          <a:xfrm>
            <a:off x="15752445" y="5556409"/>
            <a:ext cx="1909655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FILLED</a:t>
            </a:r>
            <a:endParaRPr lang="en-US" sz="675" dirty="0"/>
          </a:p>
        </p:txBody>
      </p:sp>
      <p:sp>
        <p:nvSpPr>
          <p:cNvPr id="214" name="Text 212"/>
          <p:cNvSpPr/>
          <p:nvPr/>
        </p:nvSpPr>
        <p:spPr>
          <a:xfrm>
            <a:off x="15752445" y="5657374"/>
            <a:ext cx="1909655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INFY BUY 60 @ 1,532.60 · slip +0.35</a:t>
            </a:r>
            <a:endParaRPr lang="en-US" sz="825" dirty="0"/>
          </a:p>
        </p:txBody>
      </p:sp>
      <p:sp>
        <p:nvSpPr>
          <p:cNvPr id="215" name="Shape 213"/>
          <p:cNvSpPr/>
          <p:nvPr/>
        </p:nvSpPr>
        <p:spPr>
          <a:xfrm>
            <a:off x="15123795" y="5855970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16" name="Text 214"/>
          <p:cNvSpPr/>
          <p:nvPr/>
        </p:nvSpPr>
        <p:spPr>
          <a:xfrm>
            <a:off x="15190470" y="5930265"/>
            <a:ext cx="552450" cy="27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13:39:59</a:t>
            </a:r>
            <a:endParaRPr lang="en-US" sz="713" dirty="0"/>
          </a:p>
        </p:txBody>
      </p:sp>
      <p:sp>
        <p:nvSpPr>
          <p:cNvPr id="217" name="Text 215"/>
          <p:cNvSpPr/>
          <p:nvPr/>
        </p:nvSpPr>
        <p:spPr>
          <a:xfrm>
            <a:off x="15752445" y="5920740"/>
            <a:ext cx="1455456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PLACED</a:t>
            </a:r>
            <a:endParaRPr lang="en-US" sz="675" dirty="0"/>
          </a:p>
        </p:txBody>
      </p:sp>
      <p:sp>
        <p:nvSpPr>
          <p:cNvPr id="218" name="Text 216"/>
          <p:cNvSpPr/>
          <p:nvPr/>
        </p:nvSpPr>
        <p:spPr>
          <a:xfrm>
            <a:off x="15752445" y="6021705"/>
            <a:ext cx="1455456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INFY BUY 60 · paper broker</a:t>
            </a:r>
            <a:endParaRPr lang="en-US" sz="825" dirty="0"/>
          </a:p>
        </p:txBody>
      </p:sp>
      <p:sp>
        <p:nvSpPr>
          <p:cNvPr id="219" name="Shape 217"/>
          <p:cNvSpPr/>
          <p:nvPr/>
        </p:nvSpPr>
        <p:spPr>
          <a:xfrm>
            <a:off x="15123795" y="6220301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20" name="Text 218"/>
          <p:cNvSpPr/>
          <p:nvPr/>
        </p:nvSpPr>
        <p:spPr>
          <a:xfrm>
            <a:off x="15190470" y="6294597"/>
            <a:ext cx="552450" cy="27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13:39:58</a:t>
            </a:r>
            <a:endParaRPr lang="en-US" sz="713" dirty="0"/>
          </a:p>
        </p:txBody>
      </p:sp>
      <p:sp>
        <p:nvSpPr>
          <p:cNvPr id="221" name="Text 219"/>
          <p:cNvSpPr/>
          <p:nvPr/>
        </p:nvSpPr>
        <p:spPr>
          <a:xfrm>
            <a:off x="15752445" y="6285072"/>
            <a:ext cx="2211145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675" dirty="0"/>
          </a:p>
        </p:txBody>
      </p:sp>
      <p:sp>
        <p:nvSpPr>
          <p:cNvPr id="222" name="Text 220"/>
          <p:cNvSpPr/>
          <p:nvPr/>
        </p:nvSpPr>
        <p:spPr>
          <a:xfrm>
            <a:off x="15752445" y="6386036"/>
            <a:ext cx="2211145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→ BUY INFY · conf .74 → .81 (AI +.07)</a:t>
            </a:r>
            <a:endParaRPr lang="en-US" sz="825" dirty="0"/>
          </a:p>
        </p:txBody>
      </p:sp>
      <p:sp>
        <p:nvSpPr>
          <p:cNvPr id="223" name="Shape 221"/>
          <p:cNvSpPr/>
          <p:nvPr/>
        </p:nvSpPr>
        <p:spPr>
          <a:xfrm>
            <a:off x="15123795" y="6584632"/>
            <a:ext cx="2880360" cy="497681"/>
          </a:xfrm>
          <a:prstGeom prst="roundRect">
            <a:avLst>
              <a:gd name="adj" fmla="val 11483"/>
            </a:avLst>
          </a:prstGeom>
          <a:solidFill>
            <a:srgbClr val="EEB653">
              <a:alpha val="7000"/>
            </a:srgbClr>
          </a:solidFill>
          <a:ln/>
        </p:spPr>
      </p:sp>
      <p:sp>
        <p:nvSpPr>
          <p:cNvPr id="224" name="Shape 222"/>
          <p:cNvSpPr/>
          <p:nvPr/>
        </p:nvSpPr>
        <p:spPr>
          <a:xfrm>
            <a:off x="15123795" y="6584632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25" name="Text 223"/>
          <p:cNvSpPr/>
          <p:nvPr/>
        </p:nvSpPr>
        <p:spPr>
          <a:xfrm>
            <a:off x="15190470" y="6658928"/>
            <a:ext cx="552450" cy="404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13:36:20</a:t>
            </a:r>
            <a:endParaRPr lang="en-US" sz="713" dirty="0"/>
          </a:p>
        </p:txBody>
      </p:sp>
      <p:sp>
        <p:nvSpPr>
          <p:cNvPr id="226" name="Text 224"/>
          <p:cNvSpPr/>
          <p:nvPr/>
        </p:nvSpPr>
        <p:spPr>
          <a:xfrm>
            <a:off x="15752445" y="6649403"/>
            <a:ext cx="2248995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BLOCKED</a:t>
            </a:r>
            <a:endParaRPr lang="en-US" sz="675" dirty="0"/>
          </a:p>
        </p:txBody>
      </p:sp>
      <p:sp>
        <p:nvSpPr>
          <p:cNvPr id="227" name="Text 225"/>
          <p:cNvSpPr/>
          <p:nvPr/>
        </p:nvSpPr>
        <p:spPr>
          <a:xfrm>
            <a:off x="15752445" y="6750368"/>
            <a:ext cx="2248995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 → BUY TATAMOTORS ×120</a:t>
            </a:r>
            <a:endParaRPr lang="en-US" sz="825" dirty="0"/>
          </a:p>
        </p:txBody>
      </p:sp>
      <p:sp>
        <p:nvSpPr>
          <p:cNvPr id="228" name="Text 226"/>
          <p:cNvSpPr/>
          <p:nvPr/>
        </p:nvSpPr>
        <p:spPr>
          <a:xfrm>
            <a:off x="15752445" y="6901339"/>
            <a:ext cx="22489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cap ₹6,00,000 would be exceeded</a:t>
            </a:r>
            <a:endParaRPr lang="en-US" sz="750" dirty="0"/>
          </a:p>
        </p:txBody>
      </p:sp>
      <p:sp>
        <p:nvSpPr>
          <p:cNvPr id="229" name="Shape 227"/>
          <p:cNvSpPr/>
          <p:nvPr/>
        </p:nvSpPr>
        <p:spPr>
          <a:xfrm>
            <a:off x="15123795" y="7082314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30" name="Text 228"/>
          <p:cNvSpPr/>
          <p:nvPr/>
        </p:nvSpPr>
        <p:spPr>
          <a:xfrm>
            <a:off x="15190470" y="7156609"/>
            <a:ext cx="552450" cy="27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13:31:04</a:t>
            </a:r>
            <a:endParaRPr lang="en-US" sz="713" dirty="0"/>
          </a:p>
        </p:txBody>
      </p:sp>
      <p:sp>
        <p:nvSpPr>
          <p:cNvPr id="231" name="Text 229"/>
          <p:cNvSpPr/>
          <p:nvPr/>
        </p:nvSpPr>
        <p:spPr>
          <a:xfrm>
            <a:off x="15752445" y="7147084"/>
            <a:ext cx="126575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FILLED</a:t>
            </a:r>
            <a:endParaRPr lang="en-US" sz="675" dirty="0"/>
          </a:p>
        </p:txBody>
      </p:sp>
      <p:sp>
        <p:nvSpPr>
          <p:cNvPr id="232" name="Text 230"/>
          <p:cNvSpPr/>
          <p:nvPr/>
        </p:nvSpPr>
        <p:spPr>
          <a:xfrm>
            <a:off x="15752445" y="7248049"/>
            <a:ext cx="1265753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 SELL 30 @ 3,148.00</a:t>
            </a:r>
            <a:endParaRPr lang="en-US" sz="825" dirty="0"/>
          </a:p>
        </p:txBody>
      </p:sp>
      <p:sp>
        <p:nvSpPr>
          <p:cNvPr id="233" name="Shape 231"/>
          <p:cNvSpPr/>
          <p:nvPr/>
        </p:nvSpPr>
        <p:spPr>
          <a:xfrm>
            <a:off x="15123795" y="7446645"/>
            <a:ext cx="2880360" cy="621506"/>
          </a:xfrm>
          <a:prstGeom prst="roundRect">
            <a:avLst>
              <a:gd name="adj" fmla="val 9195"/>
            </a:avLst>
          </a:prstGeom>
          <a:solidFill>
            <a:srgbClr val="EEB653">
              <a:alpha val="7000"/>
            </a:srgbClr>
          </a:solidFill>
          <a:ln/>
        </p:spPr>
      </p:sp>
      <p:sp>
        <p:nvSpPr>
          <p:cNvPr id="234" name="Shape 232"/>
          <p:cNvSpPr/>
          <p:nvPr/>
        </p:nvSpPr>
        <p:spPr>
          <a:xfrm>
            <a:off x="15123795" y="7446645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35" name="Text 233"/>
          <p:cNvSpPr/>
          <p:nvPr/>
        </p:nvSpPr>
        <p:spPr>
          <a:xfrm>
            <a:off x="15190470" y="7520940"/>
            <a:ext cx="552450" cy="52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13:15:02</a:t>
            </a:r>
            <a:endParaRPr lang="en-US" sz="713" dirty="0"/>
          </a:p>
        </p:txBody>
      </p:sp>
      <p:sp>
        <p:nvSpPr>
          <p:cNvPr id="236" name="Text 234"/>
          <p:cNvSpPr/>
          <p:nvPr/>
        </p:nvSpPr>
        <p:spPr>
          <a:xfrm>
            <a:off x="15752445" y="7511415"/>
            <a:ext cx="2403539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WARNING</a:t>
            </a:r>
            <a:endParaRPr lang="en-US" sz="675" dirty="0"/>
          </a:p>
        </p:txBody>
      </p:sp>
      <p:sp>
        <p:nvSpPr>
          <p:cNvPr id="237" name="Text 235"/>
          <p:cNvSpPr/>
          <p:nvPr/>
        </p:nvSpPr>
        <p:spPr>
          <a:xfrm>
            <a:off x="15752445" y="7612380"/>
            <a:ext cx="2403539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 crossed 80% of ₹25,000 limit</a:t>
            </a:r>
            <a:endParaRPr lang="en-US" sz="825" dirty="0"/>
          </a:p>
        </p:txBody>
      </p:sp>
      <p:sp>
        <p:nvSpPr>
          <p:cNvPr id="238" name="Text 236"/>
          <p:cNvSpPr/>
          <p:nvPr/>
        </p:nvSpPr>
        <p:spPr>
          <a:xfrm>
            <a:off x="15752445" y="7763351"/>
            <a:ext cx="22612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entries auto-halt at 100% — exits unaffected</a:t>
            </a:r>
            <a:endParaRPr lang="en-US" sz="750" dirty="0"/>
          </a:p>
        </p:txBody>
      </p:sp>
      <p:sp>
        <p:nvSpPr>
          <p:cNvPr id="239" name="Shape 237"/>
          <p:cNvSpPr/>
          <p:nvPr/>
        </p:nvSpPr>
        <p:spPr>
          <a:xfrm>
            <a:off x="15123795" y="8068151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40" name="Text 238"/>
          <p:cNvSpPr/>
          <p:nvPr/>
        </p:nvSpPr>
        <p:spPr>
          <a:xfrm>
            <a:off x="15190470" y="8142447"/>
            <a:ext cx="552450" cy="27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12:58:41</a:t>
            </a:r>
            <a:endParaRPr lang="en-US" sz="713" dirty="0"/>
          </a:p>
        </p:txBody>
      </p:sp>
      <p:sp>
        <p:nvSpPr>
          <p:cNvPr id="241" name="Text 239"/>
          <p:cNvSpPr/>
          <p:nvPr/>
        </p:nvSpPr>
        <p:spPr>
          <a:xfrm>
            <a:off x="15752445" y="8132922"/>
            <a:ext cx="157607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FILLED</a:t>
            </a:r>
            <a:endParaRPr lang="en-US" sz="675" dirty="0"/>
          </a:p>
        </p:txBody>
      </p:sp>
      <p:sp>
        <p:nvSpPr>
          <p:cNvPr id="242" name="Text 240"/>
          <p:cNvSpPr/>
          <p:nvPr/>
        </p:nvSpPr>
        <p:spPr>
          <a:xfrm>
            <a:off x="15752445" y="8233886"/>
            <a:ext cx="1576078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 BUY 50 @ 2,412.30</a:t>
            </a:r>
            <a:endParaRPr lang="en-US" sz="825" dirty="0"/>
          </a:p>
        </p:txBody>
      </p:sp>
      <p:sp>
        <p:nvSpPr>
          <p:cNvPr id="243" name="Shape 241"/>
          <p:cNvSpPr/>
          <p:nvPr/>
        </p:nvSpPr>
        <p:spPr>
          <a:xfrm>
            <a:off x="15123795" y="8432482"/>
            <a:ext cx="288036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44" name="Text 242"/>
          <p:cNvSpPr/>
          <p:nvPr/>
        </p:nvSpPr>
        <p:spPr>
          <a:xfrm>
            <a:off x="15190470" y="8506778"/>
            <a:ext cx="552450" cy="412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12:22:40</a:t>
            </a:r>
            <a:endParaRPr lang="en-US" sz="713" dirty="0"/>
          </a:p>
        </p:txBody>
      </p:sp>
      <p:sp>
        <p:nvSpPr>
          <p:cNvPr id="245" name="Text 243"/>
          <p:cNvSpPr/>
          <p:nvPr/>
        </p:nvSpPr>
        <p:spPr>
          <a:xfrm>
            <a:off x="15752445" y="8497253"/>
            <a:ext cx="2403539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FILLED</a:t>
            </a:r>
            <a:endParaRPr lang="en-US" sz="675" dirty="0"/>
          </a:p>
        </p:txBody>
      </p:sp>
      <p:sp>
        <p:nvSpPr>
          <p:cNvPr id="246" name="Text 244"/>
          <p:cNvSpPr/>
          <p:nvPr/>
        </p:nvSpPr>
        <p:spPr>
          <a:xfrm>
            <a:off x="15752445" y="8598218"/>
            <a:ext cx="2261235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TATAMOTORS BUY 90 @ 1,095.30 · trail flip exit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7050" cy="10287000"/>
          </a:xfrm>
          <a:prstGeom prst="rect">
            <a:avLst/>
          </a:prstGeom>
          <a:solidFill>
            <a:srgbClr val="171923"/>
          </a:solidFill>
          <a:ln/>
        </p:spPr>
      </p:sp>
      <p:sp>
        <p:nvSpPr>
          <p:cNvPr id="3" name="Shape 1"/>
          <p:cNvSpPr/>
          <p:nvPr/>
        </p:nvSpPr>
        <p:spPr>
          <a:xfrm>
            <a:off x="3059430" y="0"/>
            <a:ext cx="9525" cy="10287000"/>
          </a:xfrm>
          <a:prstGeom prst="rect">
            <a:avLst/>
          </a:prstGeom>
          <a:solidFill>
            <a:srgbClr val="949ED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5" name="Shape 3"/>
          <p:cNvSpPr/>
          <p:nvPr/>
        </p:nvSpPr>
        <p:spPr>
          <a:xfrm>
            <a:off x="223838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2400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3838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8" name="Text 6"/>
          <p:cNvSpPr/>
          <p:nvPr/>
        </p:nvSpPr>
        <p:spPr>
          <a:xfrm>
            <a:off x="357188" y="152400"/>
            <a:ext cx="834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8968" y="160020"/>
            <a:ext cx="688062" cy="144780"/>
          </a:xfrm>
          <a:prstGeom prst="roundRect">
            <a:avLst>
              <a:gd name="adj" fmla="val 26316"/>
            </a:avLst>
          </a:prstGeom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3738" y="186690"/>
            <a:ext cx="63472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57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MODE</a:t>
            </a:r>
            <a:endParaRPr lang="en-US" sz="638" dirty="0"/>
          </a:p>
        </p:txBody>
      </p:sp>
      <p:sp>
        <p:nvSpPr>
          <p:cNvPr id="11" name="Text 9"/>
          <p:cNvSpPr/>
          <p:nvPr/>
        </p:nvSpPr>
        <p:spPr>
          <a:xfrm>
            <a:off x="152400" y="436245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P&amp;L · 09:15 → NOW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152400" y="571500"/>
            <a:ext cx="3030093" cy="40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75" b="1" spc="-55" kern="0" dirty="0">
                <a:solidFill>
                  <a:srgbClr val="F1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−₹18,815</a:t>
            </a:r>
            <a:endParaRPr lang="en-US" sz="2775" dirty="0"/>
          </a:p>
        </p:txBody>
      </p:sp>
      <p:sp>
        <p:nvSpPr>
          <p:cNvPr id="13" name="Text 11"/>
          <p:cNvSpPr/>
          <p:nvPr/>
        </p:nvSpPr>
        <p:spPr>
          <a:xfrm>
            <a:off x="152400" y="970121"/>
            <a:ext cx="84617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</a:t>
            </a:r>
            <a:pPr algn="l" indent="0" marL="0">
              <a:buNone/>
            </a:pPr>
            <a:r>
              <a:rPr lang="en-US" sz="788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−₹20,540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1046202" y="970121"/>
            <a:ext cx="78617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unrl </a:t>
            </a:r>
            <a:pPr algn="l" indent="0" marL="0">
              <a:buNone/>
            </a:pPr>
            <a:r>
              <a:rPr lang="en-US" sz="788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+₹1,725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152400" y="1223486"/>
            <a:ext cx="2754630" cy="1158240"/>
          </a:xfrm>
          <a:prstGeom prst="roundRect">
            <a:avLst>
              <a:gd name="adj" fmla="val 9868"/>
            </a:avLst>
          </a:prstGeom>
          <a:solidFill>
            <a:srgbClr val="1B1D27"/>
          </a:solidFill>
          <a:ln w="7620">
            <a:solidFill>
              <a:srgbClr val="EEB65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" y="1345406"/>
            <a:ext cx="914400" cy="914400"/>
          </a:xfrm>
          <a:prstGeom prst="ellipse">
            <a:avLst/>
          </a:prstGeom>
          <a:solidFill>
            <a:srgbClr val="EEB653"/>
          </a:solidFill>
          <a:ln/>
        </p:spPr>
      </p:sp>
      <p:sp>
        <p:nvSpPr>
          <p:cNvPr id="17" name="Text 15"/>
          <p:cNvSpPr/>
          <p:nvPr/>
        </p:nvSpPr>
        <p:spPr>
          <a:xfrm>
            <a:off x="531257" y="1634966"/>
            <a:ext cx="49565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89585" y="1878806"/>
            <a:ext cx="57912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36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LIMIT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31595" y="1482923"/>
            <a:ext cx="1588389" cy="185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₹20,540 of ₹25,000 daily limit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1331595" y="1668899"/>
            <a:ext cx="1520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auto-halt at 100%. Exits always allowed.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31595" y="1973699"/>
            <a:ext cx="1343144" cy="148590"/>
          </a:xfrm>
          <a:prstGeom prst="roundRect">
            <a:avLst>
              <a:gd name="adj" fmla="val 25641"/>
            </a:avLst>
          </a:prstGeom>
          <a:solidFill>
            <a:srgbClr val="EEB653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88745" y="2002274"/>
            <a:ext cx="130504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8" kern="0" dirty="0">
                <a:solidFill>
                  <a:srgbClr val="EEB653">
                    <a:alpha val="98000"/>
                  </a:srgbClr>
                </a:solidFill>
                <a:highlight>
                  <a:srgbClr val="FDF8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ARMED </a:t>
            </a:r>
            <a:pPr algn="l" indent="0" marL="0">
              <a:buNone/>
            </a:pPr>
            <a:r>
              <a:rPr lang="en-US" sz="638" b="1" spc="38" kern="0" dirty="0">
                <a:solidFill>
                  <a:srgbClr val="EEB653">
                    <a:alpha val="9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13:15 IST</a:t>
            </a:r>
            <a:endParaRPr lang="en-US" sz="638" dirty="0"/>
          </a:p>
        </p:txBody>
      </p:sp>
      <p:sp>
        <p:nvSpPr>
          <p:cNvPr id="23" name="Shape 21"/>
          <p:cNvSpPr/>
          <p:nvPr/>
        </p:nvSpPr>
        <p:spPr>
          <a:xfrm>
            <a:off x="152400" y="2505551"/>
            <a:ext cx="2754630" cy="994410"/>
          </a:xfrm>
          <a:prstGeom prst="roundRect">
            <a:avLst>
              <a:gd name="adj" fmla="val 11494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370" y="267700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436245" y="2636996"/>
            <a:ext cx="40528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080141" y="2652236"/>
            <a:ext cx="7621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FYERS · 47ms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98120" y="285035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" y="297418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9" name="Text 27"/>
          <p:cNvSpPr/>
          <p:nvPr/>
        </p:nvSpPr>
        <p:spPr>
          <a:xfrm>
            <a:off x="436245" y="2934176"/>
            <a:ext cx="43088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679972" y="2949416"/>
            <a:ext cx="116228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13:42:28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8120" y="314753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" y="3271361"/>
            <a:ext cx="57150" cy="57150"/>
          </a:xfrm>
          <a:prstGeom prst="ellipse">
            <a:avLst/>
          </a:prstGeom>
          <a:solidFill>
            <a:srgbClr val="8F97F9"/>
          </a:solidFill>
          <a:ln/>
        </p:spPr>
      </p:sp>
      <p:sp>
        <p:nvSpPr>
          <p:cNvPr id="33" name="Text 31"/>
          <p:cNvSpPr/>
          <p:nvPr/>
        </p:nvSpPr>
        <p:spPr>
          <a:xfrm>
            <a:off x="436245" y="3231356"/>
            <a:ext cx="41874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622822" y="3246596"/>
            <a:ext cx="121943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· 26 signals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2400" y="8660606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CONTROLS</a:t>
            </a:r>
            <a:endParaRPr lang="en-US" sz="713" dirty="0"/>
          </a:p>
        </p:txBody>
      </p:sp>
      <p:sp>
        <p:nvSpPr>
          <p:cNvPr id="36" name="Shape 34"/>
          <p:cNvSpPr/>
          <p:nvPr/>
        </p:nvSpPr>
        <p:spPr>
          <a:xfrm>
            <a:off x="152400" y="8843486"/>
            <a:ext cx="2754630" cy="419100"/>
          </a:xfrm>
          <a:prstGeom prst="roundRect">
            <a:avLst>
              <a:gd name="adj" fmla="val 25000"/>
            </a:avLst>
          </a:prstGeom>
          <a:solidFill>
            <a:srgbClr val="EEB653">
              <a:alpha val="8000"/>
            </a:srgbClr>
          </a:solidFill>
          <a:ln w="7620">
            <a:solidFill>
              <a:srgbClr val="EEB653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851" y="8860631"/>
            <a:ext cx="2707729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69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⏸ PAUSE ALL TRADING</a:t>
            </a:r>
            <a:endParaRPr lang="en-US" sz="863" dirty="0"/>
          </a:p>
        </p:txBody>
      </p:sp>
      <p:sp>
        <p:nvSpPr>
          <p:cNvPr id="38" name="Shape 36"/>
          <p:cNvSpPr/>
          <p:nvPr/>
        </p:nvSpPr>
        <p:spPr>
          <a:xfrm>
            <a:off x="152400" y="9338786"/>
            <a:ext cx="2754630" cy="476250"/>
          </a:xfrm>
          <a:prstGeom prst="roundRect">
            <a:avLst>
              <a:gd name="adj" fmla="val 22000"/>
            </a:avLst>
          </a:prstGeom>
          <a:solidFill>
            <a:srgbClr val="3A1D22"/>
          </a:solidFill>
          <a:ln w="7620">
            <a:solidFill>
              <a:srgbClr val="F16F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441" y="9453086"/>
            <a:ext cx="9565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SWITCH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042" y="9601676"/>
            <a:ext cx="865346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spc="32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TO CONFIRM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152400" y="9891237"/>
            <a:ext cx="2837269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trades; you supervise. Pause and kill are the only manual levers — there is deliberately no order ticket.</a:t>
            </a:r>
            <a:endParaRPr lang="en-US" sz="713" dirty="0"/>
          </a:p>
        </p:txBody>
      </p:sp>
      <p:sp>
        <p:nvSpPr>
          <p:cNvPr id="42" name="Shape 40"/>
          <p:cNvSpPr/>
          <p:nvPr/>
        </p:nvSpPr>
        <p:spPr>
          <a:xfrm>
            <a:off x="3067050" y="476250"/>
            <a:ext cx="1522095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86125" y="173355"/>
            <a:ext cx="55256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29194" y="173355"/>
            <a:ext cx="59090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010144" y="436245"/>
            <a:ext cx="552807" cy="19050"/>
          </a:xfrm>
          <a:prstGeom prst="roundRect">
            <a:avLst>
              <a:gd name="adj" fmla="val 50000"/>
            </a:avLst>
          </a:prstGeom>
          <a:solidFill>
            <a:srgbClr val="8F97F9"/>
          </a:solidFill>
          <a:ln/>
        </p:spPr>
      </p:sp>
      <p:sp>
        <p:nvSpPr>
          <p:cNvPr id="46" name="Text 44"/>
          <p:cNvSpPr/>
          <p:nvPr/>
        </p:nvSpPr>
        <p:spPr>
          <a:xfrm>
            <a:off x="4734401" y="173355"/>
            <a:ext cx="54006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26869" y="173355"/>
            <a:ext cx="4255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04798" y="173355"/>
            <a:ext cx="29229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49496" y="173355"/>
            <a:ext cx="5399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Digest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41845" y="173355"/>
            <a:ext cx="4892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5330488" y="177165"/>
            <a:ext cx="151779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13:42:28 IST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16824603" y="120015"/>
            <a:ext cx="1310997" cy="236220"/>
          </a:xfrm>
          <a:prstGeom prst="roundRect">
            <a:avLst>
              <a:gd name="adj" fmla="val 50000"/>
            </a:avLst>
          </a:prstGeom>
          <a:solidFill>
            <a:srgbClr val="3ECF8E">
              <a:alpha val="8000"/>
            </a:srgbClr>
          </a:solidFill>
          <a:ln w="7620">
            <a:solidFill>
              <a:srgbClr val="3ECF8E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936998" y="209550"/>
            <a:ext cx="57150" cy="57150"/>
          </a:xfrm>
          <a:prstGeom prst="ellipse">
            <a:avLst/>
          </a:prstGeom>
          <a:solidFill>
            <a:srgbClr val="3ECF8E">
              <a:alpha val="6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7060823" y="184785"/>
            <a:ext cx="73306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 ·</a:t>
            </a:r>
            <a:endParaRPr lang="en-US" sz="713" dirty="0"/>
          </a:p>
        </p:txBody>
      </p:sp>
      <p:sp>
        <p:nvSpPr>
          <p:cNvPr id="55" name="Text 53"/>
          <p:cNvSpPr/>
          <p:nvPr/>
        </p:nvSpPr>
        <p:spPr>
          <a:xfrm>
            <a:off x="17784366" y="184785"/>
            <a:ext cx="31503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47ms</a:t>
            </a:r>
            <a:endParaRPr lang="en-US" sz="713" dirty="0"/>
          </a:p>
        </p:txBody>
      </p:sp>
      <p:sp>
        <p:nvSpPr>
          <p:cNvPr id="56" name="Shape 54"/>
          <p:cNvSpPr/>
          <p:nvPr/>
        </p:nvSpPr>
        <p:spPr>
          <a:xfrm>
            <a:off x="3067050" y="483870"/>
            <a:ext cx="15220950" cy="396240"/>
          </a:xfrm>
          <a:prstGeom prst="rect">
            <a:avLst/>
          </a:prstGeom>
          <a:solidFill>
            <a:srgbClr val="EEB653">
              <a:alpha val="11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067050" y="872490"/>
            <a:ext cx="15220950" cy="9525"/>
          </a:xfrm>
          <a:prstGeom prst="rect">
            <a:avLst/>
          </a:prstGeom>
          <a:solidFill>
            <a:srgbClr val="EEB653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219450" y="575310"/>
            <a:ext cx="205740" cy="205740"/>
          </a:xfrm>
          <a:prstGeom prst="ellipse">
            <a:avLst/>
          </a:prstGeom>
          <a:ln w="7620">
            <a:solidFill>
              <a:srgbClr val="EEB653">
                <a:alpha val="28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88970" y="58293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B653">
                    <a:alpha val="2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29965" y="598170"/>
            <a:ext cx="72509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 at 82% of limit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₹20,540 of ₹25,000 realized. New entries auto-halt at 100%; exits and stop-losses stay active.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5762684" y="65436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949EDC">
              <a:alpha val="1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762684" y="654368"/>
            <a:ext cx="1017270" cy="47625"/>
          </a:xfrm>
          <a:prstGeom prst="rect">
            <a:avLst/>
          </a:prstGeom>
          <a:solidFill>
            <a:srgbClr val="EEB653"/>
          </a:solidFill>
          <a:ln/>
        </p:spPr>
      </p:sp>
      <p:sp>
        <p:nvSpPr>
          <p:cNvPr id="63" name="Shape 61"/>
          <p:cNvSpPr/>
          <p:nvPr/>
        </p:nvSpPr>
        <p:spPr>
          <a:xfrm>
            <a:off x="17105709" y="560070"/>
            <a:ext cx="1029891" cy="236220"/>
          </a:xfrm>
          <a:prstGeom prst="roundRect">
            <a:avLst>
              <a:gd name="adj" fmla="val 28226"/>
            </a:avLst>
          </a:prstGeom>
          <a:solidFill>
            <a:srgbClr val="EEB653">
              <a:alpha val="10000"/>
            </a:srgbClr>
          </a:solidFill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180004" y="624840"/>
            <a:ext cx="88130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38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ENTRIES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219450" y="1003935"/>
            <a:ext cx="91809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fleet</a:t>
            </a:r>
            <a:endParaRPr lang="en-US" sz="1125" dirty="0"/>
          </a:p>
        </p:txBody>
      </p:sp>
      <p:sp>
        <p:nvSpPr>
          <p:cNvPr id="66" name="Text 64"/>
          <p:cNvSpPr/>
          <p:nvPr/>
        </p:nvSpPr>
        <p:spPr>
          <a:xfrm>
            <a:off x="4175641" y="1034415"/>
            <a:ext cx="2639544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ENABLED · 26 SIGNALS TODAY · 3 BLOCKED</a:t>
            </a:r>
            <a:endParaRPr lang="en-US" sz="788" dirty="0"/>
          </a:p>
        </p:txBody>
      </p:sp>
      <p:sp>
        <p:nvSpPr>
          <p:cNvPr id="67" name="Text 65"/>
          <p:cNvSpPr/>
          <p:nvPr/>
        </p:nvSpPr>
        <p:spPr>
          <a:xfrm>
            <a:off x="14683264" y="1034415"/>
            <a:ext cx="379757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Toggling off stops new signals — open positions stay managed by exits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3219450" y="1285875"/>
            <a:ext cx="14916150" cy="4194810"/>
          </a:xfrm>
          <a:prstGeom prst="roundRect">
            <a:avLst>
              <a:gd name="adj" fmla="val 2725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60420" y="1613535"/>
            <a:ext cx="1463421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3360420" y="1436370"/>
            <a:ext cx="2409825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5551170" y="1436370"/>
            <a:ext cx="11239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675" dirty="0"/>
          </a:p>
        </p:txBody>
      </p:sp>
      <p:sp>
        <p:nvSpPr>
          <p:cNvPr id="72" name="Text 70"/>
          <p:cNvSpPr/>
          <p:nvPr/>
        </p:nvSpPr>
        <p:spPr>
          <a:xfrm>
            <a:off x="6522720" y="1436370"/>
            <a:ext cx="6858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</a:t>
            </a:r>
            <a:endParaRPr lang="en-US" sz="675" dirty="0"/>
          </a:p>
        </p:txBody>
      </p:sp>
      <p:sp>
        <p:nvSpPr>
          <p:cNvPr id="73" name="Text 71"/>
          <p:cNvSpPr/>
          <p:nvPr/>
        </p:nvSpPr>
        <p:spPr>
          <a:xfrm>
            <a:off x="7132320" y="1436370"/>
            <a:ext cx="6858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675" dirty="0"/>
          </a:p>
        </p:txBody>
      </p:sp>
      <p:sp>
        <p:nvSpPr>
          <p:cNvPr id="74" name="Text 72"/>
          <p:cNvSpPr/>
          <p:nvPr/>
        </p:nvSpPr>
        <p:spPr>
          <a:xfrm>
            <a:off x="7741920" y="1436370"/>
            <a:ext cx="6858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endParaRPr lang="en-US" sz="675" dirty="0"/>
          </a:p>
        </p:txBody>
      </p:sp>
      <p:sp>
        <p:nvSpPr>
          <p:cNvPr id="75" name="Text 73"/>
          <p:cNvSpPr/>
          <p:nvPr/>
        </p:nvSpPr>
        <p:spPr>
          <a:xfrm>
            <a:off x="8351520" y="1436370"/>
            <a:ext cx="9906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P&amp;L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9265920" y="1436370"/>
            <a:ext cx="6858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</a:t>
            </a:r>
            <a:endParaRPr lang="en-US" sz="675" dirty="0"/>
          </a:p>
        </p:txBody>
      </p:sp>
      <p:sp>
        <p:nvSpPr>
          <p:cNvPr id="77" name="Text 75"/>
          <p:cNvSpPr/>
          <p:nvPr/>
        </p:nvSpPr>
        <p:spPr>
          <a:xfrm>
            <a:off x="9913620" y="1436370"/>
            <a:ext cx="8953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675" dirty="0"/>
          </a:p>
        </p:txBody>
      </p:sp>
      <p:sp>
        <p:nvSpPr>
          <p:cNvPr id="78" name="Text 76"/>
          <p:cNvSpPr/>
          <p:nvPr/>
        </p:nvSpPr>
        <p:spPr>
          <a:xfrm>
            <a:off x="16653511" y="1436370"/>
            <a:ext cx="134112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</a:t>
            </a:r>
            <a:endParaRPr lang="en-US" sz="675" dirty="0"/>
          </a:p>
        </p:txBody>
      </p:sp>
      <p:sp>
        <p:nvSpPr>
          <p:cNvPr id="79" name="Shape 77"/>
          <p:cNvSpPr/>
          <p:nvPr/>
        </p:nvSpPr>
        <p:spPr>
          <a:xfrm>
            <a:off x="3360420" y="2087880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3360420" y="1716405"/>
            <a:ext cx="24098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975" dirty="0"/>
          </a:p>
        </p:txBody>
      </p:sp>
      <p:sp>
        <p:nvSpPr>
          <p:cNvPr id="81" name="Text 79"/>
          <p:cNvSpPr/>
          <p:nvPr/>
        </p:nvSpPr>
        <p:spPr>
          <a:xfrm>
            <a:off x="3360420" y="1870710"/>
            <a:ext cx="240982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 pullbacks to a rising VWAP; exits on band re-touch or stop.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551170" y="1801178"/>
            <a:ext cx="11239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· 5m</a:t>
            </a:r>
            <a:endParaRPr lang="en-US" sz="713" dirty="0"/>
          </a:p>
        </p:txBody>
      </p:sp>
      <p:sp>
        <p:nvSpPr>
          <p:cNvPr id="83" name="Text 81"/>
          <p:cNvSpPr/>
          <p:nvPr/>
        </p:nvSpPr>
        <p:spPr>
          <a:xfrm>
            <a:off x="6522720" y="178593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132320" y="178593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741920" y="178593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351520" y="1789748"/>
            <a:ext cx="9906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−₹4,390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265920" y="178593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33%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0191274" y="1812608"/>
            <a:ext cx="340043" cy="144780"/>
          </a:xfrm>
          <a:prstGeom prst="roundRect">
            <a:avLst>
              <a:gd name="adj" fmla="val 26316"/>
            </a:avLst>
          </a:prstGeom>
          <a:ln w="7620">
            <a:solidFill>
              <a:srgbClr val="3ECF8E">
                <a:alpha val="9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217944" y="1839278"/>
            <a:ext cx="28670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32" kern="0" dirty="0">
                <a:solidFill>
                  <a:srgbClr val="3ECF8E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638" dirty="0"/>
          </a:p>
        </p:txBody>
      </p:sp>
      <p:sp>
        <p:nvSpPr>
          <p:cNvPr id="90" name="Text 88"/>
          <p:cNvSpPr/>
          <p:nvPr/>
        </p:nvSpPr>
        <p:spPr>
          <a:xfrm>
            <a:off x="16957596" y="1801178"/>
            <a:ext cx="71318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29" kern="0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›</a:t>
            </a:r>
            <a:endParaRPr lang="en-US" sz="713" dirty="0"/>
          </a:p>
        </p:txBody>
      </p:sp>
      <p:sp>
        <p:nvSpPr>
          <p:cNvPr id="91" name="Shape 89"/>
          <p:cNvSpPr/>
          <p:nvPr/>
        </p:nvSpPr>
        <p:spPr>
          <a:xfrm>
            <a:off x="17689831" y="1768792"/>
            <a:ext cx="304800" cy="17145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7842231" y="1787842"/>
            <a:ext cx="133350" cy="1333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93" name="Shape 91"/>
          <p:cNvSpPr/>
          <p:nvPr/>
        </p:nvSpPr>
        <p:spPr>
          <a:xfrm>
            <a:off x="3360420" y="256222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3360420" y="2190750"/>
            <a:ext cx="24098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975" dirty="0"/>
          </a:p>
        </p:txBody>
      </p:sp>
      <p:sp>
        <p:nvSpPr>
          <p:cNvPr id="95" name="Text 93"/>
          <p:cNvSpPr/>
          <p:nvPr/>
        </p:nvSpPr>
        <p:spPr>
          <a:xfrm>
            <a:off x="3360420" y="2345055"/>
            <a:ext cx="240982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9/21 EMA cross with ADX filter; stop at 1.5× ATR.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551170" y="2275523"/>
            <a:ext cx="11239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· 5m</a:t>
            </a:r>
            <a:endParaRPr lang="en-US" sz="713" dirty="0"/>
          </a:p>
        </p:txBody>
      </p:sp>
      <p:sp>
        <p:nvSpPr>
          <p:cNvPr id="97" name="Text 95"/>
          <p:cNvSpPr/>
          <p:nvPr/>
        </p:nvSpPr>
        <p:spPr>
          <a:xfrm>
            <a:off x="6522720" y="226028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7132320" y="226028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741920" y="226028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351520" y="2264092"/>
            <a:ext cx="9906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−₹7,277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9265920" y="226028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29%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0191274" y="2286953"/>
            <a:ext cx="340043" cy="144780"/>
          </a:xfrm>
          <a:prstGeom prst="roundRect">
            <a:avLst>
              <a:gd name="adj" fmla="val 26316"/>
            </a:avLst>
          </a:prstGeom>
          <a:ln w="7620">
            <a:solidFill>
              <a:srgbClr val="3ECF8E">
                <a:alpha val="9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217944" y="2313623"/>
            <a:ext cx="28670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32" kern="0" dirty="0">
                <a:solidFill>
                  <a:srgbClr val="3ECF8E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638" dirty="0"/>
          </a:p>
        </p:txBody>
      </p:sp>
      <p:sp>
        <p:nvSpPr>
          <p:cNvPr id="104" name="Text 102"/>
          <p:cNvSpPr/>
          <p:nvPr/>
        </p:nvSpPr>
        <p:spPr>
          <a:xfrm>
            <a:off x="16957596" y="2275523"/>
            <a:ext cx="71318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29" kern="0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›</a:t>
            </a:r>
            <a:endParaRPr lang="en-US" sz="713" dirty="0"/>
          </a:p>
        </p:txBody>
      </p:sp>
      <p:sp>
        <p:nvSpPr>
          <p:cNvPr id="105" name="Shape 103"/>
          <p:cNvSpPr/>
          <p:nvPr/>
        </p:nvSpPr>
        <p:spPr>
          <a:xfrm>
            <a:off x="17689831" y="2243138"/>
            <a:ext cx="304800" cy="17145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7842231" y="2262188"/>
            <a:ext cx="133350" cy="1333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3360420" y="3036570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08" name="Text 106"/>
          <p:cNvSpPr/>
          <p:nvPr/>
        </p:nvSpPr>
        <p:spPr>
          <a:xfrm>
            <a:off x="3360420" y="2665095"/>
            <a:ext cx="24098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SuperTrend Follow</a:t>
            </a:r>
            <a:endParaRPr lang="en-US" sz="975" dirty="0"/>
          </a:p>
        </p:txBody>
      </p:sp>
      <p:sp>
        <p:nvSpPr>
          <p:cNvPr id="109" name="Text 107"/>
          <p:cNvSpPr/>
          <p:nvPr/>
        </p:nvSpPr>
        <p:spPr>
          <a:xfrm>
            <a:off x="3360420" y="2819400"/>
            <a:ext cx="240982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 SuperTrend(10, 3); trails the stop on every flip level.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5551170" y="2749868"/>
            <a:ext cx="11239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· 15m</a:t>
            </a:r>
            <a:endParaRPr lang="en-US" sz="713" dirty="0"/>
          </a:p>
        </p:txBody>
      </p:sp>
      <p:sp>
        <p:nvSpPr>
          <p:cNvPr id="111" name="Text 109"/>
          <p:cNvSpPr/>
          <p:nvPr/>
        </p:nvSpPr>
        <p:spPr>
          <a:xfrm>
            <a:off x="6522720" y="273462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7132320" y="273462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7741920" y="273462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8351520" y="2738438"/>
            <a:ext cx="9906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−₹10,227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9265920" y="273462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10191274" y="2761297"/>
            <a:ext cx="340043" cy="144780"/>
          </a:xfrm>
          <a:prstGeom prst="roundRect">
            <a:avLst>
              <a:gd name="adj" fmla="val 26316"/>
            </a:avLst>
          </a:prstGeom>
          <a:ln w="7620">
            <a:solidFill>
              <a:srgbClr val="3ECF8E">
                <a:alpha val="9000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217944" y="2787967"/>
            <a:ext cx="28670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32" kern="0" dirty="0">
                <a:solidFill>
                  <a:srgbClr val="3ECF8E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638" dirty="0"/>
          </a:p>
        </p:txBody>
      </p:sp>
      <p:sp>
        <p:nvSpPr>
          <p:cNvPr id="118" name="Text 116"/>
          <p:cNvSpPr/>
          <p:nvPr/>
        </p:nvSpPr>
        <p:spPr>
          <a:xfrm>
            <a:off x="16957596" y="2749868"/>
            <a:ext cx="71318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29" kern="0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›</a:t>
            </a:r>
            <a:endParaRPr lang="en-US" sz="713" dirty="0"/>
          </a:p>
        </p:txBody>
      </p:sp>
      <p:sp>
        <p:nvSpPr>
          <p:cNvPr id="119" name="Shape 117"/>
          <p:cNvSpPr/>
          <p:nvPr/>
        </p:nvSpPr>
        <p:spPr>
          <a:xfrm>
            <a:off x="17689831" y="2717483"/>
            <a:ext cx="304800" cy="17145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17842231" y="2736533"/>
            <a:ext cx="133350" cy="1333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360420" y="351091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22" name="Text 120"/>
          <p:cNvSpPr/>
          <p:nvPr/>
        </p:nvSpPr>
        <p:spPr>
          <a:xfrm>
            <a:off x="3360420" y="3139440"/>
            <a:ext cx="24098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Range Breakout</a:t>
            </a:r>
            <a:endParaRPr lang="en-US" sz="975" dirty="0"/>
          </a:p>
        </p:txBody>
      </p:sp>
      <p:sp>
        <p:nvSpPr>
          <p:cNvPr id="123" name="Text 121"/>
          <p:cNvSpPr/>
          <p:nvPr/>
        </p:nvSpPr>
        <p:spPr>
          <a:xfrm>
            <a:off x="3360420" y="3293745"/>
            <a:ext cx="240982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of the first 15-minute range with volume confirmation.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551170" y="3224213"/>
            <a:ext cx="11239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MOMENTUM · 15m</a:t>
            </a:r>
            <a:endParaRPr lang="en-US" sz="713" dirty="0"/>
          </a:p>
        </p:txBody>
      </p:sp>
      <p:sp>
        <p:nvSpPr>
          <p:cNvPr id="125" name="Text 123"/>
          <p:cNvSpPr/>
          <p:nvPr/>
        </p:nvSpPr>
        <p:spPr>
          <a:xfrm>
            <a:off x="6522720" y="3208972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132320" y="3208972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7741920" y="3208972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8351520" y="3212783"/>
            <a:ext cx="9906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+₹3,077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9265920" y="3208972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10191274" y="3235643"/>
            <a:ext cx="340043" cy="144780"/>
          </a:xfrm>
          <a:prstGeom prst="roundRect">
            <a:avLst>
              <a:gd name="adj" fmla="val 26316"/>
            </a:avLst>
          </a:prstGeom>
          <a:ln w="7620">
            <a:solidFill>
              <a:srgbClr val="3ECF8E">
                <a:alpha val="90000"/>
              </a:srgbClr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217944" y="3262313"/>
            <a:ext cx="28670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32" kern="0" dirty="0">
                <a:solidFill>
                  <a:srgbClr val="3ECF8E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638" dirty="0"/>
          </a:p>
        </p:txBody>
      </p:sp>
      <p:sp>
        <p:nvSpPr>
          <p:cNvPr id="132" name="Text 130"/>
          <p:cNvSpPr/>
          <p:nvPr/>
        </p:nvSpPr>
        <p:spPr>
          <a:xfrm>
            <a:off x="16957596" y="3224213"/>
            <a:ext cx="71318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29" kern="0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›</a:t>
            </a:r>
            <a:endParaRPr lang="en-US" sz="713" dirty="0"/>
          </a:p>
        </p:txBody>
      </p:sp>
      <p:sp>
        <p:nvSpPr>
          <p:cNvPr id="133" name="Shape 131"/>
          <p:cNvSpPr/>
          <p:nvPr/>
        </p:nvSpPr>
        <p:spPr>
          <a:xfrm>
            <a:off x="17689831" y="3191828"/>
            <a:ext cx="304800" cy="17145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17842231" y="3210878"/>
            <a:ext cx="133350" cy="1333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3360420" y="3985260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36" name="Text 134"/>
          <p:cNvSpPr/>
          <p:nvPr/>
        </p:nvSpPr>
        <p:spPr>
          <a:xfrm>
            <a:off x="3360420" y="3613785"/>
            <a:ext cx="24098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= High / Low</a:t>
            </a:r>
            <a:endParaRPr lang="en-US" sz="975" dirty="0"/>
          </a:p>
        </p:txBody>
      </p:sp>
      <p:sp>
        <p:nvSpPr>
          <p:cNvPr id="137" name="Text 135"/>
          <p:cNvSpPr/>
          <p:nvPr/>
        </p:nvSpPr>
        <p:spPr>
          <a:xfrm>
            <a:off x="3360420" y="3768090"/>
            <a:ext cx="240982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Fades open-equals-high/low names inside the first hour.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5551170" y="3698558"/>
            <a:ext cx="11239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OPENING · 1D</a:t>
            </a:r>
            <a:endParaRPr lang="en-US" sz="713" dirty="0"/>
          </a:p>
        </p:txBody>
      </p:sp>
      <p:sp>
        <p:nvSpPr>
          <p:cNvPr id="139" name="Text 137"/>
          <p:cNvSpPr/>
          <p:nvPr/>
        </p:nvSpPr>
        <p:spPr>
          <a:xfrm>
            <a:off x="6522720" y="368331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7132320" y="368331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7741920" y="368331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8351520" y="3687128"/>
            <a:ext cx="9906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9265920" y="368331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10164961" y="3709988"/>
            <a:ext cx="392668" cy="144780"/>
          </a:xfrm>
          <a:prstGeom prst="roundRect">
            <a:avLst>
              <a:gd name="adj" fmla="val 26316"/>
            </a:avLst>
          </a:prstGeom>
          <a:ln w="7620">
            <a:solidFill>
              <a:srgbClr val="9AA1C0">
                <a:alpha val="90000"/>
              </a:srgbClr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191631" y="3736658"/>
            <a:ext cx="33932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32" kern="0" dirty="0">
                <a:solidFill>
                  <a:srgbClr val="9AA1C0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ARMED</a:t>
            </a:r>
            <a:endParaRPr lang="en-US" sz="638" dirty="0"/>
          </a:p>
        </p:txBody>
      </p:sp>
      <p:sp>
        <p:nvSpPr>
          <p:cNvPr id="146" name="Text 144"/>
          <p:cNvSpPr/>
          <p:nvPr/>
        </p:nvSpPr>
        <p:spPr>
          <a:xfrm>
            <a:off x="16957596" y="3698558"/>
            <a:ext cx="71318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29" kern="0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›</a:t>
            </a:r>
            <a:endParaRPr lang="en-US" sz="713" dirty="0"/>
          </a:p>
        </p:txBody>
      </p:sp>
      <p:sp>
        <p:nvSpPr>
          <p:cNvPr id="147" name="Shape 145"/>
          <p:cNvSpPr/>
          <p:nvPr/>
        </p:nvSpPr>
        <p:spPr>
          <a:xfrm>
            <a:off x="17689831" y="3666172"/>
            <a:ext cx="304800" cy="17145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17842231" y="3685222"/>
            <a:ext cx="133350" cy="1333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360420" y="445960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50" name="Text 148"/>
          <p:cNvSpPr/>
          <p:nvPr/>
        </p:nvSpPr>
        <p:spPr>
          <a:xfrm>
            <a:off x="3360420" y="4088130"/>
            <a:ext cx="24098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Gap-Up Continuation</a:t>
            </a:r>
            <a:endParaRPr lang="en-US" sz="975" dirty="0"/>
          </a:p>
        </p:txBody>
      </p:sp>
      <p:sp>
        <p:nvSpPr>
          <p:cNvPr id="151" name="Text 149"/>
          <p:cNvSpPr/>
          <p:nvPr/>
        </p:nvSpPr>
        <p:spPr>
          <a:xfrm>
            <a:off x="3360420" y="4242435"/>
            <a:ext cx="240982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Continuation entries on 0.8–3% gaps that hold the first candle.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5551170" y="4172903"/>
            <a:ext cx="11239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OPENING · 5m</a:t>
            </a:r>
            <a:endParaRPr lang="en-US" sz="713" dirty="0"/>
          </a:p>
        </p:txBody>
      </p:sp>
      <p:sp>
        <p:nvSpPr>
          <p:cNvPr id="153" name="Text 151"/>
          <p:cNvSpPr/>
          <p:nvPr/>
        </p:nvSpPr>
        <p:spPr>
          <a:xfrm>
            <a:off x="6522720" y="415766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7132320" y="415766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55" name="Text 153"/>
          <p:cNvSpPr/>
          <p:nvPr/>
        </p:nvSpPr>
        <p:spPr>
          <a:xfrm>
            <a:off x="7741920" y="415766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56" name="Text 154"/>
          <p:cNvSpPr/>
          <p:nvPr/>
        </p:nvSpPr>
        <p:spPr>
          <a:xfrm>
            <a:off x="8351520" y="4161472"/>
            <a:ext cx="9906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9265920" y="415766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10164961" y="4184333"/>
            <a:ext cx="392668" cy="144780"/>
          </a:xfrm>
          <a:prstGeom prst="roundRect">
            <a:avLst>
              <a:gd name="adj" fmla="val 26316"/>
            </a:avLst>
          </a:prstGeom>
          <a:ln w="7620">
            <a:solidFill>
              <a:srgbClr val="9AA1C0">
                <a:alpha val="90000"/>
              </a:srgbClr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0191631" y="4211003"/>
            <a:ext cx="33932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32" kern="0" dirty="0">
                <a:solidFill>
                  <a:srgbClr val="9AA1C0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ARMED</a:t>
            </a:r>
            <a:endParaRPr lang="en-US" sz="638" dirty="0"/>
          </a:p>
        </p:txBody>
      </p:sp>
      <p:sp>
        <p:nvSpPr>
          <p:cNvPr id="160" name="Text 158"/>
          <p:cNvSpPr/>
          <p:nvPr/>
        </p:nvSpPr>
        <p:spPr>
          <a:xfrm>
            <a:off x="16957596" y="4172903"/>
            <a:ext cx="71318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29" kern="0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›</a:t>
            </a:r>
            <a:endParaRPr lang="en-US" sz="713" dirty="0"/>
          </a:p>
        </p:txBody>
      </p:sp>
      <p:sp>
        <p:nvSpPr>
          <p:cNvPr id="161" name="Shape 159"/>
          <p:cNvSpPr/>
          <p:nvPr/>
        </p:nvSpPr>
        <p:spPr>
          <a:xfrm>
            <a:off x="17689831" y="4140518"/>
            <a:ext cx="304800" cy="171450"/>
          </a:xfrm>
          <a:prstGeom prst="roundRect">
            <a:avLst>
              <a:gd name="adj" fmla="val 50000"/>
            </a:avLst>
          </a:prstGeom>
          <a:solidFill>
            <a:srgbClr val="3ECF8E">
              <a:alpha val="30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17842231" y="4159568"/>
            <a:ext cx="133350" cy="1333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3360420" y="4933950"/>
            <a:ext cx="14634210" cy="9525"/>
          </a:xfrm>
          <a:prstGeom prst="rect">
            <a:avLst/>
          </a:prstGeom>
          <a:solidFill>
            <a:srgbClr val="949EDC">
              <a:alpha val="4000"/>
            </a:srgbClr>
          </a:solidFill>
          <a:ln/>
        </p:spPr>
      </p:sp>
      <p:sp>
        <p:nvSpPr>
          <p:cNvPr id="164" name="Text 162"/>
          <p:cNvSpPr/>
          <p:nvPr/>
        </p:nvSpPr>
        <p:spPr>
          <a:xfrm>
            <a:off x="3360420" y="4562475"/>
            <a:ext cx="24098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Reversion</a:t>
            </a:r>
            <a:endParaRPr lang="en-US" sz="975" dirty="0"/>
          </a:p>
        </p:txBody>
      </p:sp>
      <p:sp>
        <p:nvSpPr>
          <p:cNvPr id="165" name="Text 163"/>
          <p:cNvSpPr/>
          <p:nvPr/>
        </p:nvSpPr>
        <p:spPr>
          <a:xfrm>
            <a:off x="3360420" y="4716780"/>
            <a:ext cx="240982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 RSI &lt; 30 dips back to the mean in range-bound regimes.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5551170" y="4647247"/>
            <a:ext cx="11239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MEAN-REV · 5m</a:t>
            </a:r>
            <a:endParaRPr lang="en-US" sz="713" dirty="0"/>
          </a:p>
        </p:txBody>
      </p:sp>
      <p:sp>
        <p:nvSpPr>
          <p:cNvPr id="167" name="Text 165"/>
          <p:cNvSpPr/>
          <p:nvPr/>
        </p:nvSpPr>
        <p:spPr>
          <a:xfrm>
            <a:off x="6522720" y="463200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68" name="Text 166"/>
          <p:cNvSpPr/>
          <p:nvPr/>
        </p:nvSpPr>
        <p:spPr>
          <a:xfrm>
            <a:off x="7132320" y="463200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7741920" y="463200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70" name="Text 168"/>
          <p:cNvSpPr/>
          <p:nvPr/>
        </p:nvSpPr>
        <p:spPr>
          <a:xfrm>
            <a:off x="8351520" y="4635818"/>
            <a:ext cx="9906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71" name="Text 169"/>
          <p:cNvSpPr/>
          <p:nvPr/>
        </p:nvSpPr>
        <p:spPr>
          <a:xfrm>
            <a:off x="9265920" y="4632008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10217587" y="4658678"/>
            <a:ext cx="287417" cy="144780"/>
          </a:xfrm>
          <a:prstGeom prst="roundRect">
            <a:avLst>
              <a:gd name="adj" fmla="val 26316"/>
            </a:avLst>
          </a:prstGeom>
          <a:ln w="7620">
            <a:solidFill>
              <a:srgbClr val="656C8A">
                <a:alpha val="90000"/>
              </a:srgbClr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0244257" y="4685348"/>
            <a:ext cx="234077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32" kern="0" dirty="0">
                <a:solidFill>
                  <a:srgbClr val="656C8A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endParaRPr lang="en-US" sz="638" dirty="0"/>
          </a:p>
        </p:txBody>
      </p:sp>
      <p:sp>
        <p:nvSpPr>
          <p:cNvPr id="174" name="Text 172"/>
          <p:cNvSpPr/>
          <p:nvPr/>
        </p:nvSpPr>
        <p:spPr>
          <a:xfrm>
            <a:off x="16957596" y="4647247"/>
            <a:ext cx="71318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29" kern="0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›</a:t>
            </a:r>
            <a:endParaRPr lang="en-US" sz="713" dirty="0"/>
          </a:p>
        </p:txBody>
      </p:sp>
      <p:sp>
        <p:nvSpPr>
          <p:cNvPr id="175" name="Shape 173"/>
          <p:cNvSpPr/>
          <p:nvPr/>
        </p:nvSpPr>
        <p:spPr>
          <a:xfrm>
            <a:off x="17689831" y="4614863"/>
            <a:ext cx="304800" cy="171450"/>
          </a:xfrm>
          <a:prstGeom prst="roundRect">
            <a:avLst>
              <a:gd name="adj" fmla="val 50000"/>
            </a:avLst>
          </a:prstGeom>
          <a:solidFill>
            <a:srgbClr val="949EDC">
              <a:alpha val="16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17708881" y="4633913"/>
            <a:ext cx="133350" cy="133350"/>
          </a:xfrm>
          <a:prstGeom prst="ellipse">
            <a:avLst/>
          </a:prstGeom>
          <a:solidFill>
            <a:srgbClr val="6A7086"/>
          </a:solidFill>
          <a:ln/>
        </p:spPr>
      </p:sp>
      <p:sp>
        <p:nvSpPr>
          <p:cNvPr id="177" name="Shape 175"/>
          <p:cNvSpPr/>
          <p:nvPr/>
        </p:nvSpPr>
        <p:spPr>
          <a:xfrm>
            <a:off x="3360420" y="5408295"/>
            <a:ext cx="14634210" cy="9525"/>
          </a:xfrm>
          <a:prstGeom prst="rect">
            <a:avLst/>
          </a:prstGeom>
          <a:solidFill>
            <a:srgbClr val="949EDC">
              <a:alpha val="4000"/>
            </a:srgbClr>
          </a:solidFill>
          <a:ln/>
        </p:spPr>
      </p:sp>
      <p:sp>
        <p:nvSpPr>
          <p:cNvPr id="178" name="Text 176"/>
          <p:cNvSpPr/>
          <p:nvPr/>
        </p:nvSpPr>
        <p:spPr>
          <a:xfrm>
            <a:off x="3360420" y="5036820"/>
            <a:ext cx="24098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Breakout</a:t>
            </a:r>
            <a:endParaRPr lang="en-US" sz="975" dirty="0"/>
          </a:p>
        </p:txBody>
      </p:sp>
      <p:sp>
        <p:nvSpPr>
          <p:cNvPr id="179" name="Text 177"/>
          <p:cNvSpPr/>
          <p:nvPr/>
        </p:nvSpPr>
        <p:spPr>
          <a:xfrm>
            <a:off x="3360420" y="5191125"/>
            <a:ext cx="240982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Breakouts on 2.5× average volume with range expansion.</a:t>
            </a:r>
            <a:endParaRPr lang="en-US" sz="750" dirty="0"/>
          </a:p>
        </p:txBody>
      </p:sp>
      <p:sp>
        <p:nvSpPr>
          <p:cNvPr id="180" name="Text 178"/>
          <p:cNvSpPr/>
          <p:nvPr/>
        </p:nvSpPr>
        <p:spPr>
          <a:xfrm>
            <a:off x="5551170" y="5121593"/>
            <a:ext cx="11239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MOMENTUM · 5m</a:t>
            </a:r>
            <a:endParaRPr lang="en-US" sz="713" dirty="0"/>
          </a:p>
        </p:txBody>
      </p:sp>
      <p:sp>
        <p:nvSpPr>
          <p:cNvPr id="181" name="Text 179"/>
          <p:cNvSpPr/>
          <p:nvPr/>
        </p:nvSpPr>
        <p:spPr>
          <a:xfrm>
            <a:off x="6522720" y="510635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82" name="Text 180"/>
          <p:cNvSpPr/>
          <p:nvPr/>
        </p:nvSpPr>
        <p:spPr>
          <a:xfrm>
            <a:off x="7132320" y="510635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7741920" y="510635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84" name="Text 182"/>
          <p:cNvSpPr/>
          <p:nvPr/>
        </p:nvSpPr>
        <p:spPr>
          <a:xfrm>
            <a:off x="8351520" y="5110163"/>
            <a:ext cx="9906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85" name="Text 183"/>
          <p:cNvSpPr/>
          <p:nvPr/>
        </p:nvSpPr>
        <p:spPr>
          <a:xfrm>
            <a:off x="9265920" y="5106353"/>
            <a:ext cx="6858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10217587" y="5133023"/>
            <a:ext cx="287417" cy="144780"/>
          </a:xfrm>
          <a:prstGeom prst="roundRect">
            <a:avLst>
              <a:gd name="adj" fmla="val 26316"/>
            </a:avLst>
          </a:prstGeom>
          <a:ln w="7620">
            <a:solidFill>
              <a:srgbClr val="656C8A">
                <a:alpha val="90000"/>
              </a:srgbClr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0244257" y="5159693"/>
            <a:ext cx="234077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32" kern="0" dirty="0">
                <a:solidFill>
                  <a:srgbClr val="656C8A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endParaRPr lang="en-US" sz="638" dirty="0"/>
          </a:p>
        </p:txBody>
      </p:sp>
      <p:sp>
        <p:nvSpPr>
          <p:cNvPr id="188" name="Text 186"/>
          <p:cNvSpPr/>
          <p:nvPr/>
        </p:nvSpPr>
        <p:spPr>
          <a:xfrm>
            <a:off x="16957596" y="5121593"/>
            <a:ext cx="71318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29" kern="0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›</a:t>
            </a:r>
            <a:endParaRPr lang="en-US" sz="713" dirty="0"/>
          </a:p>
        </p:txBody>
      </p:sp>
      <p:sp>
        <p:nvSpPr>
          <p:cNvPr id="189" name="Shape 187"/>
          <p:cNvSpPr/>
          <p:nvPr/>
        </p:nvSpPr>
        <p:spPr>
          <a:xfrm>
            <a:off x="17689831" y="5089207"/>
            <a:ext cx="304800" cy="171450"/>
          </a:xfrm>
          <a:prstGeom prst="roundRect">
            <a:avLst>
              <a:gd name="adj" fmla="val 50000"/>
            </a:avLst>
          </a:prstGeom>
          <a:solidFill>
            <a:srgbClr val="949EDC">
              <a:alpha val="1600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17708881" y="5108257"/>
            <a:ext cx="133350" cy="133350"/>
          </a:xfrm>
          <a:prstGeom prst="ellipse">
            <a:avLst/>
          </a:prstGeom>
          <a:solidFill>
            <a:srgbClr val="6A7086"/>
          </a:solidFill>
          <a:ln/>
        </p:spPr>
      </p:sp>
      <p:sp>
        <p:nvSpPr>
          <p:cNvPr id="191" name="Text 189"/>
          <p:cNvSpPr/>
          <p:nvPr/>
        </p:nvSpPr>
        <p:spPr>
          <a:xfrm>
            <a:off x="3219450" y="5594985"/>
            <a:ext cx="365049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note: trend day — mean-reversion strategies deliberately off.</a:t>
            </a:r>
            <a:endParaRPr lang="en-US" sz="788" dirty="0"/>
          </a:p>
        </p:txBody>
      </p:sp>
      <p:sp>
        <p:nvSpPr>
          <p:cNvPr id="192" name="Text 190"/>
          <p:cNvSpPr/>
          <p:nvPr/>
        </p:nvSpPr>
        <p:spPr>
          <a:xfrm>
            <a:off x="14272499" y="5594985"/>
            <a:ext cx="424941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changes apply from the next signal; they never modify live positions.</a:t>
            </a:r>
            <a:endParaRPr lang="en-US" sz="7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7050" cy="10287000"/>
          </a:xfrm>
          <a:prstGeom prst="rect">
            <a:avLst/>
          </a:prstGeom>
          <a:solidFill>
            <a:srgbClr val="171923"/>
          </a:solidFill>
          <a:ln/>
        </p:spPr>
      </p:sp>
      <p:sp>
        <p:nvSpPr>
          <p:cNvPr id="3" name="Shape 1"/>
          <p:cNvSpPr/>
          <p:nvPr/>
        </p:nvSpPr>
        <p:spPr>
          <a:xfrm>
            <a:off x="3059430" y="0"/>
            <a:ext cx="9525" cy="10287000"/>
          </a:xfrm>
          <a:prstGeom prst="rect">
            <a:avLst/>
          </a:prstGeom>
          <a:solidFill>
            <a:srgbClr val="949ED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5" name="Shape 3"/>
          <p:cNvSpPr/>
          <p:nvPr/>
        </p:nvSpPr>
        <p:spPr>
          <a:xfrm>
            <a:off x="223838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2400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3838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8" name="Text 6"/>
          <p:cNvSpPr/>
          <p:nvPr/>
        </p:nvSpPr>
        <p:spPr>
          <a:xfrm>
            <a:off x="357188" y="152400"/>
            <a:ext cx="834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8968" y="160020"/>
            <a:ext cx="688062" cy="144780"/>
          </a:xfrm>
          <a:prstGeom prst="roundRect">
            <a:avLst>
              <a:gd name="adj" fmla="val 26316"/>
            </a:avLst>
          </a:prstGeom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3738" y="186690"/>
            <a:ext cx="63472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57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MODE</a:t>
            </a:r>
            <a:endParaRPr lang="en-US" sz="638" dirty="0"/>
          </a:p>
        </p:txBody>
      </p:sp>
      <p:sp>
        <p:nvSpPr>
          <p:cNvPr id="11" name="Text 9"/>
          <p:cNvSpPr/>
          <p:nvPr/>
        </p:nvSpPr>
        <p:spPr>
          <a:xfrm>
            <a:off x="152400" y="436245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P&amp;L · 09:15 → NOW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152400" y="571500"/>
            <a:ext cx="3030093" cy="40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75" b="1" spc="-55" kern="0" dirty="0">
                <a:solidFill>
                  <a:srgbClr val="F1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−₹18,877</a:t>
            </a:r>
            <a:endParaRPr lang="en-US" sz="2775" dirty="0"/>
          </a:p>
        </p:txBody>
      </p:sp>
      <p:sp>
        <p:nvSpPr>
          <p:cNvPr id="13" name="Text 11"/>
          <p:cNvSpPr/>
          <p:nvPr/>
        </p:nvSpPr>
        <p:spPr>
          <a:xfrm>
            <a:off x="152400" y="970121"/>
            <a:ext cx="84617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</a:t>
            </a:r>
            <a:pPr algn="l" indent="0" marL="0">
              <a:buNone/>
            </a:pPr>
            <a:r>
              <a:rPr lang="en-US" sz="788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−₹20,540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1046202" y="970121"/>
            <a:ext cx="78617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unrl </a:t>
            </a:r>
            <a:pPr algn="l" indent="0" marL="0">
              <a:buNone/>
            </a:pPr>
            <a:r>
              <a:rPr lang="en-US" sz="788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+₹1,663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152400" y="1223486"/>
            <a:ext cx="2754630" cy="1158240"/>
          </a:xfrm>
          <a:prstGeom prst="roundRect">
            <a:avLst>
              <a:gd name="adj" fmla="val 9868"/>
            </a:avLst>
          </a:prstGeom>
          <a:solidFill>
            <a:srgbClr val="1B1D27"/>
          </a:solidFill>
          <a:ln w="7620">
            <a:solidFill>
              <a:srgbClr val="EEB65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" y="1345406"/>
            <a:ext cx="914400" cy="914400"/>
          </a:xfrm>
          <a:prstGeom prst="ellipse">
            <a:avLst/>
          </a:prstGeom>
          <a:solidFill>
            <a:srgbClr val="EEB653"/>
          </a:solidFill>
          <a:ln/>
        </p:spPr>
      </p:sp>
      <p:sp>
        <p:nvSpPr>
          <p:cNvPr id="17" name="Text 15"/>
          <p:cNvSpPr/>
          <p:nvPr/>
        </p:nvSpPr>
        <p:spPr>
          <a:xfrm>
            <a:off x="531257" y="1634966"/>
            <a:ext cx="49565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89585" y="1878806"/>
            <a:ext cx="57912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36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LIMIT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31595" y="1482923"/>
            <a:ext cx="1588389" cy="185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₹20,540 of ₹25,000 daily limit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1331595" y="1668899"/>
            <a:ext cx="1520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auto-halt at 100%. Exits always allowed.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31595" y="1973699"/>
            <a:ext cx="1343144" cy="148590"/>
          </a:xfrm>
          <a:prstGeom prst="roundRect">
            <a:avLst>
              <a:gd name="adj" fmla="val 25641"/>
            </a:avLst>
          </a:prstGeom>
          <a:solidFill>
            <a:srgbClr val="EEB653">
              <a:alpha val="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88745" y="2002274"/>
            <a:ext cx="130504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8" kern="0" dirty="0">
                <a:solidFill>
                  <a:srgbClr val="EEB653">
                    <a:alpha val="25000"/>
                  </a:srgbClr>
                </a:solidFill>
                <a:highlight>
                  <a:srgbClr val="FDF8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ARMED </a:t>
            </a:r>
            <a:pPr algn="l" indent="0" marL="0">
              <a:buNone/>
            </a:pPr>
            <a:r>
              <a:rPr lang="en-US" sz="638" b="1" spc="38" kern="0" dirty="0">
                <a:solidFill>
                  <a:srgbClr val="EEB653">
                    <a:alpha val="2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13:15 IST</a:t>
            </a:r>
            <a:endParaRPr lang="en-US" sz="638" dirty="0"/>
          </a:p>
        </p:txBody>
      </p:sp>
      <p:sp>
        <p:nvSpPr>
          <p:cNvPr id="23" name="Shape 21"/>
          <p:cNvSpPr/>
          <p:nvPr/>
        </p:nvSpPr>
        <p:spPr>
          <a:xfrm>
            <a:off x="152400" y="2505551"/>
            <a:ext cx="2754630" cy="994410"/>
          </a:xfrm>
          <a:prstGeom prst="roundRect">
            <a:avLst>
              <a:gd name="adj" fmla="val 11494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370" y="267700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436245" y="2636996"/>
            <a:ext cx="40528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080141" y="2652236"/>
            <a:ext cx="7621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FYERS · 50ms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98120" y="285035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" y="297418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9" name="Text 27"/>
          <p:cNvSpPr/>
          <p:nvPr/>
        </p:nvSpPr>
        <p:spPr>
          <a:xfrm>
            <a:off x="436245" y="2934176"/>
            <a:ext cx="43088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679972" y="2949416"/>
            <a:ext cx="116228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13:42:29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8120" y="314753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" y="3271361"/>
            <a:ext cx="57150" cy="57150"/>
          </a:xfrm>
          <a:prstGeom prst="ellipse">
            <a:avLst/>
          </a:prstGeom>
          <a:solidFill>
            <a:srgbClr val="8F97F9"/>
          </a:solidFill>
          <a:ln/>
        </p:spPr>
      </p:sp>
      <p:sp>
        <p:nvSpPr>
          <p:cNvPr id="33" name="Text 31"/>
          <p:cNvSpPr/>
          <p:nvPr/>
        </p:nvSpPr>
        <p:spPr>
          <a:xfrm>
            <a:off x="436245" y="3231356"/>
            <a:ext cx="41874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622822" y="3246596"/>
            <a:ext cx="121943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· 27 signals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2400" y="8660606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CONTROLS</a:t>
            </a:r>
            <a:endParaRPr lang="en-US" sz="713" dirty="0"/>
          </a:p>
        </p:txBody>
      </p:sp>
      <p:sp>
        <p:nvSpPr>
          <p:cNvPr id="36" name="Shape 34"/>
          <p:cNvSpPr/>
          <p:nvPr/>
        </p:nvSpPr>
        <p:spPr>
          <a:xfrm>
            <a:off x="152400" y="8843486"/>
            <a:ext cx="2754630" cy="419100"/>
          </a:xfrm>
          <a:prstGeom prst="roundRect">
            <a:avLst>
              <a:gd name="adj" fmla="val 25000"/>
            </a:avLst>
          </a:prstGeom>
          <a:solidFill>
            <a:srgbClr val="EEB653">
              <a:alpha val="8000"/>
            </a:srgbClr>
          </a:solidFill>
          <a:ln w="7620">
            <a:solidFill>
              <a:srgbClr val="EEB653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851" y="8860631"/>
            <a:ext cx="2707729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69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⏸ PAUSE ALL TRADING</a:t>
            </a:r>
            <a:endParaRPr lang="en-US" sz="863" dirty="0"/>
          </a:p>
        </p:txBody>
      </p:sp>
      <p:sp>
        <p:nvSpPr>
          <p:cNvPr id="38" name="Shape 36"/>
          <p:cNvSpPr/>
          <p:nvPr/>
        </p:nvSpPr>
        <p:spPr>
          <a:xfrm>
            <a:off x="152400" y="9338786"/>
            <a:ext cx="2754630" cy="476250"/>
          </a:xfrm>
          <a:prstGeom prst="roundRect">
            <a:avLst>
              <a:gd name="adj" fmla="val 22000"/>
            </a:avLst>
          </a:prstGeom>
          <a:solidFill>
            <a:srgbClr val="3A1D22"/>
          </a:solidFill>
          <a:ln w="7620">
            <a:solidFill>
              <a:srgbClr val="F16F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441" y="9453086"/>
            <a:ext cx="9565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SWITCH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042" y="9601676"/>
            <a:ext cx="865346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spc="32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TO CONFIRM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152400" y="9891237"/>
            <a:ext cx="2837269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trades; you supervise. Pause and kill are the only manual levers — there is deliberately no order ticket.</a:t>
            </a:r>
            <a:endParaRPr lang="en-US" sz="713" dirty="0"/>
          </a:p>
        </p:txBody>
      </p:sp>
      <p:sp>
        <p:nvSpPr>
          <p:cNvPr id="42" name="Shape 40"/>
          <p:cNvSpPr/>
          <p:nvPr/>
        </p:nvSpPr>
        <p:spPr>
          <a:xfrm>
            <a:off x="3067050" y="476250"/>
            <a:ext cx="1522095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86125" y="173355"/>
            <a:ext cx="55256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91094" y="173355"/>
            <a:ext cx="59090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72501" y="173355"/>
            <a:ext cx="54006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3451" y="436245"/>
            <a:ext cx="501968" cy="19050"/>
          </a:xfrm>
          <a:prstGeom prst="roundRect">
            <a:avLst>
              <a:gd name="adj" fmla="val 50000"/>
            </a:avLst>
          </a:prstGeom>
          <a:solidFill>
            <a:srgbClr val="8F97F9"/>
          </a:solidFill>
          <a:ln/>
        </p:spPr>
      </p:sp>
      <p:sp>
        <p:nvSpPr>
          <p:cNvPr id="47" name="Text 45"/>
          <p:cNvSpPr/>
          <p:nvPr/>
        </p:nvSpPr>
        <p:spPr>
          <a:xfrm>
            <a:off x="5426869" y="173355"/>
            <a:ext cx="4255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04798" y="173355"/>
            <a:ext cx="29229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49496" y="173355"/>
            <a:ext cx="5399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Digest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41845" y="173355"/>
            <a:ext cx="4892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5330488" y="177165"/>
            <a:ext cx="151779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13:42:29 IST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16824603" y="120015"/>
            <a:ext cx="1310997" cy="236220"/>
          </a:xfrm>
          <a:prstGeom prst="roundRect">
            <a:avLst>
              <a:gd name="adj" fmla="val 50000"/>
            </a:avLst>
          </a:prstGeom>
          <a:solidFill>
            <a:srgbClr val="3ECF8E">
              <a:alpha val="8000"/>
            </a:srgbClr>
          </a:solidFill>
          <a:ln w="7620">
            <a:solidFill>
              <a:srgbClr val="3ECF8E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936998" y="209550"/>
            <a:ext cx="57150" cy="57150"/>
          </a:xfrm>
          <a:prstGeom prst="ellipse">
            <a:avLst/>
          </a:prstGeom>
          <a:solidFill>
            <a:srgbClr val="3ECF8E">
              <a:alpha val="81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7060823" y="184785"/>
            <a:ext cx="73306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 ·</a:t>
            </a:r>
            <a:endParaRPr lang="en-US" sz="713" dirty="0"/>
          </a:p>
        </p:txBody>
      </p:sp>
      <p:sp>
        <p:nvSpPr>
          <p:cNvPr id="55" name="Text 53"/>
          <p:cNvSpPr/>
          <p:nvPr/>
        </p:nvSpPr>
        <p:spPr>
          <a:xfrm>
            <a:off x="17784366" y="184785"/>
            <a:ext cx="31503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50ms</a:t>
            </a:r>
            <a:endParaRPr lang="en-US" sz="713" dirty="0"/>
          </a:p>
        </p:txBody>
      </p:sp>
      <p:sp>
        <p:nvSpPr>
          <p:cNvPr id="56" name="Shape 54"/>
          <p:cNvSpPr/>
          <p:nvPr/>
        </p:nvSpPr>
        <p:spPr>
          <a:xfrm>
            <a:off x="3067050" y="483870"/>
            <a:ext cx="15220950" cy="396240"/>
          </a:xfrm>
          <a:prstGeom prst="rect">
            <a:avLst/>
          </a:prstGeom>
          <a:solidFill>
            <a:srgbClr val="EEB653">
              <a:alpha val="11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067050" y="872490"/>
            <a:ext cx="15220950" cy="9525"/>
          </a:xfrm>
          <a:prstGeom prst="rect">
            <a:avLst/>
          </a:prstGeom>
          <a:solidFill>
            <a:srgbClr val="EEB653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219450" y="575310"/>
            <a:ext cx="205740" cy="205740"/>
          </a:xfrm>
          <a:prstGeom prst="ellipse">
            <a:avLst/>
          </a:prstGeom>
          <a:ln w="7620">
            <a:solidFill>
              <a:srgbClr val="EEB653">
                <a:alpha val="93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88970" y="58293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B653">
                    <a:alpha val="93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29965" y="598170"/>
            <a:ext cx="72509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 at 82% of limit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₹20,540 of ₹25,000 realized. New entries auto-halt at 100%; exits and stop-losses stay active.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5762684" y="65436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949EDC">
              <a:alpha val="1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762684" y="654368"/>
            <a:ext cx="1017270" cy="47625"/>
          </a:xfrm>
          <a:prstGeom prst="rect">
            <a:avLst/>
          </a:prstGeom>
          <a:solidFill>
            <a:srgbClr val="EEB653"/>
          </a:solidFill>
          <a:ln/>
        </p:spPr>
      </p:sp>
      <p:sp>
        <p:nvSpPr>
          <p:cNvPr id="63" name="Shape 61"/>
          <p:cNvSpPr/>
          <p:nvPr/>
        </p:nvSpPr>
        <p:spPr>
          <a:xfrm>
            <a:off x="17105709" y="560070"/>
            <a:ext cx="1029891" cy="236220"/>
          </a:xfrm>
          <a:prstGeom prst="roundRect">
            <a:avLst>
              <a:gd name="adj" fmla="val 28226"/>
            </a:avLst>
          </a:prstGeom>
          <a:solidFill>
            <a:srgbClr val="EEB653">
              <a:alpha val="10000"/>
            </a:srgbClr>
          </a:solidFill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180004" y="624840"/>
            <a:ext cx="88130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38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ENTRIES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219450" y="1003935"/>
            <a:ext cx="656034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1125" dirty="0"/>
          </a:p>
        </p:txBody>
      </p:sp>
      <p:sp>
        <p:nvSpPr>
          <p:cNvPr id="66" name="Text 64"/>
          <p:cNvSpPr/>
          <p:nvPr/>
        </p:nvSpPr>
        <p:spPr>
          <a:xfrm>
            <a:off x="3951684" y="1034415"/>
            <a:ext cx="34753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OF 6 OPEN · UNREALIZED </a:t>
            </a:r>
            <a:pPr algn="l" indent="0" marL="0">
              <a:buNone/>
            </a:pPr>
            <a:r>
              <a:rPr lang="en-US" sz="788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+₹1,663 </a:t>
            </a:r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EXPOSURE ₹4,50,578</a:t>
            </a:r>
            <a:endParaRPr lang="en-US" sz="788" dirty="0"/>
          </a:p>
        </p:txBody>
      </p:sp>
      <p:sp>
        <p:nvSpPr>
          <p:cNvPr id="67" name="Text 65"/>
          <p:cNvSpPr/>
          <p:nvPr/>
        </p:nvSpPr>
        <p:spPr>
          <a:xfrm>
            <a:off x="16945213" y="1034415"/>
            <a:ext cx="12665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square-off 15:12 IST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3219450" y="1285875"/>
            <a:ext cx="14916150" cy="1811655"/>
          </a:xfrm>
          <a:prstGeom prst="roundRect">
            <a:avLst>
              <a:gd name="adj" fmla="val 6309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60420" y="1407795"/>
            <a:ext cx="1507323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endParaRPr lang="en-US" sz="713" dirty="0"/>
          </a:p>
        </p:txBody>
      </p:sp>
      <p:sp>
        <p:nvSpPr>
          <p:cNvPr id="70" name="Shape 68"/>
          <p:cNvSpPr/>
          <p:nvPr/>
        </p:nvSpPr>
        <p:spPr>
          <a:xfrm>
            <a:off x="3360420" y="1748790"/>
            <a:ext cx="1463421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3360420" y="1600200"/>
            <a:ext cx="11049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675" dirty="0"/>
          </a:p>
        </p:txBody>
      </p:sp>
      <p:sp>
        <p:nvSpPr>
          <p:cNvPr id="72" name="Text 70"/>
          <p:cNvSpPr/>
          <p:nvPr/>
        </p:nvSpPr>
        <p:spPr>
          <a:xfrm>
            <a:off x="4389120" y="1600200"/>
            <a:ext cx="6858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</a:t>
            </a:r>
            <a:endParaRPr lang="en-US" sz="675" dirty="0"/>
          </a:p>
        </p:txBody>
      </p:sp>
      <p:sp>
        <p:nvSpPr>
          <p:cNvPr id="73" name="Text 71"/>
          <p:cNvSpPr/>
          <p:nvPr/>
        </p:nvSpPr>
        <p:spPr>
          <a:xfrm>
            <a:off x="4922520" y="1600200"/>
            <a:ext cx="5143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</a:t>
            </a:r>
            <a:endParaRPr lang="en-US" sz="675" dirty="0"/>
          </a:p>
        </p:txBody>
      </p:sp>
      <p:sp>
        <p:nvSpPr>
          <p:cNvPr id="74" name="Text 72"/>
          <p:cNvSpPr/>
          <p:nvPr/>
        </p:nvSpPr>
        <p:spPr>
          <a:xfrm>
            <a:off x="5360670" y="1600200"/>
            <a:ext cx="8572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endParaRPr lang="en-US" sz="675" dirty="0"/>
          </a:p>
        </p:txBody>
      </p:sp>
      <p:sp>
        <p:nvSpPr>
          <p:cNvPr id="75" name="Text 73"/>
          <p:cNvSpPr/>
          <p:nvPr/>
        </p:nvSpPr>
        <p:spPr>
          <a:xfrm>
            <a:off x="6141720" y="1600200"/>
            <a:ext cx="8572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LTP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6922770" y="1600200"/>
            <a:ext cx="9525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P&amp;L ₹</a:t>
            </a:r>
            <a:endParaRPr lang="en-US" sz="675" dirty="0"/>
          </a:p>
        </p:txBody>
      </p:sp>
      <p:sp>
        <p:nvSpPr>
          <p:cNvPr id="77" name="Text 75"/>
          <p:cNvSpPr/>
          <p:nvPr/>
        </p:nvSpPr>
        <p:spPr>
          <a:xfrm>
            <a:off x="7799070" y="1600200"/>
            <a:ext cx="5905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675" dirty="0"/>
          </a:p>
        </p:txBody>
      </p:sp>
      <p:sp>
        <p:nvSpPr>
          <p:cNvPr id="78" name="Text 76"/>
          <p:cNvSpPr/>
          <p:nvPr/>
        </p:nvSpPr>
        <p:spPr>
          <a:xfrm>
            <a:off x="8313420" y="1600200"/>
            <a:ext cx="8572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675" dirty="0"/>
          </a:p>
        </p:txBody>
      </p:sp>
      <p:sp>
        <p:nvSpPr>
          <p:cNvPr id="79" name="Text 77"/>
          <p:cNvSpPr/>
          <p:nvPr/>
        </p:nvSpPr>
        <p:spPr>
          <a:xfrm>
            <a:off x="9094470" y="1600200"/>
            <a:ext cx="8572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675" dirty="0"/>
          </a:p>
        </p:txBody>
      </p:sp>
      <p:sp>
        <p:nvSpPr>
          <p:cNvPr id="80" name="Text 78"/>
          <p:cNvSpPr/>
          <p:nvPr/>
        </p:nvSpPr>
        <p:spPr>
          <a:xfrm>
            <a:off x="9875520" y="1600200"/>
            <a:ext cx="9906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</a:t>
            </a:r>
            <a:endParaRPr lang="en-US" sz="675" dirty="0"/>
          </a:p>
        </p:txBody>
      </p:sp>
      <p:sp>
        <p:nvSpPr>
          <p:cNvPr id="81" name="Text 79"/>
          <p:cNvSpPr/>
          <p:nvPr/>
        </p:nvSpPr>
        <p:spPr>
          <a:xfrm>
            <a:off x="10789920" y="1600200"/>
            <a:ext cx="5715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675" dirty="0"/>
          </a:p>
        </p:txBody>
      </p:sp>
      <p:sp>
        <p:nvSpPr>
          <p:cNvPr id="82" name="Text 80"/>
          <p:cNvSpPr/>
          <p:nvPr/>
        </p:nvSpPr>
        <p:spPr>
          <a:xfrm>
            <a:off x="10698099" y="1600200"/>
            <a:ext cx="7296531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675" dirty="0"/>
          </a:p>
        </p:txBody>
      </p:sp>
      <p:sp>
        <p:nvSpPr>
          <p:cNvPr id="83" name="Shape 81"/>
          <p:cNvSpPr/>
          <p:nvPr/>
        </p:nvSpPr>
        <p:spPr>
          <a:xfrm>
            <a:off x="3360420" y="2053590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3360420" y="1832610"/>
            <a:ext cx="11049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</a:t>
            </a:r>
            <a:endParaRPr lang="en-US" sz="975" dirty="0"/>
          </a:p>
        </p:txBody>
      </p:sp>
      <p:sp>
        <p:nvSpPr>
          <p:cNvPr id="85" name="Text 83"/>
          <p:cNvSpPr/>
          <p:nvPr/>
        </p:nvSpPr>
        <p:spPr>
          <a:xfrm>
            <a:off x="4389120" y="185166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4922520" y="1836420"/>
            <a:ext cx="514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360670" y="18364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2,412.30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141720" y="18364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2,430.06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922770" y="1836420"/>
            <a:ext cx="9525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+₹888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799070" y="183642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313420" y="18364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2,398.00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9094470" y="18364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2,441.00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9875520" y="1836420"/>
            <a:ext cx="9906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₹1,21,503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0789920" y="1836420"/>
            <a:ext cx="5715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44m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0698099" y="1836420"/>
            <a:ext cx="7296531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825" dirty="0"/>
          </a:p>
        </p:txBody>
      </p:sp>
      <p:sp>
        <p:nvSpPr>
          <p:cNvPr id="96" name="Shape 94"/>
          <p:cNvSpPr/>
          <p:nvPr/>
        </p:nvSpPr>
        <p:spPr>
          <a:xfrm>
            <a:off x="3360420" y="2358390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3360420" y="2137410"/>
            <a:ext cx="11049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</a:t>
            </a:r>
            <a:endParaRPr lang="en-US" sz="975" dirty="0"/>
          </a:p>
        </p:txBody>
      </p:sp>
      <p:sp>
        <p:nvSpPr>
          <p:cNvPr id="98" name="Text 96"/>
          <p:cNvSpPr/>
          <p:nvPr/>
        </p:nvSpPr>
        <p:spPr>
          <a:xfrm>
            <a:off x="4389120" y="215646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SHORT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4922520" y="2141220"/>
            <a:ext cx="514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5360670" y="21412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3,148.00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141720" y="21412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3,135.56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6922770" y="2141220"/>
            <a:ext cx="9525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+₹373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799070" y="214122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+0.40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8313420" y="21412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3,167.00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9094470" y="21412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3,110.00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9875520" y="2141220"/>
            <a:ext cx="9906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₹94,067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10789920" y="2141220"/>
            <a:ext cx="5715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11m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10698099" y="2141220"/>
            <a:ext cx="7296531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109" name="Shape 107"/>
          <p:cNvSpPr/>
          <p:nvPr/>
        </p:nvSpPr>
        <p:spPr>
          <a:xfrm>
            <a:off x="3360420" y="2663190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3360420" y="2442210"/>
            <a:ext cx="11049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HDFCBANK</a:t>
            </a:r>
            <a:endParaRPr lang="en-US" sz="975" dirty="0"/>
          </a:p>
        </p:txBody>
      </p:sp>
      <p:sp>
        <p:nvSpPr>
          <p:cNvPr id="111" name="Text 109"/>
          <p:cNvSpPr/>
          <p:nvPr/>
        </p:nvSpPr>
        <p:spPr>
          <a:xfrm>
            <a:off x="4389120" y="246126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4922520" y="2446020"/>
            <a:ext cx="514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5360670" y="24460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1,678.25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6141720" y="24460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1,671.94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922770" y="2446020"/>
            <a:ext cx="9525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−₹536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799070" y="244602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−0.38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8313420" y="2442210"/>
            <a:ext cx="85725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⟳ 1,664.90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9094470" y="24460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9875520" y="2446020"/>
            <a:ext cx="9906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₹1,42,115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10789920" y="2446020"/>
            <a:ext cx="5715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100m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10698099" y="2446020"/>
            <a:ext cx="7296531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SuperTrend</a:t>
            </a:r>
            <a:endParaRPr lang="en-US" sz="825" dirty="0"/>
          </a:p>
        </p:txBody>
      </p:sp>
      <p:sp>
        <p:nvSpPr>
          <p:cNvPr id="122" name="Shape 120"/>
          <p:cNvSpPr/>
          <p:nvPr/>
        </p:nvSpPr>
        <p:spPr>
          <a:xfrm>
            <a:off x="3360420" y="2967990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23" name="Text 121"/>
          <p:cNvSpPr/>
          <p:nvPr/>
        </p:nvSpPr>
        <p:spPr>
          <a:xfrm>
            <a:off x="3360420" y="2747010"/>
            <a:ext cx="11049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INFY</a:t>
            </a:r>
            <a:endParaRPr lang="en-US" sz="975" dirty="0"/>
          </a:p>
        </p:txBody>
      </p:sp>
      <p:sp>
        <p:nvSpPr>
          <p:cNvPr id="124" name="Text 122"/>
          <p:cNvSpPr/>
          <p:nvPr/>
        </p:nvSpPr>
        <p:spPr>
          <a:xfrm>
            <a:off x="4389120" y="276606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4922520" y="2750820"/>
            <a:ext cx="514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5360670" y="27508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1,532.60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141720" y="27508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1,548.23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6922770" y="2750820"/>
            <a:ext cx="9525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+₹938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7799070" y="275082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+1.02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8313420" y="27508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1,521.00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9094470" y="2750820"/>
            <a:ext cx="8572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1,555.80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9875520" y="2750820"/>
            <a:ext cx="9906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₹92,894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10789920" y="2750820"/>
            <a:ext cx="5715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2m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10698099" y="2750820"/>
            <a:ext cx="7296531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  <a:endParaRPr lang="en-US" sz="825" dirty="0"/>
          </a:p>
        </p:txBody>
      </p:sp>
      <p:sp>
        <p:nvSpPr>
          <p:cNvPr id="135" name="Shape 133"/>
          <p:cNvSpPr/>
          <p:nvPr/>
        </p:nvSpPr>
        <p:spPr>
          <a:xfrm>
            <a:off x="3219450" y="3211830"/>
            <a:ext cx="14916150" cy="3021330"/>
          </a:xfrm>
          <a:prstGeom prst="roundRect">
            <a:avLst>
              <a:gd name="adj" fmla="val 3783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360420" y="3348990"/>
            <a:ext cx="836176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TODAY</a:t>
            </a:r>
            <a:endParaRPr lang="en-US" sz="713" dirty="0"/>
          </a:p>
        </p:txBody>
      </p:sp>
      <p:sp>
        <p:nvSpPr>
          <p:cNvPr id="137" name="Text 135"/>
          <p:cNvSpPr/>
          <p:nvPr/>
        </p:nvSpPr>
        <p:spPr>
          <a:xfrm>
            <a:off x="4215646" y="3333750"/>
            <a:ext cx="1812608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trades · realized −₹20,540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3360420" y="3689985"/>
            <a:ext cx="1463421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139" name="Text 137"/>
          <p:cNvSpPr/>
          <p:nvPr/>
        </p:nvSpPr>
        <p:spPr>
          <a:xfrm>
            <a:off x="3360420" y="3541395"/>
            <a:ext cx="6858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675" dirty="0"/>
          </a:p>
        </p:txBody>
      </p:sp>
      <p:sp>
        <p:nvSpPr>
          <p:cNvPr id="140" name="Text 138"/>
          <p:cNvSpPr/>
          <p:nvPr/>
        </p:nvSpPr>
        <p:spPr>
          <a:xfrm>
            <a:off x="3970020" y="3541395"/>
            <a:ext cx="11049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675" dirty="0"/>
          </a:p>
        </p:txBody>
      </p:sp>
      <p:sp>
        <p:nvSpPr>
          <p:cNvPr id="141" name="Text 139"/>
          <p:cNvSpPr/>
          <p:nvPr/>
        </p:nvSpPr>
        <p:spPr>
          <a:xfrm>
            <a:off x="4998720" y="3541395"/>
            <a:ext cx="6858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</a:t>
            </a:r>
            <a:endParaRPr lang="en-US" sz="675" dirty="0"/>
          </a:p>
        </p:txBody>
      </p:sp>
      <p:sp>
        <p:nvSpPr>
          <p:cNvPr id="142" name="Text 140"/>
          <p:cNvSpPr/>
          <p:nvPr/>
        </p:nvSpPr>
        <p:spPr>
          <a:xfrm>
            <a:off x="5532120" y="3541395"/>
            <a:ext cx="5143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</a:t>
            </a:r>
            <a:endParaRPr lang="en-US" sz="675" dirty="0"/>
          </a:p>
        </p:txBody>
      </p:sp>
      <p:sp>
        <p:nvSpPr>
          <p:cNvPr id="143" name="Text 141"/>
          <p:cNvSpPr/>
          <p:nvPr/>
        </p:nvSpPr>
        <p:spPr>
          <a:xfrm>
            <a:off x="5884545" y="3541395"/>
            <a:ext cx="1781175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→ EXIT</a:t>
            </a:r>
            <a:endParaRPr lang="en-US" sz="675" dirty="0"/>
          </a:p>
        </p:txBody>
      </p:sp>
      <p:sp>
        <p:nvSpPr>
          <p:cNvPr id="144" name="Text 142"/>
          <p:cNvSpPr/>
          <p:nvPr/>
        </p:nvSpPr>
        <p:spPr>
          <a:xfrm>
            <a:off x="7589520" y="3541395"/>
            <a:ext cx="9906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P&amp;L ₹</a:t>
            </a:r>
            <a:endParaRPr lang="en-US" sz="675" dirty="0"/>
          </a:p>
        </p:txBody>
      </p:sp>
      <p:sp>
        <p:nvSpPr>
          <p:cNvPr id="145" name="Text 143"/>
          <p:cNvSpPr/>
          <p:nvPr/>
        </p:nvSpPr>
        <p:spPr>
          <a:xfrm>
            <a:off x="8542020" y="3541395"/>
            <a:ext cx="11239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REASON</a:t>
            </a:r>
            <a:endParaRPr lang="en-US" sz="675" dirty="0"/>
          </a:p>
        </p:txBody>
      </p:sp>
      <p:sp>
        <p:nvSpPr>
          <p:cNvPr id="146" name="Text 144"/>
          <p:cNvSpPr/>
          <p:nvPr/>
        </p:nvSpPr>
        <p:spPr>
          <a:xfrm>
            <a:off x="8791194" y="3541395"/>
            <a:ext cx="9203436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675" dirty="0"/>
          </a:p>
        </p:txBody>
      </p:sp>
      <p:sp>
        <p:nvSpPr>
          <p:cNvPr id="147" name="Shape 145"/>
          <p:cNvSpPr/>
          <p:nvPr/>
        </p:nvSpPr>
        <p:spPr>
          <a:xfrm>
            <a:off x="3360420" y="396811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48" name="Text 146"/>
          <p:cNvSpPr/>
          <p:nvPr/>
        </p:nvSpPr>
        <p:spPr>
          <a:xfrm>
            <a:off x="3360420" y="3775710"/>
            <a:ext cx="685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12:22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3970020" y="3764280"/>
            <a:ext cx="11049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TATAMOTORS</a:t>
            </a:r>
            <a:endParaRPr lang="en-US" sz="938" dirty="0"/>
          </a:p>
        </p:txBody>
      </p:sp>
      <p:sp>
        <p:nvSpPr>
          <p:cNvPr id="150" name="Text 148"/>
          <p:cNvSpPr/>
          <p:nvPr/>
        </p:nvSpPr>
        <p:spPr>
          <a:xfrm>
            <a:off x="4998720" y="377952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SHORT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5532120" y="376809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863" dirty="0"/>
          </a:p>
        </p:txBody>
      </p:sp>
      <p:sp>
        <p:nvSpPr>
          <p:cNvPr id="152" name="Text 150"/>
          <p:cNvSpPr/>
          <p:nvPr/>
        </p:nvSpPr>
        <p:spPr>
          <a:xfrm>
            <a:off x="5884545" y="376428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1,057.30 → 1,095.30</a:t>
            </a:r>
            <a:endParaRPr lang="en-US" sz="863" dirty="0"/>
          </a:p>
        </p:txBody>
      </p:sp>
      <p:sp>
        <p:nvSpPr>
          <p:cNvPr id="153" name="Text 151"/>
          <p:cNvSpPr/>
          <p:nvPr/>
        </p:nvSpPr>
        <p:spPr>
          <a:xfrm>
            <a:off x="7589520" y="3771900"/>
            <a:ext cx="99060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−₹3,420</a:t>
            </a:r>
            <a:endParaRPr lang="en-US" sz="863" dirty="0"/>
          </a:p>
        </p:txBody>
      </p:sp>
      <p:sp>
        <p:nvSpPr>
          <p:cNvPr id="154" name="Shape 152"/>
          <p:cNvSpPr/>
          <p:nvPr/>
        </p:nvSpPr>
        <p:spPr>
          <a:xfrm>
            <a:off x="8780145" y="3779520"/>
            <a:ext cx="647581" cy="144780"/>
          </a:xfrm>
          <a:prstGeom prst="roundRect">
            <a:avLst>
              <a:gd name="adj" fmla="val 26316"/>
            </a:avLst>
          </a:prstGeom>
          <a:ln w="7620">
            <a:solidFill>
              <a:srgbClr val="EEB653">
                <a:alpha val="85000"/>
              </a:srgbClr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806815" y="3806190"/>
            <a:ext cx="594241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EEB65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TRAIL FLIP</a:t>
            </a:r>
            <a:endParaRPr lang="en-US" sz="638" dirty="0"/>
          </a:p>
        </p:txBody>
      </p:sp>
      <p:sp>
        <p:nvSpPr>
          <p:cNvPr id="156" name="Text 154"/>
          <p:cNvSpPr/>
          <p:nvPr/>
        </p:nvSpPr>
        <p:spPr>
          <a:xfrm>
            <a:off x="8791194" y="3764280"/>
            <a:ext cx="920343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SuperTrend</a:t>
            </a:r>
            <a:endParaRPr lang="en-US" sz="825" dirty="0"/>
          </a:p>
        </p:txBody>
      </p:sp>
      <p:sp>
        <p:nvSpPr>
          <p:cNvPr id="157" name="Shape 155"/>
          <p:cNvSpPr/>
          <p:nvPr/>
        </p:nvSpPr>
        <p:spPr>
          <a:xfrm>
            <a:off x="3360420" y="424624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58" name="Text 156"/>
          <p:cNvSpPr/>
          <p:nvPr/>
        </p:nvSpPr>
        <p:spPr>
          <a:xfrm>
            <a:off x="3360420" y="4053840"/>
            <a:ext cx="685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11:38</a:t>
            </a:r>
            <a:endParaRPr lang="en-US" sz="750" dirty="0"/>
          </a:p>
        </p:txBody>
      </p:sp>
      <p:sp>
        <p:nvSpPr>
          <p:cNvPr id="159" name="Text 157"/>
          <p:cNvSpPr/>
          <p:nvPr/>
        </p:nvSpPr>
        <p:spPr>
          <a:xfrm>
            <a:off x="3970020" y="4042410"/>
            <a:ext cx="11049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HDFCBANK</a:t>
            </a:r>
            <a:endParaRPr lang="en-US" sz="938" dirty="0"/>
          </a:p>
        </p:txBody>
      </p:sp>
      <p:sp>
        <p:nvSpPr>
          <p:cNvPr id="160" name="Text 158"/>
          <p:cNvSpPr/>
          <p:nvPr/>
        </p:nvSpPr>
        <p:spPr>
          <a:xfrm>
            <a:off x="4998720" y="405765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5532120" y="404622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863" dirty="0"/>
          </a:p>
        </p:txBody>
      </p:sp>
      <p:sp>
        <p:nvSpPr>
          <p:cNvPr id="162" name="Text 160"/>
          <p:cNvSpPr/>
          <p:nvPr/>
        </p:nvSpPr>
        <p:spPr>
          <a:xfrm>
            <a:off x="5884545" y="404241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1,691.40 → 1,668.90</a:t>
            </a:r>
            <a:endParaRPr lang="en-US" sz="863" dirty="0"/>
          </a:p>
        </p:txBody>
      </p:sp>
      <p:sp>
        <p:nvSpPr>
          <p:cNvPr id="163" name="Text 161"/>
          <p:cNvSpPr/>
          <p:nvPr/>
        </p:nvSpPr>
        <p:spPr>
          <a:xfrm>
            <a:off x="7589520" y="4050030"/>
            <a:ext cx="99060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−₹1,912</a:t>
            </a:r>
            <a:endParaRPr lang="en-US" sz="863" dirty="0"/>
          </a:p>
        </p:txBody>
      </p:sp>
      <p:sp>
        <p:nvSpPr>
          <p:cNvPr id="164" name="Shape 162"/>
          <p:cNvSpPr/>
          <p:nvPr/>
        </p:nvSpPr>
        <p:spPr>
          <a:xfrm>
            <a:off x="8935521" y="4057650"/>
            <a:ext cx="336828" cy="144780"/>
          </a:xfrm>
          <a:prstGeom prst="roundRect">
            <a:avLst>
              <a:gd name="adj" fmla="val 26316"/>
            </a:avLst>
          </a:prstGeom>
          <a:ln w="7620">
            <a:solidFill>
              <a:srgbClr val="F16F7B">
                <a:alpha val="85000"/>
              </a:srgbClr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962191" y="4084320"/>
            <a:ext cx="28348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F16F7B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638" dirty="0"/>
          </a:p>
        </p:txBody>
      </p:sp>
      <p:sp>
        <p:nvSpPr>
          <p:cNvPr id="166" name="Text 164"/>
          <p:cNvSpPr/>
          <p:nvPr/>
        </p:nvSpPr>
        <p:spPr>
          <a:xfrm>
            <a:off x="8791194" y="4042410"/>
            <a:ext cx="920343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167" name="Shape 165"/>
          <p:cNvSpPr/>
          <p:nvPr/>
        </p:nvSpPr>
        <p:spPr>
          <a:xfrm>
            <a:off x="3360420" y="452437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68" name="Text 166"/>
          <p:cNvSpPr/>
          <p:nvPr/>
        </p:nvSpPr>
        <p:spPr>
          <a:xfrm>
            <a:off x="3360420" y="4331970"/>
            <a:ext cx="685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11:12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3970020" y="4320540"/>
            <a:ext cx="11049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INFY</a:t>
            </a:r>
            <a:endParaRPr lang="en-US" sz="938" dirty="0"/>
          </a:p>
        </p:txBody>
      </p:sp>
      <p:sp>
        <p:nvSpPr>
          <p:cNvPr id="170" name="Text 168"/>
          <p:cNvSpPr/>
          <p:nvPr/>
        </p:nvSpPr>
        <p:spPr>
          <a:xfrm>
            <a:off x="4998720" y="433578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5532120" y="432435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863" dirty="0"/>
          </a:p>
        </p:txBody>
      </p:sp>
      <p:sp>
        <p:nvSpPr>
          <p:cNvPr id="172" name="Text 170"/>
          <p:cNvSpPr/>
          <p:nvPr/>
        </p:nvSpPr>
        <p:spPr>
          <a:xfrm>
            <a:off x="5884545" y="432054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1,538.20 → 1,524.70</a:t>
            </a:r>
            <a:endParaRPr lang="en-US" sz="863" dirty="0"/>
          </a:p>
        </p:txBody>
      </p:sp>
      <p:sp>
        <p:nvSpPr>
          <p:cNvPr id="173" name="Text 171"/>
          <p:cNvSpPr/>
          <p:nvPr/>
        </p:nvSpPr>
        <p:spPr>
          <a:xfrm>
            <a:off x="7589520" y="4328160"/>
            <a:ext cx="99060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−₹810</a:t>
            </a:r>
            <a:endParaRPr lang="en-US" sz="863" dirty="0"/>
          </a:p>
        </p:txBody>
      </p:sp>
      <p:sp>
        <p:nvSpPr>
          <p:cNvPr id="174" name="Shape 172"/>
          <p:cNvSpPr/>
          <p:nvPr/>
        </p:nvSpPr>
        <p:spPr>
          <a:xfrm>
            <a:off x="8935521" y="4335780"/>
            <a:ext cx="336828" cy="144780"/>
          </a:xfrm>
          <a:prstGeom prst="roundRect">
            <a:avLst>
              <a:gd name="adj" fmla="val 26316"/>
            </a:avLst>
          </a:prstGeom>
          <a:ln w="7620">
            <a:solidFill>
              <a:srgbClr val="F16F7B">
                <a:alpha val="85000"/>
              </a:srgbClr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8962191" y="4362450"/>
            <a:ext cx="28348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F16F7B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638" dirty="0"/>
          </a:p>
        </p:txBody>
      </p:sp>
      <p:sp>
        <p:nvSpPr>
          <p:cNvPr id="176" name="Text 174"/>
          <p:cNvSpPr/>
          <p:nvPr/>
        </p:nvSpPr>
        <p:spPr>
          <a:xfrm>
            <a:off x="8791194" y="4320540"/>
            <a:ext cx="920343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825" dirty="0"/>
          </a:p>
        </p:txBody>
      </p:sp>
      <p:sp>
        <p:nvSpPr>
          <p:cNvPr id="177" name="Shape 175"/>
          <p:cNvSpPr/>
          <p:nvPr/>
        </p:nvSpPr>
        <p:spPr>
          <a:xfrm>
            <a:off x="3360420" y="480250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78" name="Text 176"/>
          <p:cNvSpPr/>
          <p:nvPr/>
        </p:nvSpPr>
        <p:spPr>
          <a:xfrm>
            <a:off x="3360420" y="4610100"/>
            <a:ext cx="685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10:41</a:t>
            </a:r>
            <a:endParaRPr lang="en-US" sz="750" dirty="0"/>
          </a:p>
        </p:txBody>
      </p:sp>
      <p:sp>
        <p:nvSpPr>
          <p:cNvPr id="179" name="Text 177"/>
          <p:cNvSpPr/>
          <p:nvPr/>
        </p:nvSpPr>
        <p:spPr>
          <a:xfrm>
            <a:off x="3970020" y="4598670"/>
            <a:ext cx="11049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</a:t>
            </a:r>
            <a:endParaRPr lang="en-US" sz="938" dirty="0"/>
          </a:p>
        </p:txBody>
      </p:sp>
      <p:sp>
        <p:nvSpPr>
          <p:cNvPr id="180" name="Text 178"/>
          <p:cNvSpPr/>
          <p:nvPr/>
        </p:nvSpPr>
        <p:spPr>
          <a:xfrm>
            <a:off x="4998720" y="461391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181" name="Text 179"/>
          <p:cNvSpPr/>
          <p:nvPr/>
        </p:nvSpPr>
        <p:spPr>
          <a:xfrm>
            <a:off x="5532120" y="460248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863" dirty="0"/>
          </a:p>
        </p:txBody>
      </p:sp>
      <p:sp>
        <p:nvSpPr>
          <p:cNvPr id="182" name="Text 180"/>
          <p:cNvSpPr/>
          <p:nvPr/>
        </p:nvSpPr>
        <p:spPr>
          <a:xfrm>
            <a:off x="5884545" y="459867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2,405.60 → 2,396.20</a:t>
            </a:r>
            <a:endParaRPr lang="en-US" sz="863" dirty="0"/>
          </a:p>
        </p:txBody>
      </p:sp>
      <p:sp>
        <p:nvSpPr>
          <p:cNvPr id="183" name="Text 181"/>
          <p:cNvSpPr/>
          <p:nvPr/>
        </p:nvSpPr>
        <p:spPr>
          <a:xfrm>
            <a:off x="7589520" y="4606290"/>
            <a:ext cx="99060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−₹470</a:t>
            </a:r>
            <a:endParaRPr lang="en-US" sz="863" dirty="0"/>
          </a:p>
        </p:txBody>
      </p:sp>
      <p:sp>
        <p:nvSpPr>
          <p:cNvPr id="184" name="Shape 182"/>
          <p:cNvSpPr/>
          <p:nvPr/>
        </p:nvSpPr>
        <p:spPr>
          <a:xfrm>
            <a:off x="8935521" y="4613910"/>
            <a:ext cx="336828" cy="144780"/>
          </a:xfrm>
          <a:prstGeom prst="roundRect">
            <a:avLst>
              <a:gd name="adj" fmla="val 26316"/>
            </a:avLst>
          </a:prstGeom>
          <a:ln w="7620">
            <a:solidFill>
              <a:srgbClr val="F16F7B">
                <a:alpha val="85000"/>
              </a:srgbClr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8962191" y="4640580"/>
            <a:ext cx="28348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F16F7B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638" dirty="0"/>
          </a:p>
        </p:txBody>
      </p:sp>
      <p:sp>
        <p:nvSpPr>
          <p:cNvPr id="186" name="Text 184"/>
          <p:cNvSpPr/>
          <p:nvPr/>
        </p:nvSpPr>
        <p:spPr>
          <a:xfrm>
            <a:off x="8791194" y="4598670"/>
            <a:ext cx="920343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825" dirty="0"/>
          </a:p>
        </p:txBody>
      </p:sp>
      <p:sp>
        <p:nvSpPr>
          <p:cNvPr id="187" name="Shape 185"/>
          <p:cNvSpPr/>
          <p:nvPr/>
        </p:nvSpPr>
        <p:spPr>
          <a:xfrm>
            <a:off x="3360420" y="508063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88" name="Text 186"/>
          <p:cNvSpPr/>
          <p:nvPr/>
        </p:nvSpPr>
        <p:spPr>
          <a:xfrm>
            <a:off x="3360420" y="4888230"/>
            <a:ext cx="685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10:22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3970020" y="4876800"/>
            <a:ext cx="11049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</a:t>
            </a:r>
            <a:endParaRPr lang="en-US" sz="938" dirty="0"/>
          </a:p>
        </p:txBody>
      </p:sp>
      <p:sp>
        <p:nvSpPr>
          <p:cNvPr id="190" name="Text 188"/>
          <p:cNvSpPr/>
          <p:nvPr/>
        </p:nvSpPr>
        <p:spPr>
          <a:xfrm>
            <a:off x="4998720" y="489204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SHORT</a:t>
            </a:r>
            <a:endParaRPr lang="en-US" sz="750" dirty="0"/>
          </a:p>
        </p:txBody>
      </p:sp>
      <p:sp>
        <p:nvSpPr>
          <p:cNvPr id="191" name="Text 189"/>
          <p:cNvSpPr/>
          <p:nvPr/>
        </p:nvSpPr>
        <p:spPr>
          <a:xfrm>
            <a:off x="5532120" y="488061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63" dirty="0"/>
          </a:p>
        </p:txBody>
      </p:sp>
      <p:sp>
        <p:nvSpPr>
          <p:cNvPr id="192" name="Text 190"/>
          <p:cNvSpPr/>
          <p:nvPr/>
        </p:nvSpPr>
        <p:spPr>
          <a:xfrm>
            <a:off x="5884545" y="487680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3,121.00 → 3,156.40</a:t>
            </a:r>
            <a:endParaRPr lang="en-US" sz="863" dirty="0"/>
          </a:p>
        </p:txBody>
      </p:sp>
      <p:sp>
        <p:nvSpPr>
          <p:cNvPr id="193" name="Text 191"/>
          <p:cNvSpPr/>
          <p:nvPr/>
        </p:nvSpPr>
        <p:spPr>
          <a:xfrm>
            <a:off x="7589520" y="4884420"/>
            <a:ext cx="99060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−₹1,062</a:t>
            </a:r>
            <a:endParaRPr lang="en-US" sz="863" dirty="0"/>
          </a:p>
        </p:txBody>
      </p:sp>
      <p:sp>
        <p:nvSpPr>
          <p:cNvPr id="194" name="Shape 192"/>
          <p:cNvSpPr/>
          <p:nvPr/>
        </p:nvSpPr>
        <p:spPr>
          <a:xfrm>
            <a:off x="8935521" y="4892040"/>
            <a:ext cx="336828" cy="144780"/>
          </a:xfrm>
          <a:prstGeom prst="roundRect">
            <a:avLst>
              <a:gd name="adj" fmla="val 26316"/>
            </a:avLst>
          </a:prstGeom>
          <a:ln w="7620">
            <a:solidFill>
              <a:srgbClr val="F16F7B">
                <a:alpha val="85000"/>
              </a:srgbClr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8962191" y="4918710"/>
            <a:ext cx="28348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F16F7B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638" dirty="0"/>
          </a:p>
        </p:txBody>
      </p:sp>
      <p:sp>
        <p:nvSpPr>
          <p:cNvPr id="196" name="Text 194"/>
          <p:cNvSpPr/>
          <p:nvPr/>
        </p:nvSpPr>
        <p:spPr>
          <a:xfrm>
            <a:off x="8791194" y="4876800"/>
            <a:ext cx="920343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197" name="Shape 195"/>
          <p:cNvSpPr/>
          <p:nvPr/>
        </p:nvSpPr>
        <p:spPr>
          <a:xfrm>
            <a:off x="3360420" y="535876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98" name="Text 196"/>
          <p:cNvSpPr/>
          <p:nvPr/>
        </p:nvSpPr>
        <p:spPr>
          <a:xfrm>
            <a:off x="3360420" y="5166360"/>
            <a:ext cx="685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09:52</a:t>
            </a:r>
            <a:endParaRPr lang="en-US" sz="750" dirty="0"/>
          </a:p>
        </p:txBody>
      </p:sp>
      <p:sp>
        <p:nvSpPr>
          <p:cNvPr id="199" name="Text 197"/>
          <p:cNvSpPr/>
          <p:nvPr/>
        </p:nvSpPr>
        <p:spPr>
          <a:xfrm>
            <a:off x="3970020" y="5154930"/>
            <a:ext cx="11049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SBIN</a:t>
            </a:r>
            <a:endParaRPr lang="en-US" sz="938" dirty="0"/>
          </a:p>
        </p:txBody>
      </p:sp>
      <p:sp>
        <p:nvSpPr>
          <p:cNvPr id="200" name="Text 198"/>
          <p:cNvSpPr/>
          <p:nvPr/>
        </p:nvSpPr>
        <p:spPr>
          <a:xfrm>
            <a:off x="4998720" y="517017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201" name="Text 199"/>
          <p:cNvSpPr/>
          <p:nvPr/>
        </p:nvSpPr>
        <p:spPr>
          <a:xfrm>
            <a:off x="5532120" y="515874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863" dirty="0"/>
          </a:p>
        </p:txBody>
      </p:sp>
      <p:sp>
        <p:nvSpPr>
          <p:cNvPr id="202" name="Text 200"/>
          <p:cNvSpPr/>
          <p:nvPr/>
        </p:nvSpPr>
        <p:spPr>
          <a:xfrm>
            <a:off x="5884545" y="515493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798.40 → 813.80</a:t>
            </a:r>
            <a:endParaRPr lang="en-US" sz="863" dirty="0"/>
          </a:p>
        </p:txBody>
      </p:sp>
      <p:sp>
        <p:nvSpPr>
          <p:cNvPr id="203" name="Text 201"/>
          <p:cNvSpPr/>
          <p:nvPr/>
        </p:nvSpPr>
        <p:spPr>
          <a:xfrm>
            <a:off x="7589520" y="5162550"/>
            <a:ext cx="99060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+₹1,848</a:t>
            </a:r>
            <a:endParaRPr lang="en-US" sz="863" dirty="0"/>
          </a:p>
        </p:txBody>
      </p:sp>
      <p:sp>
        <p:nvSpPr>
          <p:cNvPr id="204" name="Shape 202"/>
          <p:cNvSpPr/>
          <p:nvPr/>
        </p:nvSpPr>
        <p:spPr>
          <a:xfrm>
            <a:off x="8883729" y="5170170"/>
            <a:ext cx="440412" cy="144780"/>
          </a:xfrm>
          <a:prstGeom prst="roundRect">
            <a:avLst>
              <a:gd name="adj" fmla="val 26316"/>
            </a:avLst>
          </a:prstGeom>
          <a:ln w="7620">
            <a:solidFill>
              <a:srgbClr val="3ECF8E">
                <a:alpha val="85000"/>
              </a:srgbClr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8910399" y="519684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638" dirty="0"/>
          </a:p>
        </p:txBody>
      </p:sp>
      <p:sp>
        <p:nvSpPr>
          <p:cNvPr id="206" name="Text 204"/>
          <p:cNvSpPr/>
          <p:nvPr/>
        </p:nvSpPr>
        <p:spPr>
          <a:xfrm>
            <a:off x="8791194" y="5154930"/>
            <a:ext cx="920343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  <a:endParaRPr lang="en-US" sz="825" dirty="0"/>
          </a:p>
        </p:txBody>
      </p:sp>
      <p:sp>
        <p:nvSpPr>
          <p:cNvPr id="207" name="Shape 205"/>
          <p:cNvSpPr/>
          <p:nvPr/>
        </p:nvSpPr>
        <p:spPr>
          <a:xfrm>
            <a:off x="3360420" y="563689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08" name="Text 206"/>
          <p:cNvSpPr/>
          <p:nvPr/>
        </p:nvSpPr>
        <p:spPr>
          <a:xfrm>
            <a:off x="3360420" y="5444490"/>
            <a:ext cx="685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09:41</a:t>
            </a:r>
            <a:endParaRPr lang="en-US" sz="750" dirty="0"/>
          </a:p>
        </p:txBody>
      </p:sp>
      <p:sp>
        <p:nvSpPr>
          <p:cNvPr id="209" name="Text 207"/>
          <p:cNvSpPr/>
          <p:nvPr/>
        </p:nvSpPr>
        <p:spPr>
          <a:xfrm>
            <a:off x="3970020" y="5433060"/>
            <a:ext cx="11049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TATAMOTORS</a:t>
            </a:r>
            <a:endParaRPr lang="en-US" sz="938" dirty="0"/>
          </a:p>
        </p:txBody>
      </p:sp>
      <p:sp>
        <p:nvSpPr>
          <p:cNvPr id="210" name="Text 208"/>
          <p:cNvSpPr/>
          <p:nvPr/>
        </p:nvSpPr>
        <p:spPr>
          <a:xfrm>
            <a:off x="4998720" y="544830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211" name="Text 209"/>
          <p:cNvSpPr/>
          <p:nvPr/>
        </p:nvSpPr>
        <p:spPr>
          <a:xfrm>
            <a:off x="5532120" y="543687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863" dirty="0"/>
          </a:p>
        </p:txBody>
      </p:sp>
      <p:sp>
        <p:nvSpPr>
          <p:cNvPr id="212" name="Text 210"/>
          <p:cNvSpPr/>
          <p:nvPr/>
        </p:nvSpPr>
        <p:spPr>
          <a:xfrm>
            <a:off x="5884545" y="543306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1,048.60 → 1,041.20</a:t>
            </a:r>
            <a:endParaRPr lang="en-US" sz="863" dirty="0"/>
          </a:p>
        </p:txBody>
      </p:sp>
      <p:sp>
        <p:nvSpPr>
          <p:cNvPr id="213" name="Text 211"/>
          <p:cNvSpPr/>
          <p:nvPr/>
        </p:nvSpPr>
        <p:spPr>
          <a:xfrm>
            <a:off x="7589520" y="5440680"/>
            <a:ext cx="99060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−₹666</a:t>
            </a:r>
            <a:endParaRPr lang="en-US" sz="863" dirty="0"/>
          </a:p>
        </p:txBody>
      </p:sp>
      <p:sp>
        <p:nvSpPr>
          <p:cNvPr id="214" name="Shape 212"/>
          <p:cNvSpPr/>
          <p:nvPr/>
        </p:nvSpPr>
        <p:spPr>
          <a:xfrm>
            <a:off x="8935521" y="5448300"/>
            <a:ext cx="336828" cy="144780"/>
          </a:xfrm>
          <a:prstGeom prst="roundRect">
            <a:avLst>
              <a:gd name="adj" fmla="val 26316"/>
            </a:avLst>
          </a:prstGeom>
          <a:ln w="7620">
            <a:solidFill>
              <a:srgbClr val="F16F7B">
                <a:alpha val="85000"/>
              </a:srgbClr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8962191" y="5474970"/>
            <a:ext cx="28348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F16F7B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638" dirty="0"/>
          </a:p>
        </p:txBody>
      </p:sp>
      <p:sp>
        <p:nvSpPr>
          <p:cNvPr id="216" name="Text 214"/>
          <p:cNvSpPr/>
          <p:nvPr/>
        </p:nvSpPr>
        <p:spPr>
          <a:xfrm>
            <a:off x="8791194" y="5433060"/>
            <a:ext cx="920343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825" dirty="0"/>
          </a:p>
        </p:txBody>
      </p:sp>
      <p:sp>
        <p:nvSpPr>
          <p:cNvPr id="217" name="Shape 215"/>
          <p:cNvSpPr/>
          <p:nvPr/>
        </p:nvSpPr>
        <p:spPr>
          <a:xfrm>
            <a:off x="3360420" y="591502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18" name="Text 216"/>
          <p:cNvSpPr/>
          <p:nvPr/>
        </p:nvSpPr>
        <p:spPr>
          <a:xfrm>
            <a:off x="3360420" y="5722620"/>
            <a:ext cx="685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09:28</a:t>
            </a:r>
            <a:endParaRPr lang="en-US" sz="750" dirty="0"/>
          </a:p>
        </p:txBody>
      </p:sp>
      <p:sp>
        <p:nvSpPr>
          <p:cNvPr id="219" name="Text 217"/>
          <p:cNvSpPr/>
          <p:nvPr/>
        </p:nvSpPr>
        <p:spPr>
          <a:xfrm>
            <a:off x="3970020" y="5711190"/>
            <a:ext cx="11049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HDFCBANK</a:t>
            </a:r>
            <a:endParaRPr lang="en-US" sz="938" dirty="0"/>
          </a:p>
        </p:txBody>
      </p:sp>
      <p:sp>
        <p:nvSpPr>
          <p:cNvPr id="220" name="Text 218"/>
          <p:cNvSpPr/>
          <p:nvPr/>
        </p:nvSpPr>
        <p:spPr>
          <a:xfrm>
            <a:off x="4998720" y="5726430"/>
            <a:ext cx="6858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LONG</a:t>
            </a:r>
            <a:endParaRPr lang="en-US" sz="750" dirty="0"/>
          </a:p>
        </p:txBody>
      </p:sp>
      <p:sp>
        <p:nvSpPr>
          <p:cNvPr id="221" name="Text 219"/>
          <p:cNvSpPr/>
          <p:nvPr/>
        </p:nvSpPr>
        <p:spPr>
          <a:xfrm>
            <a:off x="5532120" y="571500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863" dirty="0"/>
          </a:p>
        </p:txBody>
      </p:sp>
      <p:sp>
        <p:nvSpPr>
          <p:cNvPr id="222" name="Text 220"/>
          <p:cNvSpPr/>
          <p:nvPr/>
        </p:nvSpPr>
        <p:spPr>
          <a:xfrm>
            <a:off x="5884545" y="571119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1,685.00 → 1,690.60</a:t>
            </a:r>
            <a:endParaRPr lang="en-US" sz="863" dirty="0"/>
          </a:p>
        </p:txBody>
      </p:sp>
      <p:sp>
        <p:nvSpPr>
          <p:cNvPr id="223" name="Text 221"/>
          <p:cNvSpPr/>
          <p:nvPr/>
        </p:nvSpPr>
        <p:spPr>
          <a:xfrm>
            <a:off x="7589520" y="5718810"/>
            <a:ext cx="99060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+₹476</a:t>
            </a:r>
            <a:endParaRPr lang="en-US" sz="863" dirty="0"/>
          </a:p>
        </p:txBody>
      </p:sp>
      <p:sp>
        <p:nvSpPr>
          <p:cNvPr id="224" name="Shape 222"/>
          <p:cNvSpPr/>
          <p:nvPr/>
        </p:nvSpPr>
        <p:spPr>
          <a:xfrm>
            <a:off x="8883729" y="5726430"/>
            <a:ext cx="440412" cy="144780"/>
          </a:xfrm>
          <a:prstGeom prst="roundRect">
            <a:avLst>
              <a:gd name="adj" fmla="val 26316"/>
            </a:avLst>
          </a:prstGeom>
          <a:ln w="7620">
            <a:solidFill>
              <a:srgbClr val="3ECF8E">
                <a:alpha val="85000"/>
              </a:srgbClr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910399" y="575310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638" dirty="0"/>
          </a:p>
        </p:txBody>
      </p:sp>
      <p:sp>
        <p:nvSpPr>
          <p:cNvPr id="226" name="Text 224"/>
          <p:cNvSpPr/>
          <p:nvPr/>
        </p:nvSpPr>
        <p:spPr>
          <a:xfrm>
            <a:off x="8791194" y="5711190"/>
            <a:ext cx="920343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227" name="Text 225"/>
          <p:cNvSpPr/>
          <p:nvPr/>
        </p:nvSpPr>
        <p:spPr>
          <a:xfrm>
            <a:off x="3360420" y="5989320"/>
            <a:ext cx="1507323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earlier trades not shown · full log in Orders</a:t>
            </a:r>
            <a:endParaRPr lang="en-US" sz="750" dirty="0"/>
          </a:p>
        </p:txBody>
      </p:sp>
      <p:sp>
        <p:nvSpPr>
          <p:cNvPr id="228" name="Shape 226"/>
          <p:cNvSpPr/>
          <p:nvPr/>
        </p:nvSpPr>
        <p:spPr>
          <a:xfrm>
            <a:off x="16178928" y="9721960"/>
            <a:ext cx="1937623" cy="488632"/>
          </a:xfrm>
          <a:prstGeom prst="roundRect">
            <a:avLst>
              <a:gd name="adj" fmla="val 21443"/>
            </a:avLst>
          </a:prstGeom>
          <a:solidFill>
            <a:srgbClr val="1B1D27">
              <a:alpha val="29000"/>
            </a:srgbClr>
          </a:solidFill>
          <a:ln/>
          <a:effectLst>
            <a:outerShdw sx="100000" sy="100000" kx="0" ky="0" algn="bl" rotWithShape="0" blurRad="476250" dist="171450" dir="5400000">
              <a:srgbClr val="000000">
                <a:alpha val="14364"/>
              </a:srgbClr>
            </a:outerShdw>
          </a:effectLst>
        </p:spPr>
      </p:sp>
      <p:sp>
        <p:nvSpPr>
          <p:cNvPr id="229" name="Shape 227"/>
          <p:cNvSpPr/>
          <p:nvPr/>
        </p:nvSpPr>
        <p:spPr>
          <a:xfrm>
            <a:off x="16178928" y="10202973"/>
            <a:ext cx="1937623" cy="9525"/>
          </a:xfrm>
          <a:prstGeom prst="rect">
            <a:avLst/>
          </a:prstGeom>
          <a:solidFill>
            <a:srgbClr val="949EDC">
              <a:alpha val="6000"/>
            </a:srgbClr>
          </a:solidFill>
          <a:ln/>
        </p:spPr>
      </p:sp>
      <p:sp>
        <p:nvSpPr>
          <p:cNvPr id="230" name="Shape 228"/>
          <p:cNvSpPr/>
          <p:nvPr/>
        </p:nvSpPr>
        <p:spPr>
          <a:xfrm>
            <a:off x="16178928" y="9721960"/>
            <a:ext cx="1937623" cy="9525"/>
          </a:xfrm>
          <a:prstGeom prst="rect">
            <a:avLst/>
          </a:prstGeom>
          <a:solidFill>
            <a:srgbClr val="949EDC">
              <a:alpha val="6000"/>
            </a:srgbClr>
          </a:solidFill>
          <a:ln/>
        </p:spPr>
      </p:sp>
      <p:sp>
        <p:nvSpPr>
          <p:cNvPr id="231" name="Shape 229"/>
          <p:cNvSpPr/>
          <p:nvPr/>
        </p:nvSpPr>
        <p:spPr>
          <a:xfrm>
            <a:off x="16178928" y="9721960"/>
            <a:ext cx="22860" cy="488632"/>
          </a:xfrm>
          <a:prstGeom prst="rect">
            <a:avLst/>
          </a:prstGeom>
          <a:solidFill>
            <a:srgbClr val="EEB653">
              <a:alpha val="29000"/>
            </a:srgbClr>
          </a:solidFill>
          <a:ln/>
        </p:spPr>
      </p:sp>
      <p:sp>
        <p:nvSpPr>
          <p:cNvPr id="232" name="Shape 230"/>
          <p:cNvSpPr/>
          <p:nvPr/>
        </p:nvSpPr>
        <p:spPr>
          <a:xfrm>
            <a:off x="18108931" y="9721960"/>
            <a:ext cx="9525" cy="488632"/>
          </a:xfrm>
          <a:prstGeom prst="rect">
            <a:avLst/>
          </a:prstGeom>
          <a:solidFill>
            <a:srgbClr val="949EDC">
              <a:alpha val="6000"/>
            </a:srgbClr>
          </a:solidFill>
          <a:ln/>
        </p:spPr>
      </p:sp>
      <p:sp>
        <p:nvSpPr>
          <p:cNvPr id="233" name="Text 231"/>
          <p:cNvSpPr/>
          <p:nvPr/>
        </p:nvSpPr>
        <p:spPr>
          <a:xfrm>
            <a:off x="16335137" y="9834356"/>
            <a:ext cx="180448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41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BLOCKED</a:t>
            </a:r>
            <a:endParaRPr lang="en-US" sz="675" dirty="0"/>
          </a:p>
        </p:txBody>
      </p:sp>
      <p:sp>
        <p:nvSpPr>
          <p:cNvPr id="234" name="Text 232"/>
          <p:cNvSpPr/>
          <p:nvPr/>
        </p:nvSpPr>
        <p:spPr>
          <a:xfrm>
            <a:off x="16335137" y="9944845"/>
            <a:ext cx="180448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 → SELL TCS ×30</a:t>
            </a:r>
            <a:endParaRPr lang="en-US" sz="86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7050" cy="10287000"/>
          </a:xfrm>
          <a:prstGeom prst="rect">
            <a:avLst/>
          </a:prstGeom>
          <a:solidFill>
            <a:srgbClr val="171923"/>
          </a:solidFill>
          <a:ln/>
        </p:spPr>
      </p:sp>
      <p:sp>
        <p:nvSpPr>
          <p:cNvPr id="3" name="Shape 1"/>
          <p:cNvSpPr/>
          <p:nvPr/>
        </p:nvSpPr>
        <p:spPr>
          <a:xfrm>
            <a:off x="3059430" y="0"/>
            <a:ext cx="9525" cy="10287000"/>
          </a:xfrm>
          <a:prstGeom prst="rect">
            <a:avLst/>
          </a:prstGeom>
          <a:solidFill>
            <a:srgbClr val="949ED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5" name="Shape 3"/>
          <p:cNvSpPr/>
          <p:nvPr/>
        </p:nvSpPr>
        <p:spPr>
          <a:xfrm>
            <a:off x="223838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2400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3838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8" name="Text 6"/>
          <p:cNvSpPr/>
          <p:nvPr/>
        </p:nvSpPr>
        <p:spPr>
          <a:xfrm>
            <a:off x="357188" y="152400"/>
            <a:ext cx="834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8968" y="160020"/>
            <a:ext cx="688062" cy="144780"/>
          </a:xfrm>
          <a:prstGeom prst="roundRect">
            <a:avLst>
              <a:gd name="adj" fmla="val 26316"/>
            </a:avLst>
          </a:prstGeom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3738" y="186690"/>
            <a:ext cx="63472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57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MODE</a:t>
            </a:r>
            <a:endParaRPr lang="en-US" sz="638" dirty="0"/>
          </a:p>
        </p:txBody>
      </p:sp>
      <p:sp>
        <p:nvSpPr>
          <p:cNvPr id="11" name="Text 9"/>
          <p:cNvSpPr/>
          <p:nvPr/>
        </p:nvSpPr>
        <p:spPr>
          <a:xfrm>
            <a:off x="152400" y="436245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P&amp;L · 09:15 → NOW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152400" y="571500"/>
            <a:ext cx="3030093" cy="40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75" b="1" spc="-55" kern="0" dirty="0">
                <a:solidFill>
                  <a:srgbClr val="F1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−₹18,877</a:t>
            </a:r>
            <a:endParaRPr lang="en-US" sz="2775" dirty="0"/>
          </a:p>
        </p:txBody>
      </p:sp>
      <p:sp>
        <p:nvSpPr>
          <p:cNvPr id="13" name="Text 11"/>
          <p:cNvSpPr/>
          <p:nvPr/>
        </p:nvSpPr>
        <p:spPr>
          <a:xfrm>
            <a:off x="152400" y="970121"/>
            <a:ext cx="84617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</a:t>
            </a:r>
            <a:pPr algn="l" indent="0" marL="0">
              <a:buNone/>
            </a:pPr>
            <a:r>
              <a:rPr lang="en-US" sz="788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−₹20,540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1046202" y="970121"/>
            <a:ext cx="78617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unrl </a:t>
            </a:r>
            <a:pPr algn="l" indent="0" marL="0">
              <a:buNone/>
            </a:pPr>
            <a:r>
              <a:rPr lang="en-US" sz="788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+₹1,663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152400" y="1223486"/>
            <a:ext cx="2754630" cy="1158240"/>
          </a:xfrm>
          <a:prstGeom prst="roundRect">
            <a:avLst>
              <a:gd name="adj" fmla="val 9868"/>
            </a:avLst>
          </a:prstGeom>
          <a:solidFill>
            <a:srgbClr val="1B1D27"/>
          </a:solidFill>
          <a:ln w="7620">
            <a:solidFill>
              <a:srgbClr val="EEB65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" y="1345406"/>
            <a:ext cx="914400" cy="914400"/>
          </a:xfrm>
          <a:prstGeom prst="ellipse">
            <a:avLst/>
          </a:prstGeom>
          <a:solidFill>
            <a:srgbClr val="EEB653"/>
          </a:solidFill>
          <a:ln/>
        </p:spPr>
      </p:sp>
      <p:sp>
        <p:nvSpPr>
          <p:cNvPr id="17" name="Text 15"/>
          <p:cNvSpPr/>
          <p:nvPr/>
        </p:nvSpPr>
        <p:spPr>
          <a:xfrm>
            <a:off x="531257" y="1634966"/>
            <a:ext cx="49565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89585" y="1878806"/>
            <a:ext cx="57912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36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LIMIT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31595" y="1482923"/>
            <a:ext cx="1588389" cy="185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₹20,540 of ₹25,000 daily limit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1331595" y="1668899"/>
            <a:ext cx="1520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auto-halt at 100%. Exits always allowed.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31595" y="1973699"/>
            <a:ext cx="1343144" cy="148590"/>
          </a:xfrm>
          <a:prstGeom prst="roundRect">
            <a:avLst>
              <a:gd name="adj" fmla="val 25641"/>
            </a:avLst>
          </a:prstGeom>
          <a:solidFill>
            <a:srgbClr val="EEB653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88745" y="2002274"/>
            <a:ext cx="130504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8" kern="0" dirty="0">
                <a:solidFill>
                  <a:srgbClr val="EEB653"/>
                </a:solidFill>
                <a:highlight>
                  <a:srgbClr val="FDF8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ARMED </a:t>
            </a:r>
            <a:pPr algn="l" indent="0" marL="0">
              <a:buNone/>
            </a:pPr>
            <a:r>
              <a:rPr lang="en-US" sz="638" b="1" spc="38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13:15 IST</a:t>
            </a:r>
            <a:endParaRPr lang="en-US" sz="638" dirty="0"/>
          </a:p>
        </p:txBody>
      </p:sp>
      <p:sp>
        <p:nvSpPr>
          <p:cNvPr id="23" name="Shape 21"/>
          <p:cNvSpPr/>
          <p:nvPr/>
        </p:nvSpPr>
        <p:spPr>
          <a:xfrm>
            <a:off x="152400" y="2505551"/>
            <a:ext cx="2754630" cy="994410"/>
          </a:xfrm>
          <a:prstGeom prst="roundRect">
            <a:avLst>
              <a:gd name="adj" fmla="val 11494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370" y="267700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436245" y="2636996"/>
            <a:ext cx="40528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080141" y="2652236"/>
            <a:ext cx="7621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FYERS · 50ms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98120" y="285035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" y="297418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9" name="Text 27"/>
          <p:cNvSpPr/>
          <p:nvPr/>
        </p:nvSpPr>
        <p:spPr>
          <a:xfrm>
            <a:off x="436245" y="2934176"/>
            <a:ext cx="43088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679972" y="2949416"/>
            <a:ext cx="116228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13:42:29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8120" y="314753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" y="3271361"/>
            <a:ext cx="57150" cy="57150"/>
          </a:xfrm>
          <a:prstGeom prst="ellipse">
            <a:avLst/>
          </a:prstGeom>
          <a:solidFill>
            <a:srgbClr val="8F97F9"/>
          </a:solidFill>
          <a:ln/>
        </p:spPr>
      </p:sp>
      <p:sp>
        <p:nvSpPr>
          <p:cNvPr id="33" name="Text 31"/>
          <p:cNvSpPr/>
          <p:nvPr/>
        </p:nvSpPr>
        <p:spPr>
          <a:xfrm>
            <a:off x="436245" y="3231356"/>
            <a:ext cx="41874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622822" y="3246596"/>
            <a:ext cx="121943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· 27 signals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2400" y="8660606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CONTROLS</a:t>
            </a:r>
            <a:endParaRPr lang="en-US" sz="713" dirty="0"/>
          </a:p>
        </p:txBody>
      </p:sp>
      <p:sp>
        <p:nvSpPr>
          <p:cNvPr id="36" name="Shape 34"/>
          <p:cNvSpPr/>
          <p:nvPr/>
        </p:nvSpPr>
        <p:spPr>
          <a:xfrm>
            <a:off x="152400" y="8843486"/>
            <a:ext cx="2754630" cy="419100"/>
          </a:xfrm>
          <a:prstGeom prst="roundRect">
            <a:avLst>
              <a:gd name="adj" fmla="val 25000"/>
            </a:avLst>
          </a:prstGeom>
          <a:solidFill>
            <a:srgbClr val="EEB653">
              <a:alpha val="8000"/>
            </a:srgbClr>
          </a:solidFill>
          <a:ln w="7620">
            <a:solidFill>
              <a:srgbClr val="EEB653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851" y="8860631"/>
            <a:ext cx="2707729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69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⏸ PAUSE ALL TRADING</a:t>
            </a:r>
            <a:endParaRPr lang="en-US" sz="863" dirty="0"/>
          </a:p>
        </p:txBody>
      </p:sp>
      <p:sp>
        <p:nvSpPr>
          <p:cNvPr id="38" name="Shape 36"/>
          <p:cNvSpPr/>
          <p:nvPr/>
        </p:nvSpPr>
        <p:spPr>
          <a:xfrm>
            <a:off x="152400" y="9338786"/>
            <a:ext cx="2754630" cy="476250"/>
          </a:xfrm>
          <a:prstGeom prst="roundRect">
            <a:avLst>
              <a:gd name="adj" fmla="val 22000"/>
            </a:avLst>
          </a:prstGeom>
          <a:solidFill>
            <a:srgbClr val="3A1D22"/>
          </a:solidFill>
          <a:ln w="7620">
            <a:solidFill>
              <a:srgbClr val="F16F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441" y="9453086"/>
            <a:ext cx="9565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SWITCH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042" y="9601676"/>
            <a:ext cx="865346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spc="32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TO CONFIRM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152400" y="9891237"/>
            <a:ext cx="2837269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trades; you supervise. Pause and kill are the only manual levers — there is deliberately no order ticket.</a:t>
            </a:r>
            <a:endParaRPr lang="en-US" sz="713" dirty="0"/>
          </a:p>
        </p:txBody>
      </p:sp>
      <p:sp>
        <p:nvSpPr>
          <p:cNvPr id="42" name="Shape 40"/>
          <p:cNvSpPr/>
          <p:nvPr/>
        </p:nvSpPr>
        <p:spPr>
          <a:xfrm>
            <a:off x="3067050" y="476250"/>
            <a:ext cx="1522095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86125" y="173355"/>
            <a:ext cx="55256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91094" y="173355"/>
            <a:ext cx="59090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34401" y="173355"/>
            <a:ext cx="54006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64969" y="173355"/>
            <a:ext cx="42552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45919" y="436245"/>
            <a:ext cx="387429" cy="19050"/>
          </a:xfrm>
          <a:prstGeom prst="roundRect">
            <a:avLst>
              <a:gd name="adj" fmla="val 50000"/>
            </a:avLst>
          </a:prstGeom>
          <a:solidFill>
            <a:srgbClr val="8F97F9"/>
          </a:solidFill>
          <a:ln/>
        </p:spPr>
      </p:sp>
      <p:sp>
        <p:nvSpPr>
          <p:cNvPr id="48" name="Text 46"/>
          <p:cNvSpPr/>
          <p:nvPr/>
        </p:nvSpPr>
        <p:spPr>
          <a:xfrm>
            <a:off x="6004798" y="173355"/>
            <a:ext cx="29229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49496" y="173355"/>
            <a:ext cx="5399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Digest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41845" y="173355"/>
            <a:ext cx="4892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5330488" y="177165"/>
            <a:ext cx="151779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13:42:29 IST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16824603" y="120015"/>
            <a:ext cx="1310997" cy="236220"/>
          </a:xfrm>
          <a:prstGeom prst="roundRect">
            <a:avLst>
              <a:gd name="adj" fmla="val 50000"/>
            </a:avLst>
          </a:prstGeom>
          <a:solidFill>
            <a:srgbClr val="3ECF8E">
              <a:alpha val="8000"/>
            </a:srgbClr>
          </a:solidFill>
          <a:ln w="7620">
            <a:solidFill>
              <a:srgbClr val="3ECF8E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936998" y="209550"/>
            <a:ext cx="57150" cy="57150"/>
          </a:xfrm>
          <a:prstGeom prst="ellipse">
            <a:avLst/>
          </a:prstGeom>
          <a:solidFill>
            <a:srgbClr val="3ECF8E">
              <a:alpha val="33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7060823" y="184785"/>
            <a:ext cx="73306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 ·</a:t>
            </a:r>
            <a:endParaRPr lang="en-US" sz="713" dirty="0"/>
          </a:p>
        </p:txBody>
      </p:sp>
      <p:sp>
        <p:nvSpPr>
          <p:cNvPr id="55" name="Text 53"/>
          <p:cNvSpPr/>
          <p:nvPr/>
        </p:nvSpPr>
        <p:spPr>
          <a:xfrm>
            <a:off x="17784366" y="184785"/>
            <a:ext cx="31503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50ms</a:t>
            </a:r>
            <a:endParaRPr lang="en-US" sz="713" dirty="0"/>
          </a:p>
        </p:txBody>
      </p:sp>
      <p:sp>
        <p:nvSpPr>
          <p:cNvPr id="56" name="Shape 54"/>
          <p:cNvSpPr/>
          <p:nvPr/>
        </p:nvSpPr>
        <p:spPr>
          <a:xfrm>
            <a:off x="3067050" y="483870"/>
            <a:ext cx="15220950" cy="396240"/>
          </a:xfrm>
          <a:prstGeom prst="rect">
            <a:avLst/>
          </a:prstGeom>
          <a:solidFill>
            <a:srgbClr val="EEB653">
              <a:alpha val="11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067050" y="872490"/>
            <a:ext cx="15220950" cy="9525"/>
          </a:xfrm>
          <a:prstGeom prst="rect">
            <a:avLst/>
          </a:prstGeom>
          <a:solidFill>
            <a:srgbClr val="EEB653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219450" y="575310"/>
            <a:ext cx="205740" cy="205740"/>
          </a:xfrm>
          <a:prstGeom prst="ellipse">
            <a:avLst/>
          </a:prstGeom>
          <a:ln w="7620">
            <a:solidFill>
              <a:srgbClr val="EEB653">
                <a:alpha val="39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88970" y="58293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B653">
                    <a:alpha val="39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29965" y="598170"/>
            <a:ext cx="72509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 at 82% of limit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₹20,540 of ₹25,000 realized. New entries auto-halt at 100%; exits and stop-losses stay active.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5762684" y="65436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949EDC">
              <a:alpha val="1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762684" y="654368"/>
            <a:ext cx="1017270" cy="47625"/>
          </a:xfrm>
          <a:prstGeom prst="rect">
            <a:avLst/>
          </a:prstGeom>
          <a:solidFill>
            <a:srgbClr val="EEB653"/>
          </a:solidFill>
          <a:ln/>
        </p:spPr>
      </p:sp>
      <p:sp>
        <p:nvSpPr>
          <p:cNvPr id="63" name="Shape 61"/>
          <p:cNvSpPr/>
          <p:nvPr/>
        </p:nvSpPr>
        <p:spPr>
          <a:xfrm>
            <a:off x="17105709" y="560070"/>
            <a:ext cx="1029891" cy="236220"/>
          </a:xfrm>
          <a:prstGeom prst="roundRect">
            <a:avLst>
              <a:gd name="adj" fmla="val 28226"/>
            </a:avLst>
          </a:prstGeom>
          <a:solidFill>
            <a:srgbClr val="EEB653">
              <a:alpha val="10000"/>
            </a:srgbClr>
          </a:solidFill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180004" y="624840"/>
            <a:ext cx="88130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38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ENTRIES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219450" y="1038225"/>
            <a:ext cx="67187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log</a:t>
            </a:r>
            <a:endParaRPr lang="en-US" sz="1125" dirty="0"/>
          </a:p>
        </p:txBody>
      </p:sp>
      <p:sp>
        <p:nvSpPr>
          <p:cNvPr id="66" name="Shape 64"/>
          <p:cNvSpPr/>
          <p:nvPr/>
        </p:nvSpPr>
        <p:spPr>
          <a:xfrm>
            <a:off x="3967520" y="1003935"/>
            <a:ext cx="739497" cy="236220"/>
          </a:xfrm>
          <a:prstGeom prst="roundRect">
            <a:avLst>
              <a:gd name="adj" fmla="val 50000"/>
            </a:avLst>
          </a:prstGeom>
          <a:solidFill>
            <a:srgbClr val="8F97F9"/>
          </a:solidFill>
          <a:ln w="7620">
            <a:solidFill>
              <a:srgbClr val="8F97F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51340" y="1068705"/>
            <a:ext cx="57185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38" kern="0" dirty="0">
                <a:solidFill>
                  <a:srgbClr val="15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</a:t>
            </a:r>
            <a:pPr algn="ctr" indent="0" marL="0">
              <a:buNone/>
            </a:pPr>
            <a:r>
              <a:rPr lang="en-US" sz="750" b="1" spc="38" kern="0" dirty="0">
                <a:solidFill>
                  <a:srgbClr val="15161D"/>
                </a:solidFill>
                <a:highlight>
                  <a:srgbClr val="8F97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ctr" indent="0" marL="0">
              <a:buNone/>
            </a:pPr>
            <a:r>
              <a:rPr lang="en-US" sz="750" b="1" spc="38" kern="0" dirty="0">
                <a:solidFill>
                  <a:srgbClr val="15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783217" y="1003935"/>
            <a:ext cx="925235" cy="236220"/>
          </a:xfrm>
          <a:prstGeom prst="roundRect">
            <a:avLst>
              <a:gd name="adj" fmla="val 50000"/>
            </a:avLst>
          </a:prstGeom>
          <a:ln w="7620">
            <a:solidFill>
              <a:srgbClr val="949EDC">
                <a:alpha val="2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67037" y="1068705"/>
            <a:ext cx="757595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38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 · 10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784652" y="1003935"/>
            <a:ext cx="925235" cy="236220"/>
          </a:xfrm>
          <a:prstGeom prst="roundRect">
            <a:avLst>
              <a:gd name="adj" fmla="val 50000"/>
            </a:avLst>
          </a:prstGeom>
          <a:ln w="7620">
            <a:solidFill>
              <a:srgbClr val="949EDC">
                <a:alpha val="2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68472" y="1068705"/>
            <a:ext cx="757595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38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 · 4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5518131" y="1057275"/>
            <a:ext cx="287921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 the risk gate rejected stays on the record</a:t>
            </a:r>
            <a:endParaRPr lang="en-US" sz="788" dirty="0"/>
          </a:p>
        </p:txBody>
      </p:sp>
      <p:sp>
        <p:nvSpPr>
          <p:cNvPr id="73" name="Shape 71"/>
          <p:cNvSpPr/>
          <p:nvPr/>
        </p:nvSpPr>
        <p:spPr>
          <a:xfrm>
            <a:off x="3219450" y="1354455"/>
            <a:ext cx="14916150" cy="4549140"/>
          </a:xfrm>
          <a:prstGeom prst="roundRect">
            <a:avLst>
              <a:gd name="adj" fmla="val 2513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60420" y="1682115"/>
            <a:ext cx="1463421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3360420" y="1514475"/>
            <a:ext cx="8001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4084320" y="1514475"/>
            <a:ext cx="8953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675" dirty="0"/>
          </a:p>
        </p:txBody>
      </p:sp>
      <p:sp>
        <p:nvSpPr>
          <p:cNvPr id="77" name="Text 75"/>
          <p:cNvSpPr/>
          <p:nvPr/>
        </p:nvSpPr>
        <p:spPr>
          <a:xfrm>
            <a:off x="4903470" y="1514475"/>
            <a:ext cx="1571625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675" dirty="0"/>
          </a:p>
        </p:txBody>
      </p:sp>
      <p:sp>
        <p:nvSpPr>
          <p:cNvPr id="78" name="Text 76"/>
          <p:cNvSpPr/>
          <p:nvPr/>
        </p:nvSpPr>
        <p:spPr>
          <a:xfrm>
            <a:off x="6332220" y="1514475"/>
            <a:ext cx="11239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675" dirty="0"/>
          </a:p>
        </p:txBody>
      </p:sp>
      <p:sp>
        <p:nvSpPr>
          <p:cNvPr id="79" name="Text 77"/>
          <p:cNvSpPr/>
          <p:nvPr/>
        </p:nvSpPr>
        <p:spPr>
          <a:xfrm>
            <a:off x="7379970" y="1514475"/>
            <a:ext cx="6096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</a:t>
            </a:r>
            <a:endParaRPr lang="en-US" sz="675" dirty="0"/>
          </a:p>
        </p:txBody>
      </p:sp>
      <p:sp>
        <p:nvSpPr>
          <p:cNvPr id="80" name="Text 78"/>
          <p:cNvSpPr/>
          <p:nvPr/>
        </p:nvSpPr>
        <p:spPr>
          <a:xfrm>
            <a:off x="7837170" y="1514475"/>
            <a:ext cx="51435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</a:t>
            </a:r>
            <a:endParaRPr lang="en-US" sz="675" dirty="0"/>
          </a:p>
        </p:txBody>
      </p:sp>
      <p:sp>
        <p:nvSpPr>
          <p:cNvPr id="81" name="Text 79"/>
          <p:cNvSpPr/>
          <p:nvPr/>
        </p:nvSpPr>
        <p:spPr>
          <a:xfrm>
            <a:off x="8275320" y="1514475"/>
            <a:ext cx="9525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675" dirty="0"/>
          </a:p>
        </p:txBody>
      </p:sp>
      <p:sp>
        <p:nvSpPr>
          <p:cNvPr id="82" name="Text 80"/>
          <p:cNvSpPr/>
          <p:nvPr/>
        </p:nvSpPr>
        <p:spPr>
          <a:xfrm>
            <a:off x="9189720" y="1514475"/>
            <a:ext cx="102870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675" dirty="0"/>
          </a:p>
        </p:txBody>
      </p:sp>
      <p:sp>
        <p:nvSpPr>
          <p:cNvPr id="83" name="Text 81"/>
          <p:cNvSpPr/>
          <p:nvPr/>
        </p:nvSpPr>
        <p:spPr>
          <a:xfrm>
            <a:off x="10313670" y="1514475"/>
            <a:ext cx="8462391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5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</a:t>
            </a:r>
            <a:endParaRPr lang="en-US" sz="675" dirty="0"/>
          </a:p>
        </p:txBody>
      </p:sp>
      <p:sp>
        <p:nvSpPr>
          <p:cNvPr id="84" name="Shape 82"/>
          <p:cNvSpPr/>
          <p:nvPr/>
        </p:nvSpPr>
        <p:spPr>
          <a:xfrm>
            <a:off x="3360420" y="1689735"/>
            <a:ext cx="14634210" cy="278130"/>
          </a:xfrm>
          <a:prstGeom prst="roundRect">
            <a:avLst>
              <a:gd name="adj" fmla="val 20548"/>
            </a:avLst>
          </a:prstGeom>
          <a:solidFill>
            <a:srgbClr val="EEB653">
              <a:alpha val="6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3360420" y="196024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3360420" y="176784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13:42:29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4084320" y="176784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SIG-1102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903470" y="175641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89" name="Text 87"/>
          <p:cNvSpPr/>
          <p:nvPr/>
        </p:nvSpPr>
        <p:spPr>
          <a:xfrm>
            <a:off x="6332220" y="175641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</a:t>
            </a:r>
            <a:endParaRPr lang="en-US" sz="938" dirty="0"/>
          </a:p>
        </p:txBody>
      </p:sp>
      <p:sp>
        <p:nvSpPr>
          <p:cNvPr id="90" name="Text 88"/>
          <p:cNvSpPr/>
          <p:nvPr/>
        </p:nvSpPr>
        <p:spPr>
          <a:xfrm>
            <a:off x="7379970" y="177165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837170" y="176022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63" dirty="0"/>
          </a:p>
        </p:txBody>
      </p:sp>
      <p:sp>
        <p:nvSpPr>
          <p:cNvPr id="92" name="Text 90"/>
          <p:cNvSpPr/>
          <p:nvPr/>
        </p:nvSpPr>
        <p:spPr>
          <a:xfrm>
            <a:off x="8275320" y="176022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63" dirty="0"/>
          </a:p>
        </p:txBody>
      </p:sp>
      <p:sp>
        <p:nvSpPr>
          <p:cNvPr id="93" name="Shape 91"/>
          <p:cNvSpPr/>
          <p:nvPr/>
        </p:nvSpPr>
        <p:spPr>
          <a:xfrm>
            <a:off x="9456063" y="1779270"/>
            <a:ext cx="496014" cy="129540"/>
          </a:xfrm>
          <a:prstGeom prst="roundRect">
            <a:avLst>
              <a:gd name="adj" fmla="val 29412"/>
            </a:avLst>
          </a:prstGeom>
          <a:solidFill>
            <a:srgbClr val="EEB653"/>
          </a:solidFill>
          <a:ln/>
        </p:spPr>
      </p:sp>
      <p:sp>
        <p:nvSpPr>
          <p:cNvPr id="94" name="Text 92"/>
          <p:cNvSpPr/>
          <p:nvPr/>
        </p:nvSpPr>
        <p:spPr>
          <a:xfrm>
            <a:off x="9484638" y="1798320"/>
            <a:ext cx="43886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15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638" dirty="0"/>
          </a:p>
        </p:txBody>
      </p:sp>
      <p:sp>
        <p:nvSpPr>
          <p:cNvPr id="95" name="Text 93"/>
          <p:cNvSpPr/>
          <p:nvPr/>
        </p:nvSpPr>
        <p:spPr>
          <a:xfrm>
            <a:off x="10313670" y="175998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gate · Duplicate — TCS position already open</a:t>
            </a:r>
            <a:endParaRPr lang="en-US" sz="788" dirty="0"/>
          </a:p>
        </p:txBody>
      </p:sp>
      <p:sp>
        <p:nvSpPr>
          <p:cNvPr id="96" name="Shape 94"/>
          <p:cNvSpPr/>
          <p:nvPr/>
        </p:nvSpPr>
        <p:spPr>
          <a:xfrm>
            <a:off x="3360420" y="1967865"/>
            <a:ext cx="14634210" cy="278130"/>
          </a:xfrm>
          <a:prstGeom prst="roundRect">
            <a:avLst>
              <a:gd name="adj" fmla="val 20548"/>
            </a:avLst>
          </a:prstGeom>
          <a:solidFill>
            <a:srgbClr val="EEB653">
              <a:alpha val="6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3360420" y="223837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3360420" y="204597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13:41:48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4084320" y="204597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SIG-1088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903470" y="203454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101" name="Text 99"/>
          <p:cNvSpPr/>
          <p:nvPr/>
        </p:nvSpPr>
        <p:spPr>
          <a:xfrm>
            <a:off x="6332220" y="203454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</a:t>
            </a:r>
            <a:endParaRPr lang="en-US" sz="938" dirty="0"/>
          </a:p>
        </p:txBody>
      </p:sp>
      <p:sp>
        <p:nvSpPr>
          <p:cNvPr id="102" name="Text 100"/>
          <p:cNvSpPr/>
          <p:nvPr/>
        </p:nvSpPr>
        <p:spPr>
          <a:xfrm>
            <a:off x="7379970" y="204978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7837170" y="203835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63" dirty="0"/>
          </a:p>
        </p:txBody>
      </p:sp>
      <p:sp>
        <p:nvSpPr>
          <p:cNvPr id="104" name="Text 102"/>
          <p:cNvSpPr/>
          <p:nvPr/>
        </p:nvSpPr>
        <p:spPr>
          <a:xfrm>
            <a:off x="8275320" y="203835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63" dirty="0"/>
          </a:p>
        </p:txBody>
      </p:sp>
      <p:sp>
        <p:nvSpPr>
          <p:cNvPr id="105" name="Shape 103"/>
          <p:cNvSpPr/>
          <p:nvPr/>
        </p:nvSpPr>
        <p:spPr>
          <a:xfrm>
            <a:off x="9456063" y="2057400"/>
            <a:ext cx="496014" cy="129540"/>
          </a:xfrm>
          <a:prstGeom prst="roundRect">
            <a:avLst>
              <a:gd name="adj" fmla="val 29412"/>
            </a:avLst>
          </a:prstGeom>
          <a:solidFill>
            <a:srgbClr val="EEB653"/>
          </a:solidFill>
          <a:ln/>
        </p:spPr>
      </p:sp>
      <p:sp>
        <p:nvSpPr>
          <p:cNvPr id="106" name="Text 104"/>
          <p:cNvSpPr/>
          <p:nvPr/>
        </p:nvSpPr>
        <p:spPr>
          <a:xfrm>
            <a:off x="9484638" y="2076450"/>
            <a:ext cx="43886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15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638" dirty="0"/>
          </a:p>
        </p:txBody>
      </p:sp>
      <p:sp>
        <p:nvSpPr>
          <p:cNvPr id="107" name="Text 105"/>
          <p:cNvSpPr/>
          <p:nvPr/>
        </p:nvSpPr>
        <p:spPr>
          <a:xfrm>
            <a:off x="10313670" y="203811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gate · duplicate — TCS position already open</a:t>
            </a:r>
            <a:endParaRPr lang="en-US" sz="788" dirty="0"/>
          </a:p>
        </p:txBody>
      </p:sp>
      <p:sp>
        <p:nvSpPr>
          <p:cNvPr id="108" name="Shape 106"/>
          <p:cNvSpPr/>
          <p:nvPr/>
        </p:nvSpPr>
        <p:spPr>
          <a:xfrm>
            <a:off x="3360420" y="2245995"/>
            <a:ext cx="14634210" cy="278130"/>
          </a:xfrm>
          <a:prstGeom prst="roundRect">
            <a:avLst>
              <a:gd name="adj" fmla="val 20548"/>
            </a:avLst>
          </a:prstGeom>
          <a:solidFill>
            <a:srgbClr val="EEB653">
              <a:alpha val="6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3360420" y="251650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3360420" y="232410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13:36:20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4084320" y="232410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SIG-1085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4903470" y="231267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113" name="Text 111"/>
          <p:cNvSpPr/>
          <p:nvPr/>
        </p:nvSpPr>
        <p:spPr>
          <a:xfrm>
            <a:off x="6332220" y="231267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TATAMOTORS</a:t>
            </a:r>
            <a:endParaRPr lang="en-US" sz="938" dirty="0"/>
          </a:p>
        </p:txBody>
      </p:sp>
      <p:sp>
        <p:nvSpPr>
          <p:cNvPr id="114" name="Text 112"/>
          <p:cNvSpPr/>
          <p:nvPr/>
        </p:nvSpPr>
        <p:spPr>
          <a:xfrm>
            <a:off x="7379970" y="232791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7837170" y="231648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863" dirty="0"/>
          </a:p>
        </p:txBody>
      </p:sp>
      <p:sp>
        <p:nvSpPr>
          <p:cNvPr id="116" name="Text 114"/>
          <p:cNvSpPr/>
          <p:nvPr/>
        </p:nvSpPr>
        <p:spPr>
          <a:xfrm>
            <a:off x="8275320" y="231648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63" dirty="0"/>
          </a:p>
        </p:txBody>
      </p:sp>
      <p:sp>
        <p:nvSpPr>
          <p:cNvPr id="117" name="Shape 115"/>
          <p:cNvSpPr/>
          <p:nvPr/>
        </p:nvSpPr>
        <p:spPr>
          <a:xfrm>
            <a:off x="9456063" y="2335530"/>
            <a:ext cx="496014" cy="129540"/>
          </a:xfrm>
          <a:prstGeom prst="roundRect">
            <a:avLst>
              <a:gd name="adj" fmla="val 29412"/>
            </a:avLst>
          </a:prstGeom>
          <a:solidFill>
            <a:srgbClr val="EEB653"/>
          </a:solidFill>
          <a:ln/>
        </p:spPr>
      </p:sp>
      <p:sp>
        <p:nvSpPr>
          <p:cNvPr id="118" name="Text 116"/>
          <p:cNvSpPr/>
          <p:nvPr/>
        </p:nvSpPr>
        <p:spPr>
          <a:xfrm>
            <a:off x="9484638" y="2354580"/>
            <a:ext cx="43886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15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638" dirty="0"/>
          </a:p>
        </p:txBody>
      </p:sp>
      <p:sp>
        <p:nvSpPr>
          <p:cNvPr id="119" name="Text 117"/>
          <p:cNvSpPr/>
          <p:nvPr/>
        </p:nvSpPr>
        <p:spPr>
          <a:xfrm>
            <a:off x="10313670" y="231624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gate · exposure cap ₹6,00,000 would be exceeded</a:t>
            </a:r>
            <a:endParaRPr lang="en-US" sz="788" dirty="0"/>
          </a:p>
        </p:txBody>
      </p:sp>
      <p:sp>
        <p:nvSpPr>
          <p:cNvPr id="120" name="Shape 118"/>
          <p:cNvSpPr/>
          <p:nvPr/>
        </p:nvSpPr>
        <p:spPr>
          <a:xfrm>
            <a:off x="3360420" y="279463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21" name="Text 119"/>
          <p:cNvSpPr/>
          <p:nvPr/>
        </p:nvSpPr>
        <p:spPr>
          <a:xfrm>
            <a:off x="3360420" y="260223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13:40:03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4084320" y="260223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ORD-1087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4903470" y="259080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  <a:endParaRPr lang="en-US" sz="825" dirty="0"/>
          </a:p>
        </p:txBody>
      </p:sp>
      <p:sp>
        <p:nvSpPr>
          <p:cNvPr id="124" name="Text 122"/>
          <p:cNvSpPr/>
          <p:nvPr/>
        </p:nvSpPr>
        <p:spPr>
          <a:xfrm>
            <a:off x="6332220" y="259080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INFY</a:t>
            </a:r>
            <a:endParaRPr lang="en-US" sz="938" dirty="0"/>
          </a:p>
        </p:txBody>
      </p:sp>
      <p:sp>
        <p:nvSpPr>
          <p:cNvPr id="125" name="Text 123"/>
          <p:cNvSpPr/>
          <p:nvPr/>
        </p:nvSpPr>
        <p:spPr>
          <a:xfrm>
            <a:off x="7379970" y="260604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7837170" y="259461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863" dirty="0"/>
          </a:p>
        </p:txBody>
      </p:sp>
      <p:sp>
        <p:nvSpPr>
          <p:cNvPr id="127" name="Text 125"/>
          <p:cNvSpPr/>
          <p:nvPr/>
        </p:nvSpPr>
        <p:spPr>
          <a:xfrm>
            <a:off x="8275320" y="259461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1,532.60</a:t>
            </a:r>
            <a:endParaRPr lang="en-US" sz="863" dirty="0"/>
          </a:p>
        </p:txBody>
      </p:sp>
      <p:sp>
        <p:nvSpPr>
          <p:cNvPr id="128" name="Shape 126"/>
          <p:cNvSpPr/>
          <p:nvPr/>
        </p:nvSpPr>
        <p:spPr>
          <a:xfrm>
            <a:off x="9481900" y="2613660"/>
            <a:ext cx="444222" cy="129540"/>
          </a:xfrm>
          <a:prstGeom prst="roundRect">
            <a:avLst>
              <a:gd name="adj" fmla="val 29412"/>
            </a:avLst>
          </a:prstGeom>
          <a:solidFill>
            <a:srgbClr val="3ECF8E">
              <a:alpha val="12000"/>
            </a:srgbClr>
          </a:solidFill>
          <a:ln/>
        </p:spPr>
      </p:sp>
      <p:sp>
        <p:nvSpPr>
          <p:cNvPr id="129" name="Text 127"/>
          <p:cNvSpPr/>
          <p:nvPr/>
        </p:nvSpPr>
        <p:spPr>
          <a:xfrm>
            <a:off x="9510475" y="263271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endParaRPr lang="en-US" sz="638" dirty="0"/>
          </a:p>
        </p:txBody>
      </p:sp>
      <p:sp>
        <p:nvSpPr>
          <p:cNvPr id="130" name="Text 128"/>
          <p:cNvSpPr/>
          <p:nvPr/>
        </p:nvSpPr>
        <p:spPr>
          <a:xfrm>
            <a:off x="10313670" y="259437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· slip +0.35</a:t>
            </a:r>
            <a:endParaRPr lang="en-US" sz="788" dirty="0"/>
          </a:p>
        </p:txBody>
      </p:sp>
      <p:sp>
        <p:nvSpPr>
          <p:cNvPr id="131" name="Shape 129"/>
          <p:cNvSpPr/>
          <p:nvPr/>
        </p:nvSpPr>
        <p:spPr>
          <a:xfrm>
            <a:off x="3360420" y="307276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32" name="Text 130"/>
          <p:cNvSpPr/>
          <p:nvPr/>
        </p:nvSpPr>
        <p:spPr>
          <a:xfrm>
            <a:off x="3360420" y="288036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13:31:04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4084320" y="288036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ORD-1082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4903470" y="286893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135" name="Text 133"/>
          <p:cNvSpPr/>
          <p:nvPr/>
        </p:nvSpPr>
        <p:spPr>
          <a:xfrm>
            <a:off x="6332220" y="286893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</a:t>
            </a:r>
            <a:endParaRPr lang="en-US" sz="938" dirty="0"/>
          </a:p>
        </p:txBody>
      </p:sp>
      <p:sp>
        <p:nvSpPr>
          <p:cNvPr id="136" name="Text 134"/>
          <p:cNvSpPr/>
          <p:nvPr/>
        </p:nvSpPr>
        <p:spPr>
          <a:xfrm>
            <a:off x="7379970" y="288417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7837170" y="287274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63" dirty="0"/>
          </a:p>
        </p:txBody>
      </p:sp>
      <p:sp>
        <p:nvSpPr>
          <p:cNvPr id="138" name="Text 136"/>
          <p:cNvSpPr/>
          <p:nvPr/>
        </p:nvSpPr>
        <p:spPr>
          <a:xfrm>
            <a:off x="8275320" y="287274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3,148.00</a:t>
            </a:r>
            <a:endParaRPr lang="en-US" sz="863" dirty="0"/>
          </a:p>
        </p:txBody>
      </p:sp>
      <p:sp>
        <p:nvSpPr>
          <p:cNvPr id="139" name="Shape 137"/>
          <p:cNvSpPr/>
          <p:nvPr/>
        </p:nvSpPr>
        <p:spPr>
          <a:xfrm>
            <a:off x="9481900" y="2891790"/>
            <a:ext cx="444222" cy="129540"/>
          </a:xfrm>
          <a:prstGeom prst="roundRect">
            <a:avLst>
              <a:gd name="adj" fmla="val 29412"/>
            </a:avLst>
          </a:prstGeom>
          <a:solidFill>
            <a:srgbClr val="3ECF8E">
              <a:alpha val="12000"/>
            </a:srgbClr>
          </a:solidFill>
          <a:ln/>
        </p:spPr>
      </p:sp>
      <p:sp>
        <p:nvSpPr>
          <p:cNvPr id="140" name="Text 138"/>
          <p:cNvSpPr/>
          <p:nvPr/>
        </p:nvSpPr>
        <p:spPr>
          <a:xfrm>
            <a:off x="9510475" y="291084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endParaRPr lang="en-US" sz="638" dirty="0"/>
          </a:p>
        </p:txBody>
      </p:sp>
      <p:sp>
        <p:nvSpPr>
          <p:cNvPr id="141" name="Text 139"/>
          <p:cNvSpPr/>
          <p:nvPr/>
        </p:nvSpPr>
        <p:spPr>
          <a:xfrm>
            <a:off x="10313670" y="287250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788" dirty="0"/>
          </a:p>
        </p:txBody>
      </p:sp>
      <p:sp>
        <p:nvSpPr>
          <p:cNvPr id="142" name="Shape 140"/>
          <p:cNvSpPr/>
          <p:nvPr/>
        </p:nvSpPr>
        <p:spPr>
          <a:xfrm>
            <a:off x="3360420" y="335089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43" name="Text 141"/>
          <p:cNvSpPr/>
          <p:nvPr/>
        </p:nvSpPr>
        <p:spPr>
          <a:xfrm>
            <a:off x="3360420" y="315849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12:58:41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4084320" y="315849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ORD-1074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4903470" y="314706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825" dirty="0"/>
          </a:p>
        </p:txBody>
      </p:sp>
      <p:sp>
        <p:nvSpPr>
          <p:cNvPr id="146" name="Text 144"/>
          <p:cNvSpPr/>
          <p:nvPr/>
        </p:nvSpPr>
        <p:spPr>
          <a:xfrm>
            <a:off x="6332220" y="314706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</a:t>
            </a:r>
            <a:endParaRPr lang="en-US" sz="938" dirty="0"/>
          </a:p>
        </p:txBody>
      </p:sp>
      <p:sp>
        <p:nvSpPr>
          <p:cNvPr id="147" name="Text 145"/>
          <p:cNvSpPr/>
          <p:nvPr/>
        </p:nvSpPr>
        <p:spPr>
          <a:xfrm>
            <a:off x="7379970" y="316230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7837170" y="315087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863" dirty="0"/>
          </a:p>
        </p:txBody>
      </p:sp>
      <p:sp>
        <p:nvSpPr>
          <p:cNvPr id="149" name="Text 147"/>
          <p:cNvSpPr/>
          <p:nvPr/>
        </p:nvSpPr>
        <p:spPr>
          <a:xfrm>
            <a:off x="8275320" y="315087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2,412.30</a:t>
            </a:r>
            <a:endParaRPr lang="en-US" sz="863" dirty="0"/>
          </a:p>
        </p:txBody>
      </p:sp>
      <p:sp>
        <p:nvSpPr>
          <p:cNvPr id="150" name="Shape 148"/>
          <p:cNvSpPr/>
          <p:nvPr/>
        </p:nvSpPr>
        <p:spPr>
          <a:xfrm>
            <a:off x="9481900" y="3169920"/>
            <a:ext cx="444222" cy="129540"/>
          </a:xfrm>
          <a:prstGeom prst="roundRect">
            <a:avLst>
              <a:gd name="adj" fmla="val 29412"/>
            </a:avLst>
          </a:prstGeom>
          <a:solidFill>
            <a:srgbClr val="3ECF8E">
              <a:alpha val="12000"/>
            </a:srgbClr>
          </a:solidFill>
          <a:ln/>
        </p:spPr>
      </p:sp>
      <p:sp>
        <p:nvSpPr>
          <p:cNvPr id="151" name="Text 149"/>
          <p:cNvSpPr/>
          <p:nvPr/>
        </p:nvSpPr>
        <p:spPr>
          <a:xfrm>
            <a:off x="9510475" y="318897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endParaRPr lang="en-US" sz="638" dirty="0"/>
          </a:p>
        </p:txBody>
      </p:sp>
      <p:sp>
        <p:nvSpPr>
          <p:cNvPr id="152" name="Text 150"/>
          <p:cNvSpPr/>
          <p:nvPr/>
        </p:nvSpPr>
        <p:spPr>
          <a:xfrm>
            <a:off x="10313670" y="315063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788" dirty="0"/>
          </a:p>
        </p:txBody>
      </p:sp>
      <p:sp>
        <p:nvSpPr>
          <p:cNvPr id="153" name="Shape 151"/>
          <p:cNvSpPr/>
          <p:nvPr/>
        </p:nvSpPr>
        <p:spPr>
          <a:xfrm>
            <a:off x="3360420" y="362902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54" name="Text 152"/>
          <p:cNvSpPr/>
          <p:nvPr/>
        </p:nvSpPr>
        <p:spPr>
          <a:xfrm>
            <a:off x="3360420" y="343662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12:22:40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4084320" y="343662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ORD-1069</a:t>
            </a:r>
            <a:endParaRPr lang="en-US" sz="750" dirty="0"/>
          </a:p>
        </p:txBody>
      </p:sp>
      <p:sp>
        <p:nvSpPr>
          <p:cNvPr id="156" name="Text 154"/>
          <p:cNvSpPr/>
          <p:nvPr/>
        </p:nvSpPr>
        <p:spPr>
          <a:xfrm>
            <a:off x="4903470" y="342519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SuperTrend</a:t>
            </a:r>
            <a:endParaRPr lang="en-US" sz="825" dirty="0"/>
          </a:p>
        </p:txBody>
      </p:sp>
      <p:sp>
        <p:nvSpPr>
          <p:cNvPr id="157" name="Text 155"/>
          <p:cNvSpPr/>
          <p:nvPr/>
        </p:nvSpPr>
        <p:spPr>
          <a:xfrm>
            <a:off x="6332220" y="342519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TATAMOTORS</a:t>
            </a:r>
            <a:endParaRPr lang="en-US" sz="938" dirty="0"/>
          </a:p>
        </p:txBody>
      </p:sp>
      <p:sp>
        <p:nvSpPr>
          <p:cNvPr id="158" name="Text 156"/>
          <p:cNvSpPr/>
          <p:nvPr/>
        </p:nvSpPr>
        <p:spPr>
          <a:xfrm>
            <a:off x="7379970" y="344043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</a:t>
            </a:r>
            <a:endParaRPr lang="en-US" sz="750" dirty="0"/>
          </a:p>
        </p:txBody>
      </p:sp>
      <p:sp>
        <p:nvSpPr>
          <p:cNvPr id="159" name="Text 157"/>
          <p:cNvSpPr/>
          <p:nvPr/>
        </p:nvSpPr>
        <p:spPr>
          <a:xfrm>
            <a:off x="7837170" y="342900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863" dirty="0"/>
          </a:p>
        </p:txBody>
      </p:sp>
      <p:sp>
        <p:nvSpPr>
          <p:cNvPr id="160" name="Text 158"/>
          <p:cNvSpPr/>
          <p:nvPr/>
        </p:nvSpPr>
        <p:spPr>
          <a:xfrm>
            <a:off x="8275320" y="342900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1,095.30</a:t>
            </a:r>
            <a:endParaRPr lang="en-US" sz="863" dirty="0"/>
          </a:p>
        </p:txBody>
      </p:sp>
      <p:sp>
        <p:nvSpPr>
          <p:cNvPr id="161" name="Shape 159"/>
          <p:cNvSpPr/>
          <p:nvPr/>
        </p:nvSpPr>
        <p:spPr>
          <a:xfrm>
            <a:off x="9481900" y="3448050"/>
            <a:ext cx="444222" cy="129540"/>
          </a:xfrm>
          <a:prstGeom prst="roundRect">
            <a:avLst>
              <a:gd name="adj" fmla="val 29412"/>
            </a:avLst>
          </a:prstGeom>
          <a:solidFill>
            <a:srgbClr val="3ECF8E">
              <a:alpha val="12000"/>
            </a:srgbClr>
          </a:solidFill>
          <a:ln/>
        </p:spPr>
      </p:sp>
      <p:sp>
        <p:nvSpPr>
          <p:cNvPr id="162" name="Text 160"/>
          <p:cNvSpPr/>
          <p:nvPr/>
        </p:nvSpPr>
        <p:spPr>
          <a:xfrm>
            <a:off x="9510475" y="346710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endParaRPr lang="en-US" sz="638" dirty="0"/>
          </a:p>
        </p:txBody>
      </p:sp>
      <p:sp>
        <p:nvSpPr>
          <p:cNvPr id="163" name="Text 161"/>
          <p:cNvSpPr/>
          <p:nvPr/>
        </p:nvSpPr>
        <p:spPr>
          <a:xfrm>
            <a:off x="10313670" y="342876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· trail flip</a:t>
            </a:r>
            <a:endParaRPr lang="en-US" sz="788" dirty="0"/>
          </a:p>
        </p:txBody>
      </p:sp>
      <p:sp>
        <p:nvSpPr>
          <p:cNvPr id="164" name="Shape 162"/>
          <p:cNvSpPr/>
          <p:nvPr/>
        </p:nvSpPr>
        <p:spPr>
          <a:xfrm>
            <a:off x="3360420" y="390715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65" name="Text 163"/>
          <p:cNvSpPr/>
          <p:nvPr/>
        </p:nvSpPr>
        <p:spPr>
          <a:xfrm>
            <a:off x="3360420" y="371475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12:02:47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4084320" y="371475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ORD-1066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4903470" y="370332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SuperTrend</a:t>
            </a:r>
            <a:endParaRPr lang="en-US" sz="825" dirty="0"/>
          </a:p>
        </p:txBody>
      </p:sp>
      <p:sp>
        <p:nvSpPr>
          <p:cNvPr id="168" name="Text 166"/>
          <p:cNvSpPr/>
          <p:nvPr/>
        </p:nvSpPr>
        <p:spPr>
          <a:xfrm>
            <a:off x="6332220" y="370332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HDFCBANK</a:t>
            </a:r>
            <a:endParaRPr lang="en-US" sz="938" dirty="0"/>
          </a:p>
        </p:txBody>
      </p:sp>
      <p:sp>
        <p:nvSpPr>
          <p:cNvPr id="169" name="Text 167"/>
          <p:cNvSpPr/>
          <p:nvPr/>
        </p:nvSpPr>
        <p:spPr>
          <a:xfrm>
            <a:off x="7379970" y="371856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7837170" y="370713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863" dirty="0"/>
          </a:p>
        </p:txBody>
      </p:sp>
      <p:sp>
        <p:nvSpPr>
          <p:cNvPr id="171" name="Text 169"/>
          <p:cNvSpPr/>
          <p:nvPr/>
        </p:nvSpPr>
        <p:spPr>
          <a:xfrm>
            <a:off x="8275320" y="370713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1,678.25</a:t>
            </a:r>
            <a:endParaRPr lang="en-US" sz="863" dirty="0"/>
          </a:p>
        </p:txBody>
      </p:sp>
      <p:sp>
        <p:nvSpPr>
          <p:cNvPr id="172" name="Shape 170"/>
          <p:cNvSpPr/>
          <p:nvPr/>
        </p:nvSpPr>
        <p:spPr>
          <a:xfrm>
            <a:off x="9481900" y="3726180"/>
            <a:ext cx="444222" cy="129540"/>
          </a:xfrm>
          <a:prstGeom prst="roundRect">
            <a:avLst>
              <a:gd name="adj" fmla="val 29412"/>
            </a:avLst>
          </a:prstGeom>
          <a:solidFill>
            <a:srgbClr val="3ECF8E">
              <a:alpha val="12000"/>
            </a:srgbClr>
          </a:solidFill>
          <a:ln/>
        </p:spPr>
      </p:sp>
      <p:sp>
        <p:nvSpPr>
          <p:cNvPr id="173" name="Text 171"/>
          <p:cNvSpPr/>
          <p:nvPr/>
        </p:nvSpPr>
        <p:spPr>
          <a:xfrm>
            <a:off x="9510475" y="374523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endParaRPr lang="en-US" sz="638" dirty="0"/>
          </a:p>
        </p:txBody>
      </p:sp>
      <p:sp>
        <p:nvSpPr>
          <p:cNvPr id="174" name="Text 172"/>
          <p:cNvSpPr/>
          <p:nvPr/>
        </p:nvSpPr>
        <p:spPr>
          <a:xfrm>
            <a:off x="10313670" y="370689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788" dirty="0"/>
          </a:p>
        </p:txBody>
      </p:sp>
      <p:sp>
        <p:nvSpPr>
          <p:cNvPr id="175" name="Shape 173"/>
          <p:cNvSpPr/>
          <p:nvPr/>
        </p:nvSpPr>
        <p:spPr>
          <a:xfrm>
            <a:off x="3360420" y="418528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76" name="Text 174"/>
          <p:cNvSpPr/>
          <p:nvPr/>
        </p:nvSpPr>
        <p:spPr>
          <a:xfrm>
            <a:off x="3360420" y="399288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11:38:09</a:t>
            </a:r>
            <a:endParaRPr lang="en-US" sz="750" dirty="0"/>
          </a:p>
        </p:txBody>
      </p:sp>
      <p:sp>
        <p:nvSpPr>
          <p:cNvPr id="177" name="Text 175"/>
          <p:cNvSpPr/>
          <p:nvPr/>
        </p:nvSpPr>
        <p:spPr>
          <a:xfrm>
            <a:off x="4084320" y="399288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ORD-1058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4903470" y="398145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179" name="Text 177"/>
          <p:cNvSpPr/>
          <p:nvPr/>
        </p:nvSpPr>
        <p:spPr>
          <a:xfrm>
            <a:off x="6332220" y="398145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HDFCBANK</a:t>
            </a:r>
            <a:endParaRPr lang="en-US" sz="938" dirty="0"/>
          </a:p>
        </p:txBody>
      </p:sp>
      <p:sp>
        <p:nvSpPr>
          <p:cNvPr id="180" name="Text 178"/>
          <p:cNvSpPr/>
          <p:nvPr/>
        </p:nvSpPr>
        <p:spPr>
          <a:xfrm>
            <a:off x="7379970" y="399669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</a:t>
            </a:r>
            <a:endParaRPr lang="en-US" sz="750" dirty="0"/>
          </a:p>
        </p:txBody>
      </p:sp>
      <p:sp>
        <p:nvSpPr>
          <p:cNvPr id="181" name="Text 179"/>
          <p:cNvSpPr/>
          <p:nvPr/>
        </p:nvSpPr>
        <p:spPr>
          <a:xfrm>
            <a:off x="7837170" y="398526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863" dirty="0"/>
          </a:p>
        </p:txBody>
      </p:sp>
      <p:sp>
        <p:nvSpPr>
          <p:cNvPr id="182" name="Text 180"/>
          <p:cNvSpPr/>
          <p:nvPr/>
        </p:nvSpPr>
        <p:spPr>
          <a:xfrm>
            <a:off x="8275320" y="398526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1,668.90</a:t>
            </a:r>
            <a:endParaRPr lang="en-US" sz="863" dirty="0"/>
          </a:p>
        </p:txBody>
      </p:sp>
      <p:sp>
        <p:nvSpPr>
          <p:cNvPr id="183" name="Shape 181"/>
          <p:cNvSpPr/>
          <p:nvPr/>
        </p:nvSpPr>
        <p:spPr>
          <a:xfrm>
            <a:off x="9481900" y="4004310"/>
            <a:ext cx="444222" cy="129540"/>
          </a:xfrm>
          <a:prstGeom prst="roundRect">
            <a:avLst>
              <a:gd name="adj" fmla="val 29412"/>
            </a:avLst>
          </a:prstGeom>
          <a:solidFill>
            <a:srgbClr val="3ECF8E">
              <a:alpha val="12000"/>
            </a:srgbClr>
          </a:solidFill>
          <a:ln/>
        </p:spPr>
      </p:sp>
      <p:sp>
        <p:nvSpPr>
          <p:cNvPr id="184" name="Text 182"/>
          <p:cNvSpPr/>
          <p:nvPr/>
        </p:nvSpPr>
        <p:spPr>
          <a:xfrm>
            <a:off x="9510475" y="402336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endParaRPr lang="en-US" sz="638" dirty="0"/>
          </a:p>
        </p:txBody>
      </p:sp>
      <p:sp>
        <p:nvSpPr>
          <p:cNvPr id="185" name="Text 183"/>
          <p:cNvSpPr/>
          <p:nvPr/>
        </p:nvSpPr>
        <p:spPr>
          <a:xfrm>
            <a:off x="10313670" y="398502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· stop-loss</a:t>
            </a:r>
            <a:endParaRPr lang="en-US" sz="788" dirty="0"/>
          </a:p>
        </p:txBody>
      </p:sp>
      <p:sp>
        <p:nvSpPr>
          <p:cNvPr id="186" name="Shape 184"/>
          <p:cNvSpPr/>
          <p:nvPr/>
        </p:nvSpPr>
        <p:spPr>
          <a:xfrm>
            <a:off x="3360420" y="446341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87" name="Text 185"/>
          <p:cNvSpPr/>
          <p:nvPr/>
        </p:nvSpPr>
        <p:spPr>
          <a:xfrm>
            <a:off x="3360420" y="427101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11:12:30</a:t>
            </a:r>
            <a:endParaRPr lang="en-US" sz="750" dirty="0"/>
          </a:p>
        </p:txBody>
      </p:sp>
      <p:sp>
        <p:nvSpPr>
          <p:cNvPr id="188" name="Text 186"/>
          <p:cNvSpPr/>
          <p:nvPr/>
        </p:nvSpPr>
        <p:spPr>
          <a:xfrm>
            <a:off x="4084320" y="427101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ORD-1051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4903470" y="425958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825" dirty="0"/>
          </a:p>
        </p:txBody>
      </p:sp>
      <p:sp>
        <p:nvSpPr>
          <p:cNvPr id="190" name="Text 188"/>
          <p:cNvSpPr/>
          <p:nvPr/>
        </p:nvSpPr>
        <p:spPr>
          <a:xfrm>
            <a:off x="6332220" y="425958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INFY</a:t>
            </a:r>
            <a:endParaRPr lang="en-US" sz="938" dirty="0"/>
          </a:p>
        </p:txBody>
      </p:sp>
      <p:sp>
        <p:nvSpPr>
          <p:cNvPr id="191" name="Text 189"/>
          <p:cNvSpPr/>
          <p:nvPr/>
        </p:nvSpPr>
        <p:spPr>
          <a:xfrm>
            <a:off x="7379970" y="427482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</a:t>
            </a:r>
            <a:endParaRPr lang="en-US" sz="750" dirty="0"/>
          </a:p>
        </p:txBody>
      </p:sp>
      <p:sp>
        <p:nvSpPr>
          <p:cNvPr id="192" name="Text 190"/>
          <p:cNvSpPr/>
          <p:nvPr/>
        </p:nvSpPr>
        <p:spPr>
          <a:xfrm>
            <a:off x="7837170" y="426339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863" dirty="0"/>
          </a:p>
        </p:txBody>
      </p:sp>
      <p:sp>
        <p:nvSpPr>
          <p:cNvPr id="193" name="Text 191"/>
          <p:cNvSpPr/>
          <p:nvPr/>
        </p:nvSpPr>
        <p:spPr>
          <a:xfrm>
            <a:off x="8275320" y="426339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1,524.70</a:t>
            </a:r>
            <a:endParaRPr lang="en-US" sz="863" dirty="0"/>
          </a:p>
        </p:txBody>
      </p:sp>
      <p:sp>
        <p:nvSpPr>
          <p:cNvPr id="194" name="Shape 192"/>
          <p:cNvSpPr/>
          <p:nvPr/>
        </p:nvSpPr>
        <p:spPr>
          <a:xfrm>
            <a:off x="9481900" y="4282440"/>
            <a:ext cx="444222" cy="129540"/>
          </a:xfrm>
          <a:prstGeom prst="roundRect">
            <a:avLst>
              <a:gd name="adj" fmla="val 29412"/>
            </a:avLst>
          </a:prstGeom>
          <a:solidFill>
            <a:srgbClr val="3ECF8E">
              <a:alpha val="12000"/>
            </a:srgbClr>
          </a:solidFill>
          <a:ln/>
        </p:spPr>
      </p:sp>
      <p:sp>
        <p:nvSpPr>
          <p:cNvPr id="195" name="Text 193"/>
          <p:cNvSpPr/>
          <p:nvPr/>
        </p:nvSpPr>
        <p:spPr>
          <a:xfrm>
            <a:off x="9510475" y="430149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endParaRPr lang="en-US" sz="638" dirty="0"/>
          </a:p>
        </p:txBody>
      </p:sp>
      <p:sp>
        <p:nvSpPr>
          <p:cNvPr id="196" name="Text 194"/>
          <p:cNvSpPr/>
          <p:nvPr/>
        </p:nvSpPr>
        <p:spPr>
          <a:xfrm>
            <a:off x="10313670" y="426315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· stop-loss</a:t>
            </a:r>
            <a:endParaRPr lang="en-US" sz="788" dirty="0"/>
          </a:p>
        </p:txBody>
      </p:sp>
      <p:sp>
        <p:nvSpPr>
          <p:cNvPr id="197" name="Shape 195"/>
          <p:cNvSpPr/>
          <p:nvPr/>
        </p:nvSpPr>
        <p:spPr>
          <a:xfrm>
            <a:off x="3360420" y="4471035"/>
            <a:ext cx="14634210" cy="278130"/>
          </a:xfrm>
          <a:prstGeom prst="roundRect">
            <a:avLst>
              <a:gd name="adj" fmla="val 20548"/>
            </a:avLst>
          </a:prstGeom>
          <a:solidFill>
            <a:srgbClr val="EEB653">
              <a:alpha val="60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3360420" y="474154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199" name="Text 197"/>
          <p:cNvSpPr/>
          <p:nvPr/>
        </p:nvSpPr>
        <p:spPr>
          <a:xfrm>
            <a:off x="3360420" y="454914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11:58:12</a:t>
            </a:r>
            <a:endParaRPr lang="en-US" sz="750" dirty="0"/>
          </a:p>
        </p:txBody>
      </p:sp>
      <p:sp>
        <p:nvSpPr>
          <p:cNvPr id="200" name="Text 198"/>
          <p:cNvSpPr/>
          <p:nvPr/>
        </p:nvSpPr>
        <p:spPr>
          <a:xfrm>
            <a:off x="4084320" y="454914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SIG-1063</a:t>
            </a:r>
            <a:endParaRPr lang="en-US" sz="750" dirty="0"/>
          </a:p>
        </p:txBody>
      </p:sp>
      <p:sp>
        <p:nvSpPr>
          <p:cNvPr id="201" name="Text 199"/>
          <p:cNvSpPr/>
          <p:nvPr/>
        </p:nvSpPr>
        <p:spPr>
          <a:xfrm>
            <a:off x="4903470" y="453771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25" dirty="0"/>
          </a:p>
        </p:txBody>
      </p:sp>
      <p:sp>
        <p:nvSpPr>
          <p:cNvPr id="202" name="Text 200"/>
          <p:cNvSpPr/>
          <p:nvPr/>
        </p:nvSpPr>
        <p:spPr>
          <a:xfrm>
            <a:off x="6332220" y="453771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ICICIBANK</a:t>
            </a:r>
            <a:endParaRPr lang="en-US" sz="938" dirty="0"/>
          </a:p>
        </p:txBody>
      </p:sp>
      <p:sp>
        <p:nvSpPr>
          <p:cNvPr id="203" name="Text 201"/>
          <p:cNvSpPr/>
          <p:nvPr/>
        </p:nvSpPr>
        <p:spPr>
          <a:xfrm>
            <a:off x="7379970" y="455295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</a:t>
            </a:r>
            <a:endParaRPr lang="en-US" sz="750" dirty="0"/>
          </a:p>
        </p:txBody>
      </p:sp>
      <p:sp>
        <p:nvSpPr>
          <p:cNvPr id="204" name="Text 202"/>
          <p:cNvSpPr/>
          <p:nvPr/>
        </p:nvSpPr>
        <p:spPr>
          <a:xfrm>
            <a:off x="7837170" y="454152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863" dirty="0"/>
          </a:p>
        </p:txBody>
      </p:sp>
      <p:sp>
        <p:nvSpPr>
          <p:cNvPr id="205" name="Text 203"/>
          <p:cNvSpPr/>
          <p:nvPr/>
        </p:nvSpPr>
        <p:spPr>
          <a:xfrm>
            <a:off x="8275320" y="454152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63" dirty="0"/>
          </a:p>
        </p:txBody>
      </p:sp>
      <p:sp>
        <p:nvSpPr>
          <p:cNvPr id="206" name="Shape 204"/>
          <p:cNvSpPr/>
          <p:nvPr/>
        </p:nvSpPr>
        <p:spPr>
          <a:xfrm>
            <a:off x="9456063" y="4560570"/>
            <a:ext cx="496014" cy="129540"/>
          </a:xfrm>
          <a:prstGeom prst="roundRect">
            <a:avLst>
              <a:gd name="adj" fmla="val 29412"/>
            </a:avLst>
          </a:prstGeom>
          <a:solidFill>
            <a:srgbClr val="EEB653"/>
          </a:solidFill>
          <a:ln/>
        </p:spPr>
      </p:sp>
      <p:sp>
        <p:nvSpPr>
          <p:cNvPr id="207" name="Text 205"/>
          <p:cNvSpPr/>
          <p:nvPr/>
        </p:nvSpPr>
        <p:spPr>
          <a:xfrm>
            <a:off x="9484638" y="4579620"/>
            <a:ext cx="43886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15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638" dirty="0"/>
          </a:p>
        </p:txBody>
      </p:sp>
      <p:sp>
        <p:nvSpPr>
          <p:cNvPr id="208" name="Text 206"/>
          <p:cNvSpPr/>
          <p:nvPr/>
        </p:nvSpPr>
        <p:spPr>
          <a:xfrm>
            <a:off x="10313670" y="454128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gate · strategy trade cap reached (6/6)</a:t>
            </a:r>
            <a:endParaRPr lang="en-US" sz="788" dirty="0"/>
          </a:p>
        </p:txBody>
      </p:sp>
      <p:sp>
        <p:nvSpPr>
          <p:cNvPr id="209" name="Shape 207"/>
          <p:cNvSpPr/>
          <p:nvPr/>
        </p:nvSpPr>
        <p:spPr>
          <a:xfrm>
            <a:off x="3360420" y="501967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10" name="Text 208"/>
          <p:cNvSpPr/>
          <p:nvPr/>
        </p:nvSpPr>
        <p:spPr>
          <a:xfrm>
            <a:off x="3360420" y="482727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10:41:22</a:t>
            </a:r>
            <a:endParaRPr lang="en-US" sz="750" dirty="0"/>
          </a:p>
        </p:txBody>
      </p:sp>
      <p:sp>
        <p:nvSpPr>
          <p:cNvPr id="211" name="Text 209"/>
          <p:cNvSpPr/>
          <p:nvPr/>
        </p:nvSpPr>
        <p:spPr>
          <a:xfrm>
            <a:off x="4084320" y="482727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ORD-1044</a:t>
            </a:r>
            <a:endParaRPr lang="en-US" sz="750" dirty="0"/>
          </a:p>
        </p:txBody>
      </p:sp>
      <p:sp>
        <p:nvSpPr>
          <p:cNvPr id="212" name="Text 210"/>
          <p:cNvSpPr/>
          <p:nvPr/>
        </p:nvSpPr>
        <p:spPr>
          <a:xfrm>
            <a:off x="4903470" y="481584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825" dirty="0"/>
          </a:p>
        </p:txBody>
      </p:sp>
      <p:sp>
        <p:nvSpPr>
          <p:cNvPr id="213" name="Text 211"/>
          <p:cNvSpPr/>
          <p:nvPr/>
        </p:nvSpPr>
        <p:spPr>
          <a:xfrm>
            <a:off x="6332220" y="481584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</a:t>
            </a:r>
            <a:endParaRPr lang="en-US" sz="938" dirty="0"/>
          </a:p>
        </p:txBody>
      </p:sp>
      <p:sp>
        <p:nvSpPr>
          <p:cNvPr id="214" name="Text 212"/>
          <p:cNvSpPr/>
          <p:nvPr/>
        </p:nvSpPr>
        <p:spPr>
          <a:xfrm>
            <a:off x="7379970" y="483108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</a:t>
            </a:r>
            <a:endParaRPr lang="en-US" sz="750" dirty="0"/>
          </a:p>
        </p:txBody>
      </p:sp>
      <p:sp>
        <p:nvSpPr>
          <p:cNvPr id="215" name="Text 213"/>
          <p:cNvSpPr/>
          <p:nvPr/>
        </p:nvSpPr>
        <p:spPr>
          <a:xfrm>
            <a:off x="7837170" y="481965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863" dirty="0"/>
          </a:p>
        </p:txBody>
      </p:sp>
      <p:sp>
        <p:nvSpPr>
          <p:cNvPr id="216" name="Text 214"/>
          <p:cNvSpPr/>
          <p:nvPr/>
        </p:nvSpPr>
        <p:spPr>
          <a:xfrm>
            <a:off x="8275320" y="481965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2,396.20</a:t>
            </a:r>
            <a:endParaRPr lang="en-US" sz="863" dirty="0"/>
          </a:p>
        </p:txBody>
      </p:sp>
      <p:sp>
        <p:nvSpPr>
          <p:cNvPr id="217" name="Shape 215"/>
          <p:cNvSpPr/>
          <p:nvPr/>
        </p:nvSpPr>
        <p:spPr>
          <a:xfrm>
            <a:off x="9481900" y="4838700"/>
            <a:ext cx="444222" cy="129540"/>
          </a:xfrm>
          <a:prstGeom prst="roundRect">
            <a:avLst>
              <a:gd name="adj" fmla="val 29412"/>
            </a:avLst>
          </a:prstGeom>
          <a:solidFill>
            <a:srgbClr val="3ECF8E">
              <a:alpha val="12000"/>
            </a:srgbClr>
          </a:solidFill>
          <a:ln/>
        </p:spPr>
      </p:sp>
      <p:sp>
        <p:nvSpPr>
          <p:cNvPr id="218" name="Text 216"/>
          <p:cNvSpPr/>
          <p:nvPr/>
        </p:nvSpPr>
        <p:spPr>
          <a:xfrm>
            <a:off x="9510475" y="485775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endParaRPr lang="en-US" sz="638" dirty="0"/>
          </a:p>
        </p:txBody>
      </p:sp>
      <p:sp>
        <p:nvSpPr>
          <p:cNvPr id="219" name="Text 217"/>
          <p:cNvSpPr/>
          <p:nvPr/>
        </p:nvSpPr>
        <p:spPr>
          <a:xfrm>
            <a:off x="10313670" y="481941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· stop-loss</a:t>
            </a:r>
            <a:endParaRPr lang="en-US" sz="788" dirty="0"/>
          </a:p>
        </p:txBody>
      </p:sp>
      <p:sp>
        <p:nvSpPr>
          <p:cNvPr id="220" name="Shape 218"/>
          <p:cNvSpPr/>
          <p:nvPr/>
        </p:nvSpPr>
        <p:spPr>
          <a:xfrm>
            <a:off x="3360420" y="529780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21" name="Text 219"/>
          <p:cNvSpPr/>
          <p:nvPr/>
        </p:nvSpPr>
        <p:spPr>
          <a:xfrm>
            <a:off x="3360420" y="510540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09:52:30</a:t>
            </a:r>
            <a:endParaRPr lang="en-US" sz="750" dirty="0"/>
          </a:p>
        </p:txBody>
      </p:sp>
      <p:sp>
        <p:nvSpPr>
          <p:cNvPr id="222" name="Text 220"/>
          <p:cNvSpPr/>
          <p:nvPr/>
        </p:nvSpPr>
        <p:spPr>
          <a:xfrm>
            <a:off x="4084320" y="510540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ORD-1021</a:t>
            </a:r>
            <a:endParaRPr lang="en-US" sz="750" dirty="0"/>
          </a:p>
        </p:txBody>
      </p:sp>
      <p:sp>
        <p:nvSpPr>
          <p:cNvPr id="223" name="Text 221"/>
          <p:cNvSpPr/>
          <p:nvPr/>
        </p:nvSpPr>
        <p:spPr>
          <a:xfrm>
            <a:off x="4903470" y="509397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  <a:endParaRPr lang="en-US" sz="825" dirty="0"/>
          </a:p>
        </p:txBody>
      </p:sp>
      <p:sp>
        <p:nvSpPr>
          <p:cNvPr id="224" name="Text 222"/>
          <p:cNvSpPr/>
          <p:nvPr/>
        </p:nvSpPr>
        <p:spPr>
          <a:xfrm>
            <a:off x="6332220" y="509397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SBIN</a:t>
            </a:r>
            <a:endParaRPr lang="en-US" sz="938" dirty="0"/>
          </a:p>
        </p:txBody>
      </p:sp>
      <p:sp>
        <p:nvSpPr>
          <p:cNvPr id="225" name="Text 223"/>
          <p:cNvSpPr/>
          <p:nvPr/>
        </p:nvSpPr>
        <p:spPr>
          <a:xfrm>
            <a:off x="7379970" y="510921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</a:t>
            </a:r>
            <a:endParaRPr lang="en-US" sz="750" dirty="0"/>
          </a:p>
        </p:txBody>
      </p:sp>
      <p:sp>
        <p:nvSpPr>
          <p:cNvPr id="226" name="Text 224"/>
          <p:cNvSpPr/>
          <p:nvPr/>
        </p:nvSpPr>
        <p:spPr>
          <a:xfrm>
            <a:off x="7837170" y="509778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863" dirty="0"/>
          </a:p>
        </p:txBody>
      </p:sp>
      <p:sp>
        <p:nvSpPr>
          <p:cNvPr id="227" name="Text 225"/>
          <p:cNvSpPr/>
          <p:nvPr/>
        </p:nvSpPr>
        <p:spPr>
          <a:xfrm>
            <a:off x="8275320" y="509778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813.80</a:t>
            </a:r>
            <a:endParaRPr lang="en-US" sz="863" dirty="0"/>
          </a:p>
        </p:txBody>
      </p:sp>
      <p:sp>
        <p:nvSpPr>
          <p:cNvPr id="228" name="Shape 226"/>
          <p:cNvSpPr/>
          <p:nvPr/>
        </p:nvSpPr>
        <p:spPr>
          <a:xfrm>
            <a:off x="9481900" y="5116830"/>
            <a:ext cx="444222" cy="129540"/>
          </a:xfrm>
          <a:prstGeom prst="roundRect">
            <a:avLst>
              <a:gd name="adj" fmla="val 29412"/>
            </a:avLst>
          </a:prstGeom>
          <a:solidFill>
            <a:srgbClr val="3ECF8E">
              <a:alpha val="12000"/>
            </a:srgbClr>
          </a:solidFill>
          <a:ln/>
        </p:spPr>
      </p:sp>
      <p:sp>
        <p:nvSpPr>
          <p:cNvPr id="229" name="Text 227"/>
          <p:cNvSpPr/>
          <p:nvPr/>
        </p:nvSpPr>
        <p:spPr>
          <a:xfrm>
            <a:off x="9510475" y="513588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endParaRPr lang="en-US" sz="638" dirty="0"/>
          </a:p>
        </p:txBody>
      </p:sp>
      <p:sp>
        <p:nvSpPr>
          <p:cNvPr id="230" name="Text 228"/>
          <p:cNvSpPr/>
          <p:nvPr/>
        </p:nvSpPr>
        <p:spPr>
          <a:xfrm>
            <a:off x="10313670" y="509754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· target</a:t>
            </a:r>
            <a:endParaRPr lang="en-US" sz="788" dirty="0"/>
          </a:p>
        </p:txBody>
      </p:sp>
      <p:sp>
        <p:nvSpPr>
          <p:cNvPr id="231" name="Shape 229"/>
          <p:cNvSpPr/>
          <p:nvPr/>
        </p:nvSpPr>
        <p:spPr>
          <a:xfrm>
            <a:off x="3360420" y="5575935"/>
            <a:ext cx="146342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232" name="Text 230"/>
          <p:cNvSpPr/>
          <p:nvPr/>
        </p:nvSpPr>
        <p:spPr>
          <a:xfrm>
            <a:off x="3360420" y="538353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09:16:12</a:t>
            </a:r>
            <a:endParaRPr lang="en-US" sz="750" dirty="0"/>
          </a:p>
        </p:txBody>
      </p:sp>
      <p:sp>
        <p:nvSpPr>
          <p:cNvPr id="233" name="Text 231"/>
          <p:cNvSpPr/>
          <p:nvPr/>
        </p:nvSpPr>
        <p:spPr>
          <a:xfrm>
            <a:off x="4084320" y="538353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ORD-1004</a:t>
            </a:r>
            <a:endParaRPr lang="en-US" sz="750" dirty="0"/>
          </a:p>
        </p:txBody>
      </p:sp>
      <p:sp>
        <p:nvSpPr>
          <p:cNvPr id="234" name="Text 232"/>
          <p:cNvSpPr/>
          <p:nvPr/>
        </p:nvSpPr>
        <p:spPr>
          <a:xfrm>
            <a:off x="4903470" y="5372100"/>
            <a:ext cx="157162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  <a:endParaRPr lang="en-US" sz="825" dirty="0"/>
          </a:p>
        </p:txBody>
      </p:sp>
      <p:sp>
        <p:nvSpPr>
          <p:cNvPr id="235" name="Text 233"/>
          <p:cNvSpPr/>
          <p:nvPr/>
        </p:nvSpPr>
        <p:spPr>
          <a:xfrm>
            <a:off x="6332220" y="5372100"/>
            <a:ext cx="11239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SBIN</a:t>
            </a:r>
            <a:endParaRPr lang="en-US" sz="938" dirty="0"/>
          </a:p>
        </p:txBody>
      </p:sp>
      <p:sp>
        <p:nvSpPr>
          <p:cNvPr id="236" name="Text 234"/>
          <p:cNvSpPr/>
          <p:nvPr/>
        </p:nvSpPr>
        <p:spPr>
          <a:xfrm>
            <a:off x="7379970" y="5387340"/>
            <a:ext cx="6096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</a:t>
            </a:r>
            <a:endParaRPr lang="en-US" sz="750" dirty="0"/>
          </a:p>
        </p:txBody>
      </p:sp>
      <p:sp>
        <p:nvSpPr>
          <p:cNvPr id="237" name="Text 235"/>
          <p:cNvSpPr/>
          <p:nvPr/>
        </p:nvSpPr>
        <p:spPr>
          <a:xfrm>
            <a:off x="7837170" y="5375910"/>
            <a:ext cx="5143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863" dirty="0"/>
          </a:p>
        </p:txBody>
      </p:sp>
      <p:sp>
        <p:nvSpPr>
          <p:cNvPr id="238" name="Text 236"/>
          <p:cNvSpPr/>
          <p:nvPr/>
        </p:nvSpPr>
        <p:spPr>
          <a:xfrm>
            <a:off x="8275320" y="5375910"/>
            <a:ext cx="9525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798.40</a:t>
            </a:r>
            <a:endParaRPr lang="en-US" sz="863" dirty="0"/>
          </a:p>
        </p:txBody>
      </p:sp>
      <p:sp>
        <p:nvSpPr>
          <p:cNvPr id="239" name="Shape 237"/>
          <p:cNvSpPr/>
          <p:nvPr/>
        </p:nvSpPr>
        <p:spPr>
          <a:xfrm>
            <a:off x="9481900" y="5394960"/>
            <a:ext cx="444222" cy="129540"/>
          </a:xfrm>
          <a:prstGeom prst="roundRect">
            <a:avLst>
              <a:gd name="adj" fmla="val 29412"/>
            </a:avLst>
          </a:prstGeom>
          <a:solidFill>
            <a:srgbClr val="3ECF8E">
              <a:alpha val="12000"/>
            </a:srgbClr>
          </a:solidFill>
          <a:ln/>
        </p:spPr>
      </p:sp>
      <p:sp>
        <p:nvSpPr>
          <p:cNvPr id="240" name="Text 238"/>
          <p:cNvSpPr/>
          <p:nvPr/>
        </p:nvSpPr>
        <p:spPr>
          <a:xfrm>
            <a:off x="9510475" y="5414010"/>
            <a:ext cx="38707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b="1" spc="26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</a:t>
            </a:r>
            <a:endParaRPr lang="en-US" sz="638" dirty="0"/>
          </a:p>
        </p:txBody>
      </p:sp>
      <p:sp>
        <p:nvSpPr>
          <p:cNvPr id="241" name="Text 239"/>
          <p:cNvSpPr/>
          <p:nvPr/>
        </p:nvSpPr>
        <p:spPr>
          <a:xfrm>
            <a:off x="10313670" y="5375672"/>
            <a:ext cx="8462391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788" dirty="0"/>
          </a:p>
        </p:txBody>
      </p:sp>
      <p:sp>
        <p:nvSpPr>
          <p:cNvPr id="242" name="Text 240"/>
          <p:cNvSpPr/>
          <p:nvPr/>
        </p:nvSpPr>
        <p:spPr>
          <a:xfrm>
            <a:off x="3360420" y="5659755"/>
            <a:ext cx="1507323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gate blocked 4 of 27 signals today · paper broker fills at LTP with simulated slippage</a:t>
            </a:r>
            <a:endParaRPr lang="en-US" sz="750" dirty="0"/>
          </a:p>
        </p:txBody>
      </p:sp>
      <p:sp>
        <p:nvSpPr>
          <p:cNvPr id="243" name="Shape 241"/>
          <p:cNvSpPr/>
          <p:nvPr/>
        </p:nvSpPr>
        <p:spPr>
          <a:xfrm>
            <a:off x="16178928" y="9626918"/>
            <a:ext cx="1937623" cy="488632"/>
          </a:xfrm>
          <a:prstGeom prst="roundRect">
            <a:avLst>
              <a:gd name="adj" fmla="val 21443"/>
            </a:avLst>
          </a:prstGeom>
          <a:solidFill>
            <a:srgbClr val="1B1D27"/>
          </a:solidFill>
          <a:ln/>
          <a:effectLst>
            <a:outerShdw sx="100000" sy="100000" kx="0" ky="0" algn="bl" rotWithShape="0" blurRad="476250" dist="171450" dir="5400000">
              <a:srgbClr val="000000">
                <a:alpha val="50000"/>
              </a:srgbClr>
            </a:outerShdw>
          </a:effectLst>
        </p:spPr>
      </p:sp>
      <p:sp>
        <p:nvSpPr>
          <p:cNvPr id="244" name="Shape 242"/>
          <p:cNvSpPr/>
          <p:nvPr/>
        </p:nvSpPr>
        <p:spPr>
          <a:xfrm>
            <a:off x="16178928" y="10107930"/>
            <a:ext cx="1937623" cy="9525"/>
          </a:xfrm>
          <a:prstGeom prst="rect">
            <a:avLst/>
          </a:prstGeom>
          <a:solidFill>
            <a:srgbClr val="949EDC">
              <a:alpha val="20000"/>
            </a:srgbClr>
          </a:solidFill>
          <a:ln/>
        </p:spPr>
      </p:sp>
      <p:sp>
        <p:nvSpPr>
          <p:cNvPr id="245" name="Shape 243"/>
          <p:cNvSpPr/>
          <p:nvPr/>
        </p:nvSpPr>
        <p:spPr>
          <a:xfrm>
            <a:off x="16178928" y="9626918"/>
            <a:ext cx="1937623" cy="9525"/>
          </a:xfrm>
          <a:prstGeom prst="rect">
            <a:avLst/>
          </a:prstGeom>
          <a:solidFill>
            <a:srgbClr val="949EDC">
              <a:alpha val="20000"/>
            </a:srgbClr>
          </a:solidFill>
          <a:ln/>
        </p:spPr>
      </p:sp>
      <p:sp>
        <p:nvSpPr>
          <p:cNvPr id="246" name="Shape 244"/>
          <p:cNvSpPr/>
          <p:nvPr/>
        </p:nvSpPr>
        <p:spPr>
          <a:xfrm>
            <a:off x="16178928" y="9626918"/>
            <a:ext cx="22860" cy="488632"/>
          </a:xfrm>
          <a:prstGeom prst="rect">
            <a:avLst/>
          </a:prstGeom>
          <a:solidFill>
            <a:srgbClr val="EEB653"/>
          </a:solidFill>
          <a:ln/>
        </p:spPr>
      </p:sp>
      <p:sp>
        <p:nvSpPr>
          <p:cNvPr id="247" name="Shape 245"/>
          <p:cNvSpPr/>
          <p:nvPr/>
        </p:nvSpPr>
        <p:spPr>
          <a:xfrm>
            <a:off x="18108931" y="9626918"/>
            <a:ext cx="9525" cy="488632"/>
          </a:xfrm>
          <a:prstGeom prst="rect">
            <a:avLst/>
          </a:prstGeom>
          <a:solidFill>
            <a:srgbClr val="949EDC">
              <a:alpha val="20000"/>
            </a:srgbClr>
          </a:solidFill>
          <a:ln/>
        </p:spPr>
      </p:sp>
      <p:sp>
        <p:nvSpPr>
          <p:cNvPr id="248" name="Text 246"/>
          <p:cNvSpPr/>
          <p:nvPr/>
        </p:nvSpPr>
        <p:spPr>
          <a:xfrm>
            <a:off x="16335137" y="9739313"/>
            <a:ext cx="180448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41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BLOCKED</a:t>
            </a:r>
            <a:endParaRPr lang="en-US" sz="675" dirty="0"/>
          </a:p>
        </p:txBody>
      </p:sp>
      <p:sp>
        <p:nvSpPr>
          <p:cNvPr id="249" name="Text 247"/>
          <p:cNvSpPr/>
          <p:nvPr/>
        </p:nvSpPr>
        <p:spPr>
          <a:xfrm>
            <a:off x="16335137" y="9849802"/>
            <a:ext cx="180448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 → SELL TCS ×30</a:t>
            </a:r>
            <a:endParaRPr lang="en-US" sz="86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7050" cy="10287000"/>
          </a:xfrm>
          <a:prstGeom prst="rect">
            <a:avLst/>
          </a:prstGeom>
          <a:solidFill>
            <a:srgbClr val="171923"/>
          </a:solidFill>
          <a:ln/>
        </p:spPr>
      </p:sp>
      <p:sp>
        <p:nvSpPr>
          <p:cNvPr id="3" name="Shape 1"/>
          <p:cNvSpPr/>
          <p:nvPr/>
        </p:nvSpPr>
        <p:spPr>
          <a:xfrm>
            <a:off x="3059430" y="0"/>
            <a:ext cx="9525" cy="10287000"/>
          </a:xfrm>
          <a:prstGeom prst="rect">
            <a:avLst/>
          </a:prstGeom>
          <a:solidFill>
            <a:srgbClr val="949ED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5" name="Shape 3"/>
          <p:cNvSpPr/>
          <p:nvPr/>
        </p:nvSpPr>
        <p:spPr>
          <a:xfrm>
            <a:off x="223838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2400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3838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8" name="Text 6"/>
          <p:cNvSpPr/>
          <p:nvPr/>
        </p:nvSpPr>
        <p:spPr>
          <a:xfrm>
            <a:off x="357188" y="152400"/>
            <a:ext cx="834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8968" y="160020"/>
            <a:ext cx="688062" cy="144780"/>
          </a:xfrm>
          <a:prstGeom prst="roundRect">
            <a:avLst>
              <a:gd name="adj" fmla="val 26316"/>
            </a:avLst>
          </a:prstGeom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3738" y="186690"/>
            <a:ext cx="63472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57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MODE</a:t>
            </a:r>
            <a:endParaRPr lang="en-US" sz="638" dirty="0"/>
          </a:p>
        </p:txBody>
      </p:sp>
      <p:sp>
        <p:nvSpPr>
          <p:cNvPr id="11" name="Text 9"/>
          <p:cNvSpPr/>
          <p:nvPr/>
        </p:nvSpPr>
        <p:spPr>
          <a:xfrm>
            <a:off x="152400" y="436245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P&amp;L · 09:15 → NOW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152400" y="571500"/>
            <a:ext cx="3030093" cy="40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75" b="1" spc="-55" kern="0" dirty="0">
                <a:solidFill>
                  <a:srgbClr val="F1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−₹18,623</a:t>
            </a:r>
            <a:endParaRPr lang="en-US" sz="2775" dirty="0"/>
          </a:p>
        </p:txBody>
      </p:sp>
      <p:sp>
        <p:nvSpPr>
          <p:cNvPr id="13" name="Text 11"/>
          <p:cNvSpPr/>
          <p:nvPr/>
        </p:nvSpPr>
        <p:spPr>
          <a:xfrm>
            <a:off x="152400" y="970121"/>
            <a:ext cx="84617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</a:t>
            </a:r>
            <a:pPr algn="l" indent="0" marL="0">
              <a:buNone/>
            </a:pPr>
            <a:r>
              <a:rPr lang="en-US" sz="788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−₹20,540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1046202" y="970121"/>
            <a:ext cx="78617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unrl </a:t>
            </a:r>
            <a:pPr algn="l" indent="0" marL="0">
              <a:buNone/>
            </a:pPr>
            <a:r>
              <a:rPr lang="en-US" sz="788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+₹1,917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152400" y="1223486"/>
            <a:ext cx="2754630" cy="1158240"/>
          </a:xfrm>
          <a:prstGeom prst="roundRect">
            <a:avLst>
              <a:gd name="adj" fmla="val 9868"/>
            </a:avLst>
          </a:prstGeom>
          <a:solidFill>
            <a:srgbClr val="1B1D27"/>
          </a:solidFill>
          <a:ln w="7620">
            <a:solidFill>
              <a:srgbClr val="EEB65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" y="1345406"/>
            <a:ext cx="914400" cy="914400"/>
          </a:xfrm>
          <a:prstGeom prst="ellipse">
            <a:avLst/>
          </a:prstGeom>
          <a:solidFill>
            <a:srgbClr val="EEB653"/>
          </a:solidFill>
          <a:ln/>
        </p:spPr>
      </p:sp>
      <p:sp>
        <p:nvSpPr>
          <p:cNvPr id="17" name="Text 15"/>
          <p:cNvSpPr/>
          <p:nvPr/>
        </p:nvSpPr>
        <p:spPr>
          <a:xfrm>
            <a:off x="531257" y="1634966"/>
            <a:ext cx="49565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89585" y="1878806"/>
            <a:ext cx="57912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36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LIMIT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31595" y="1482923"/>
            <a:ext cx="1588389" cy="185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₹20,540 of ₹25,000 daily limit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1331595" y="1668899"/>
            <a:ext cx="1520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auto-halt at 100%. Exits always allowed.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31595" y="1973699"/>
            <a:ext cx="1343144" cy="148590"/>
          </a:xfrm>
          <a:prstGeom prst="roundRect">
            <a:avLst>
              <a:gd name="adj" fmla="val 25641"/>
            </a:avLst>
          </a:prstGeom>
          <a:solidFill>
            <a:srgbClr val="EEB653">
              <a:alpha val="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88745" y="2002274"/>
            <a:ext cx="130504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8" kern="0" dirty="0">
                <a:solidFill>
                  <a:srgbClr val="EEB653">
                    <a:alpha val="25000"/>
                  </a:srgbClr>
                </a:solidFill>
                <a:highlight>
                  <a:srgbClr val="FDF8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ARMED </a:t>
            </a:r>
            <a:pPr algn="l" indent="0" marL="0">
              <a:buNone/>
            </a:pPr>
            <a:r>
              <a:rPr lang="en-US" sz="638" b="1" spc="38" kern="0" dirty="0">
                <a:solidFill>
                  <a:srgbClr val="EEB653">
                    <a:alpha val="2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13:15 IST</a:t>
            </a:r>
            <a:endParaRPr lang="en-US" sz="638" dirty="0"/>
          </a:p>
        </p:txBody>
      </p:sp>
      <p:sp>
        <p:nvSpPr>
          <p:cNvPr id="23" name="Shape 21"/>
          <p:cNvSpPr/>
          <p:nvPr/>
        </p:nvSpPr>
        <p:spPr>
          <a:xfrm>
            <a:off x="152400" y="2505551"/>
            <a:ext cx="2754630" cy="994410"/>
          </a:xfrm>
          <a:prstGeom prst="roundRect">
            <a:avLst>
              <a:gd name="adj" fmla="val 11494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370" y="267700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436245" y="2636996"/>
            <a:ext cx="40528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080141" y="2652236"/>
            <a:ext cx="7621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FYERS · 38ms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98120" y="285035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" y="297418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9" name="Text 27"/>
          <p:cNvSpPr/>
          <p:nvPr/>
        </p:nvSpPr>
        <p:spPr>
          <a:xfrm>
            <a:off x="436245" y="2934176"/>
            <a:ext cx="43088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679972" y="2949416"/>
            <a:ext cx="116228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13:42:30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8120" y="314753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" y="3271361"/>
            <a:ext cx="57150" cy="57150"/>
          </a:xfrm>
          <a:prstGeom prst="ellipse">
            <a:avLst/>
          </a:prstGeom>
          <a:solidFill>
            <a:srgbClr val="8F97F9"/>
          </a:solidFill>
          <a:ln/>
        </p:spPr>
      </p:sp>
      <p:sp>
        <p:nvSpPr>
          <p:cNvPr id="33" name="Text 31"/>
          <p:cNvSpPr/>
          <p:nvPr/>
        </p:nvSpPr>
        <p:spPr>
          <a:xfrm>
            <a:off x="436245" y="3231356"/>
            <a:ext cx="41874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622822" y="3246596"/>
            <a:ext cx="121943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· 27 signals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2400" y="8660606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CONTROLS</a:t>
            </a:r>
            <a:endParaRPr lang="en-US" sz="713" dirty="0"/>
          </a:p>
        </p:txBody>
      </p:sp>
      <p:sp>
        <p:nvSpPr>
          <p:cNvPr id="36" name="Shape 34"/>
          <p:cNvSpPr/>
          <p:nvPr/>
        </p:nvSpPr>
        <p:spPr>
          <a:xfrm>
            <a:off x="152400" y="8843486"/>
            <a:ext cx="2754630" cy="419100"/>
          </a:xfrm>
          <a:prstGeom prst="roundRect">
            <a:avLst>
              <a:gd name="adj" fmla="val 25000"/>
            </a:avLst>
          </a:prstGeom>
          <a:solidFill>
            <a:srgbClr val="EEB653">
              <a:alpha val="8000"/>
            </a:srgbClr>
          </a:solidFill>
          <a:ln w="7620">
            <a:solidFill>
              <a:srgbClr val="EEB653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851" y="8860631"/>
            <a:ext cx="2707729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69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⏸ PAUSE ALL TRADING</a:t>
            </a:r>
            <a:endParaRPr lang="en-US" sz="863" dirty="0"/>
          </a:p>
        </p:txBody>
      </p:sp>
      <p:sp>
        <p:nvSpPr>
          <p:cNvPr id="38" name="Shape 36"/>
          <p:cNvSpPr/>
          <p:nvPr/>
        </p:nvSpPr>
        <p:spPr>
          <a:xfrm>
            <a:off x="152400" y="9338786"/>
            <a:ext cx="2754630" cy="476250"/>
          </a:xfrm>
          <a:prstGeom prst="roundRect">
            <a:avLst>
              <a:gd name="adj" fmla="val 22000"/>
            </a:avLst>
          </a:prstGeom>
          <a:solidFill>
            <a:srgbClr val="3A1D22"/>
          </a:solidFill>
          <a:ln w="7620">
            <a:solidFill>
              <a:srgbClr val="F16F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441" y="9453086"/>
            <a:ext cx="9565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SWITCH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042" y="9601676"/>
            <a:ext cx="865346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spc="32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TO CONFIRM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152400" y="9891237"/>
            <a:ext cx="2837269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trades; you supervise. Pause and kill are the only manual levers — there is deliberately no order ticket.</a:t>
            </a:r>
            <a:endParaRPr lang="en-US" sz="713" dirty="0"/>
          </a:p>
        </p:txBody>
      </p:sp>
      <p:sp>
        <p:nvSpPr>
          <p:cNvPr id="42" name="Shape 40"/>
          <p:cNvSpPr/>
          <p:nvPr/>
        </p:nvSpPr>
        <p:spPr>
          <a:xfrm>
            <a:off x="3067050" y="476250"/>
            <a:ext cx="1522095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86125" y="173355"/>
            <a:ext cx="55256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91094" y="173355"/>
            <a:ext cx="59090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34401" y="173355"/>
            <a:ext cx="54006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26869" y="173355"/>
            <a:ext cx="4255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42898" y="173355"/>
            <a:ext cx="29229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23848" y="436245"/>
            <a:ext cx="254198" cy="19050"/>
          </a:xfrm>
          <a:prstGeom prst="roundRect">
            <a:avLst>
              <a:gd name="adj" fmla="val 50000"/>
            </a:avLst>
          </a:prstGeom>
          <a:solidFill>
            <a:srgbClr val="8F97F9"/>
          </a:solidFill>
          <a:ln/>
        </p:spPr>
      </p:sp>
      <p:sp>
        <p:nvSpPr>
          <p:cNvPr id="49" name="Text 47"/>
          <p:cNvSpPr/>
          <p:nvPr/>
        </p:nvSpPr>
        <p:spPr>
          <a:xfrm>
            <a:off x="6449496" y="173355"/>
            <a:ext cx="5399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Digest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41845" y="173355"/>
            <a:ext cx="4892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5330488" y="177165"/>
            <a:ext cx="151779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13:42:30 IST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16824603" y="120015"/>
            <a:ext cx="1310997" cy="236220"/>
          </a:xfrm>
          <a:prstGeom prst="roundRect">
            <a:avLst>
              <a:gd name="adj" fmla="val 50000"/>
            </a:avLst>
          </a:prstGeom>
          <a:solidFill>
            <a:srgbClr val="3ECF8E">
              <a:alpha val="8000"/>
            </a:srgbClr>
          </a:solidFill>
          <a:ln w="7620">
            <a:solidFill>
              <a:srgbClr val="3ECF8E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936998" y="209550"/>
            <a:ext cx="57150" cy="57150"/>
          </a:xfrm>
          <a:prstGeom prst="ellipse">
            <a:avLst/>
          </a:prstGeom>
          <a:solidFill>
            <a:srgbClr val="3ECF8E">
              <a:alpha val="9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7060823" y="184785"/>
            <a:ext cx="73306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 ·</a:t>
            </a:r>
            <a:endParaRPr lang="en-US" sz="713" dirty="0"/>
          </a:p>
        </p:txBody>
      </p:sp>
      <p:sp>
        <p:nvSpPr>
          <p:cNvPr id="55" name="Text 53"/>
          <p:cNvSpPr/>
          <p:nvPr/>
        </p:nvSpPr>
        <p:spPr>
          <a:xfrm>
            <a:off x="17784366" y="184785"/>
            <a:ext cx="31503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38ms</a:t>
            </a:r>
            <a:endParaRPr lang="en-US" sz="713" dirty="0"/>
          </a:p>
        </p:txBody>
      </p:sp>
      <p:sp>
        <p:nvSpPr>
          <p:cNvPr id="56" name="Shape 54"/>
          <p:cNvSpPr/>
          <p:nvPr/>
        </p:nvSpPr>
        <p:spPr>
          <a:xfrm>
            <a:off x="3067050" y="483870"/>
            <a:ext cx="15220950" cy="396240"/>
          </a:xfrm>
          <a:prstGeom prst="rect">
            <a:avLst/>
          </a:prstGeom>
          <a:solidFill>
            <a:srgbClr val="EEB653">
              <a:alpha val="11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067050" y="872490"/>
            <a:ext cx="15220950" cy="9525"/>
          </a:xfrm>
          <a:prstGeom prst="rect">
            <a:avLst/>
          </a:prstGeom>
          <a:solidFill>
            <a:srgbClr val="EEB653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219450" y="575310"/>
            <a:ext cx="205740" cy="205740"/>
          </a:xfrm>
          <a:prstGeom prst="ellipse">
            <a:avLst/>
          </a:prstGeom>
          <a:ln w="7620">
            <a:solidFill>
              <a:srgbClr val="EEB653">
                <a:alpha val="78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88970" y="58293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B653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29965" y="598170"/>
            <a:ext cx="72509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 at 82% of limit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₹20,540 of ₹25,000 realized. New entries auto-halt at 100%; exits and stop-losses stay active.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5762684" y="65436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949EDC">
              <a:alpha val="1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762684" y="654368"/>
            <a:ext cx="1017270" cy="47625"/>
          </a:xfrm>
          <a:prstGeom prst="rect">
            <a:avLst/>
          </a:prstGeom>
          <a:solidFill>
            <a:srgbClr val="EEB653"/>
          </a:solidFill>
          <a:ln/>
        </p:spPr>
      </p:sp>
      <p:sp>
        <p:nvSpPr>
          <p:cNvPr id="63" name="Shape 61"/>
          <p:cNvSpPr/>
          <p:nvPr/>
        </p:nvSpPr>
        <p:spPr>
          <a:xfrm>
            <a:off x="17105709" y="560070"/>
            <a:ext cx="1029891" cy="236220"/>
          </a:xfrm>
          <a:prstGeom prst="roundRect">
            <a:avLst>
              <a:gd name="adj" fmla="val 28226"/>
            </a:avLst>
          </a:prstGeom>
          <a:solidFill>
            <a:srgbClr val="EEB653">
              <a:alpha val="10000"/>
            </a:srgbClr>
          </a:solidFill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180004" y="624840"/>
            <a:ext cx="88130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38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ENTRIES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219450" y="1003935"/>
            <a:ext cx="2406610" cy="518160"/>
          </a:xfrm>
          <a:prstGeom prst="roundRect">
            <a:avLst>
              <a:gd name="adj" fmla="val 20221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41370" y="1106805"/>
            <a:ext cx="2379047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6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3341370" y="1236345"/>
            <a:ext cx="23790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−₹18,623</a:t>
            </a:r>
            <a:endParaRPr lang="en-US" sz="1275" dirty="0"/>
          </a:p>
        </p:txBody>
      </p:sp>
      <p:sp>
        <p:nvSpPr>
          <p:cNvPr id="68" name="Shape 66"/>
          <p:cNvSpPr/>
          <p:nvPr/>
        </p:nvSpPr>
        <p:spPr>
          <a:xfrm>
            <a:off x="5721311" y="1003935"/>
            <a:ext cx="2406610" cy="518160"/>
          </a:xfrm>
          <a:prstGeom prst="roundRect">
            <a:avLst>
              <a:gd name="adj" fmla="val 20221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43231" y="1106805"/>
            <a:ext cx="2379047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6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WEEK</a:t>
            </a:r>
            <a:endParaRPr lang="en-US" sz="675" dirty="0"/>
          </a:p>
        </p:txBody>
      </p:sp>
      <p:sp>
        <p:nvSpPr>
          <p:cNvPr id="70" name="Text 68"/>
          <p:cNvSpPr/>
          <p:nvPr/>
        </p:nvSpPr>
        <p:spPr>
          <a:xfrm>
            <a:off x="5843231" y="1236345"/>
            <a:ext cx="23790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+₹4,453</a:t>
            </a:r>
            <a:endParaRPr lang="en-US" sz="1275" dirty="0"/>
          </a:p>
        </p:txBody>
      </p:sp>
      <p:sp>
        <p:nvSpPr>
          <p:cNvPr id="71" name="Shape 69"/>
          <p:cNvSpPr/>
          <p:nvPr/>
        </p:nvSpPr>
        <p:spPr>
          <a:xfrm>
            <a:off x="8223171" y="1003935"/>
            <a:ext cx="2406729" cy="518160"/>
          </a:xfrm>
          <a:prstGeom prst="roundRect">
            <a:avLst>
              <a:gd name="adj" fmla="val 20221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45091" y="1106805"/>
            <a:ext cx="237917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6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DAYS</a:t>
            </a:r>
            <a:endParaRPr lang="en-US" sz="675" dirty="0"/>
          </a:p>
        </p:txBody>
      </p:sp>
      <p:sp>
        <p:nvSpPr>
          <p:cNvPr id="73" name="Text 71"/>
          <p:cNvSpPr/>
          <p:nvPr/>
        </p:nvSpPr>
        <p:spPr>
          <a:xfrm>
            <a:off x="8345091" y="1236345"/>
            <a:ext cx="237917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+₹31,373</a:t>
            </a:r>
            <a:endParaRPr lang="en-US" sz="1275" dirty="0"/>
          </a:p>
        </p:txBody>
      </p:sp>
      <p:sp>
        <p:nvSpPr>
          <p:cNvPr id="74" name="Shape 72"/>
          <p:cNvSpPr/>
          <p:nvPr/>
        </p:nvSpPr>
        <p:spPr>
          <a:xfrm>
            <a:off x="10725150" y="1003935"/>
            <a:ext cx="2406610" cy="518160"/>
          </a:xfrm>
          <a:prstGeom prst="roundRect">
            <a:avLst>
              <a:gd name="adj" fmla="val 20221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847070" y="1106805"/>
            <a:ext cx="2379047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6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RATE TODAY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10847070" y="1236345"/>
            <a:ext cx="23790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38%</a:t>
            </a:r>
            <a:endParaRPr lang="en-US" sz="1275" dirty="0"/>
          </a:p>
        </p:txBody>
      </p:sp>
      <p:sp>
        <p:nvSpPr>
          <p:cNvPr id="77" name="Shape 75"/>
          <p:cNvSpPr/>
          <p:nvPr/>
        </p:nvSpPr>
        <p:spPr>
          <a:xfrm>
            <a:off x="13227010" y="1003935"/>
            <a:ext cx="2406610" cy="518160"/>
          </a:xfrm>
          <a:prstGeom prst="roundRect">
            <a:avLst>
              <a:gd name="adj" fmla="val 20221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3348931" y="1106805"/>
            <a:ext cx="2379047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6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TRADES</a:t>
            </a:r>
            <a:endParaRPr lang="en-US" sz="675" dirty="0"/>
          </a:p>
        </p:txBody>
      </p:sp>
      <p:sp>
        <p:nvSpPr>
          <p:cNvPr id="79" name="Text 77"/>
          <p:cNvSpPr/>
          <p:nvPr/>
        </p:nvSpPr>
        <p:spPr>
          <a:xfrm>
            <a:off x="13348931" y="1236345"/>
            <a:ext cx="23790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8W · 13L</a:t>
            </a:r>
            <a:endParaRPr lang="en-US" sz="1275" dirty="0"/>
          </a:p>
        </p:txBody>
      </p:sp>
      <p:sp>
        <p:nvSpPr>
          <p:cNvPr id="80" name="Shape 78"/>
          <p:cNvSpPr/>
          <p:nvPr/>
        </p:nvSpPr>
        <p:spPr>
          <a:xfrm>
            <a:off x="15728871" y="1003935"/>
            <a:ext cx="2406729" cy="518160"/>
          </a:xfrm>
          <a:prstGeom prst="roundRect">
            <a:avLst>
              <a:gd name="adj" fmla="val 20221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5850791" y="1106805"/>
            <a:ext cx="237917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6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 FACTOR</a:t>
            </a:r>
            <a:endParaRPr lang="en-US" sz="675" dirty="0"/>
          </a:p>
        </p:txBody>
      </p:sp>
      <p:sp>
        <p:nvSpPr>
          <p:cNvPr id="82" name="Text 80"/>
          <p:cNvSpPr/>
          <p:nvPr/>
        </p:nvSpPr>
        <p:spPr>
          <a:xfrm>
            <a:off x="15850791" y="1236345"/>
            <a:ext cx="237917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0.44</a:t>
            </a:r>
            <a:endParaRPr lang="en-US" sz="1275" dirty="0"/>
          </a:p>
        </p:txBody>
      </p:sp>
      <p:sp>
        <p:nvSpPr>
          <p:cNvPr id="83" name="Shape 81"/>
          <p:cNvSpPr/>
          <p:nvPr/>
        </p:nvSpPr>
        <p:spPr>
          <a:xfrm>
            <a:off x="3219450" y="1636395"/>
            <a:ext cx="14916150" cy="2141220"/>
          </a:xfrm>
          <a:prstGeom prst="roundRect">
            <a:avLst>
              <a:gd name="adj" fmla="val 5338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69945" y="1767840"/>
            <a:ext cx="1393246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 CURVE · TODAY</a:t>
            </a:r>
            <a:endParaRPr lang="en-US" sz="713" dirty="0"/>
          </a:p>
        </p:txBody>
      </p:sp>
      <p:sp>
        <p:nvSpPr>
          <p:cNvPr id="85" name="Text 83"/>
          <p:cNvSpPr/>
          <p:nvPr/>
        </p:nvSpPr>
        <p:spPr>
          <a:xfrm>
            <a:off x="16302633" y="1767840"/>
            <a:ext cx="18507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dashed amber = daily loss limit</a:t>
            </a:r>
            <a:endParaRPr lang="en-US" sz="713" dirty="0"/>
          </a:p>
        </p:txBody>
      </p:sp>
      <p:pic>
        <p:nvPicPr>
          <p:cNvPr id="8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9945" y="1931670"/>
            <a:ext cx="14615160" cy="1714500"/>
          </a:xfrm>
          <a:prstGeom prst="rect">
            <a:avLst/>
          </a:prstGeom>
        </p:spPr>
      </p:pic>
      <p:sp>
        <p:nvSpPr>
          <p:cNvPr id="87" name="Shape 84"/>
          <p:cNvSpPr/>
          <p:nvPr/>
        </p:nvSpPr>
        <p:spPr>
          <a:xfrm>
            <a:off x="3219450" y="3891915"/>
            <a:ext cx="11182350" cy="2152650"/>
          </a:xfrm>
          <a:prstGeom prst="roundRect">
            <a:avLst>
              <a:gd name="adj" fmla="val 5310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369945" y="4023360"/>
            <a:ext cx="11969496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STRATEGY · TODAY</a:t>
            </a:r>
            <a:endParaRPr lang="en-US" sz="713" dirty="0"/>
          </a:p>
        </p:txBody>
      </p:sp>
      <p:sp>
        <p:nvSpPr>
          <p:cNvPr id="89" name="Text 86"/>
          <p:cNvSpPr/>
          <p:nvPr/>
        </p:nvSpPr>
        <p:spPr>
          <a:xfrm>
            <a:off x="3369945" y="4215765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Pullback</a:t>
            </a:r>
            <a:endParaRPr lang="en-US" sz="863" dirty="0"/>
          </a:p>
        </p:txBody>
      </p:sp>
      <p:sp>
        <p:nvSpPr>
          <p:cNvPr id="90" name="Shape 87"/>
          <p:cNvSpPr/>
          <p:nvPr/>
        </p:nvSpPr>
        <p:spPr>
          <a:xfrm>
            <a:off x="5084445" y="4227195"/>
            <a:ext cx="8195310" cy="114300"/>
          </a:xfrm>
          <a:prstGeom prst="roundRect">
            <a:avLst>
              <a:gd name="adj" fmla="val 250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91" name="Shape 88"/>
          <p:cNvSpPr/>
          <p:nvPr/>
        </p:nvSpPr>
        <p:spPr>
          <a:xfrm>
            <a:off x="9182100" y="4227195"/>
            <a:ext cx="9525" cy="1143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92" name="Shape 89"/>
          <p:cNvSpPr/>
          <p:nvPr/>
        </p:nvSpPr>
        <p:spPr>
          <a:xfrm>
            <a:off x="7102436" y="4246245"/>
            <a:ext cx="2079546" cy="76200"/>
          </a:xfrm>
          <a:prstGeom prst="roundRect">
            <a:avLst>
              <a:gd name="adj" fmla="val 25000"/>
            </a:avLst>
          </a:prstGeom>
          <a:solidFill>
            <a:srgbClr val="F16F7B"/>
          </a:solidFill>
          <a:ln/>
        </p:spPr>
      </p:sp>
      <p:sp>
        <p:nvSpPr>
          <p:cNvPr id="93" name="Text 90"/>
          <p:cNvSpPr/>
          <p:nvPr/>
        </p:nvSpPr>
        <p:spPr>
          <a:xfrm>
            <a:off x="13298806" y="4227195"/>
            <a:ext cx="952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−₹5,340</a:t>
            </a:r>
            <a:endParaRPr lang="en-US" sz="825" dirty="0"/>
          </a:p>
        </p:txBody>
      </p:sp>
      <p:sp>
        <p:nvSpPr>
          <p:cNvPr id="94" name="Text 91"/>
          <p:cNvSpPr/>
          <p:nvPr/>
        </p:nvSpPr>
        <p:spPr>
          <a:xfrm>
            <a:off x="3369945" y="443865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</a:t>
            </a:r>
            <a:endParaRPr lang="en-US" sz="863" dirty="0"/>
          </a:p>
        </p:txBody>
      </p:sp>
      <p:sp>
        <p:nvSpPr>
          <p:cNvPr id="95" name="Shape 92"/>
          <p:cNvSpPr/>
          <p:nvPr/>
        </p:nvSpPr>
        <p:spPr>
          <a:xfrm>
            <a:off x="5084445" y="4450080"/>
            <a:ext cx="8195310" cy="114300"/>
          </a:xfrm>
          <a:prstGeom prst="roundRect">
            <a:avLst>
              <a:gd name="adj" fmla="val 250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96" name="Shape 93"/>
          <p:cNvSpPr/>
          <p:nvPr/>
        </p:nvSpPr>
        <p:spPr>
          <a:xfrm>
            <a:off x="9182100" y="4450080"/>
            <a:ext cx="9525" cy="1143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97" name="Shape 94"/>
          <p:cNvSpPr/>
          <p:nvPr/>
        </p:nvSpPr>
        <p:spPr>
          <a:xfrm>
            <a:off x="6198870" y="4469130"/>
            <a:ext cx="2983111" cy="76200"/>
          </a:xfrm>
          <a:prstGeom prst="roundRect">
            <a:avLst>
              <a:gd name="adj" fmla="val 25000"/>
            </a:avLst>
          </a:prstGeom>
          <a:solidFill>
            <a:srgbClr val="F16F7B"/>
          </a:solidFill>
          <a:ln/>
        </p:spPr>
      </p:sp>
      <p:sp>
        <p:nvSpPr>
          <p:cNvPr id="98" name="Text 95"/>
          <p:cNvSpPr/>
          <p:nvPr/>
        </p:nvSpPr>
        <p:spPr>
          <a:xfrm>
            <a:off x="13298806" y="4450080"/>
            <a:ext cx="952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−₹7,660</a:t>
            </a:r>
            <a:endParaRPr lang="en-US" sz="825" dirty="0"/>
          </a:p>
        </p:txBody>
      </p:sp>
      <p:sp>
        <p:nvSpPr>
          <p:cNvPr id="99" name="Text 96"/>
          <p:cNvSpPr/>
          <p:nvPr/>
        </p:nvSpPr>
        <p:spPr>
          <a:xfrm>
            <a:off x="3369945" y="4661535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SuperTrend Follow</a:t>
            </a:r>
            <a:endParaRPr lang="en-US" sz="863" dirty="0"/>
          </a:p>
        </p:txBody>
      </p:sp>
      <p:sp>
        <p:nvSpPr>
          <p:cNvPr id="100" name="Shape 97"/>
          <p:cNvSpPr/>
          <p:nvPr/>
        </p:nvSpPr>
        <p:spPr>
          <a:xfrm>
            <a:off x="5084445" y="4672965"/>
            <a:ext cx="8195310" cy="114300"/>
          </a:xfrm>
          <a:prstGeom prst="roundRect">
            <a:avLst>
              <a:gd name="adj" fmla="val 250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01" name="Shape 98"/>
          <p:cNvSpPr/>
          <p:nvPr/>
        </p:nvSpPr>
        <p:spPr>
          <a:xfrm>
            <a:off x="9182100" y="4672965"/>
            <a:ext cx="9525" cy="1143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02" name="Shape 99"/>
          <p:cNvSpPr/>
          <p:nvPr/>
        </p:nvSpPr>
        <p:spPr>
          <a:xfrm>
            <a:off x="5412224" y="4692015"/>
            <a:ext cx="3769757" cy="76200"/>
          </a:xfrm>
          <a:prstGeom prst="roundRect">
            <a:avLst>
              <a:gd name="adj" fmla="val 25000"/>
            </a:avLst>
          </a:prstGeom>
          <a:solidFill>
            <a:srgbClr val="F16F7B"/>
          </a:solidFill>
          <a:ln/>
        </p:spPr>
      </p:sp>
      <p:sp>
        <p:nvSpPr>
          <p:cNvPr id="103" name="Text 100"/>
          <p:cNvSpPr/>
          <p:nvPr/>
        </p:nvSpPr>
        <p:spPr>
          <a:xfrm>
            <a:off x="13298806" y="4672965"/>
            <a:ext cx="952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−₹9,680</a:t>
            </a:r>
            <a:endParaRPr lang="en-US" sz="825" dirty="0"/>
          </a:p>
        </p:txBody>
      </p:sp>
      <p:sp>
        <p:nvSpPr>
          <p:cNvPr id="104" name="Text 101"/>
          <p:cNvSpPr/>
          <p:nvPr/>
        </p:nvSpPr>
        <p:spPr>
          <a:xfrm>
            <a:off x="3369945" y="488442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Range Breakout</a:t>
            </a:r>
            <a:endParaRPr lang="en-US" sz="863" dirty="0"/>
          </a:p>
        </p:txBody>
      </p:sp>
      <p:sp>
        <p:nvSpPr>
          <p:cNvPr id="105" name="Shape 102"/>
          <p:cNvSpPr/>
          <p:nvPr/>
        </p:nvSpPr>
        <p:spPr>
          <a:xfrm>
            <a:off x="5084445" y="4895850"/>
            <a:ext cx="8195310" cy="114300"/>
          </a:xfrm>
          <a:prstGeom prst="roundRect">
            <a:avLst>
              <a:gd name="adj" fmla="val 250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06" name="Shape 103"/>
          <p:cNvSpPr/>
          <p:nvPr/>
        </p:nvSpPr>
        <p:spPr>
          <a:xfrm>
            <a:off x="9182100" y="4895850"/>
            <a:ext cx="9525" cy="1143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07" name="Shape 104"/>
          <p:cNvSpPr/>
          <p:nvPr/>
        </p:nvSpPr>
        <p:spPr>
          <a:xfrm>
            <a:off x="9182100" y="4914900"/>
            <a:ext cx="833318" cy="76200"/>
          </a:xfrm>
          <a:prstGeom prst="roundRect">
            <a:avLst>
              <a:gd name="adj" fmla="val 25000"/>
            </a:avLst>
          </a:prstGeom>
          <a:solidFill>
            <a:srgbClr val="3ECF8E"/>
          </a:solidFill>
          <a:ln/>
        </p:spPr>
      </p:sp>
      <p:sp>
        <p:nvSpPr>
          <p:cNvPr id="108" name="Text 105"/>
          <p:cNvSpPr/>
          <p:nvPr/>
        </p:nvSpPr>
        <p:spPr>
          <a:xfrm>
            <a:off x="13298806" y="4895850"/>
            <a:ext cx="952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+₹2,140</a:t>
            </a:r>
            <a:endParaRPr lang="en-US" sz="825" dirty="0"/>
          </a:p>
        </p:txBody>
      </p:sp>
      <p:sp>
        <p:nvSpPr>
          <p:cNvPr id="109" name="Text 106"/>
          <p:cNvSpPr/>
          <p:nvPr/>
        </p:nvSpPr>
        <p:spPr>
          <a:xfrm>
            <a:off x="3369945" y="5107305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= High / Low</a:t>
            </a:r>
            <a:endParaRPr lang="en-US" sz="863" dirty="0"/>
          </a:p>
        </p:txBody>
      </p:sp>
      <p:sp>
        <p:nvSpPr>
          <p:cNvPr id="110" name="Shape 107"/>
          <p:cNvSpPr/>
          <p:nvPr/>
        </p:nvSpPr>
        <p:spPr>
          <a:xfrm>
            <a:off x="5084445" y="5118735"/>
            <a:ext cx="8195310" cy="114300"/>
          </a:xfrm>
          <a:prstGeom prst="roundRect">
            <a:avLst>
              <a:gd name="adj" fmla="val 250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11" name="Shape 108"/>
          <p:cNvSpPr/>
          <p:nvPr/>
        </p:nvSpPr>
        <p:spPr>
          <a:xfrm>
            <a:off x="9182100" y="5118735"/>
            <a:ext cx="9525" cy="1143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12" name="Shape 109"/>
          <p:cNvSpPr/>
          <p:nvPr/>
        </p:nvSpPr>
        <p:spPr>
          <a:xfrm>
            <a:off x="9182100" y="5137785"/>
            <a:ext cx="40958" cy="76200"/>
          </a:xfrm>
          <a:prstGeom prst="roundRect">
            <a:avLst>
              <a:gd name="adj" fmla="val 46511"/>
            </a:avLst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13" name="Text 110"/>
          <p:cNvSpPr/>
          <p:nvPr/>
        </p:nvSpPr>
        <p:spPr>
          <a:xfrm>
            <a:off x="13298806" y="5118735"/>
            <a:ext cx="952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25" dirty="0"/>
          </a:p>
        </p:txBody>
      </p:sp>
      <p:sp>
        <p:nvSpPr>
          <p:cNvPr id="114" name="Text 111"/>
          <p:cNvSpPr/>
          <p:nvPr/>
        </p:nvSpPr>
        <p:spPr>
          <a:xfrm>
            <a:off x="3369945" y="533019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Gap-Up Continuation</a:t>
            </a:r>
            <a:endParaRPr lang="en-US" sz="863" dirty="0"/>
          </a:p>
        </p:txBody>
      </p:sp>
      <p:sp>
        <p:nvSpPr>
          <p:cNvPr id="115" name="Shape 112"/>
          <p:cNvSpPr/>
          <p:nvPr/>
        </p:nvSpPr>
        <p:spPr>
          <a:xfrm>
            <a:off x="5084445" y="5341620"/>
            <a:ext cx="8195310" cy="114300"/>
          </a:xfrm>
          <a:prstGeom prst="roundRect">
            <a:avLst>
              <a:gd name="adj" fmla="val 250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16" name="Shape 113"/>
          <p:cNvSpPr/>
          <p:nvPr/>
        </p:nvSpPr>
        <p:spPr>
          <a:xfrm>
            <a:off x="9182100" y="5341620"/>
            <a:ext cx="9525" cy="1143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17" name="Shape 114"/>
          <p:cNvSpPr/>
          <p:nvPr/>
        </p:nvSpPr>
        <p:spPr>
          <a:xfrm>
            <a:off x="9182100" y="5360670"/>
            <a:ext cx="40958" cy="76200"/>
          </a:xfrm>
          <a:prstGeom prst="roundRect">
            <a:avLst>
              <a:gd name="adj" fmla="val 46511"/>
            </a:avLst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18" name="Text 115"/>
          <p:cNvSpPr/>
          <p:nvPr/>
        </p:nvSpPr>
        <p:spPr>
          <a:xfrm>
            <a:off x="13298806" y="5341620"/>
            <a:ext cx="952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25" dirty="0"/>
          </a:p>
        </p:txBody>
      </p:sp>
      <p:sp>
        <p:nvSpPr>
          <p:cNvPr id="119" name="Text 116"/>
          <p:cNvSpPr/>
          <p:nvPr/>
        </p:nvSpPr>
        <p:spPr>
          <a:xfrm>
            <a:off x="3369945" y="5553075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Reversion</a:t>
            </a:r>
            <a:endParaRPr lang="en-US" sz="863" dirty="0"/>
          </a:p>
        </p:txBody>
      </p:sp>
      <p:sp>
        <p:nvSpPr>
          <p:cNvPr id="120" name="Shape 117"/>
          <p:cNvSpPr/>
          <p:nvPr/>
        </p:nvSpPr>
        <p:spPr>
          <a:xfrm>
            <a:off x="5084445" y="5564505"/>
            <a:ext cx="8195310" cy="114300"/>
          </a:xfrm>
          <a:prstGeom prst="roundRect">
            <a:avLst>
              <a:gd name="adj" fmla="val 250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21" name="Shape 118"/>
          <p:cNvSpPr/>
          <p:nvPr/>
        </p:nvSpPr>
        <p:spPr>
          <a:xfrm>
            <a:off x="9182100" y="5564505"/>
            <a:ext cx="9525" cy="1143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22" name="Shape 119"/>
          <p:cNvSpPr/>
          <p:nvPr/>
        </p:nvSpPr>
        <p:spPr>
          <a:xfrm>
            <a:off x="9182100" y="5583555"/>
            <a:ext cx="40958" cy="76200"/>
          </a:xfrm>
          <a:prstGeom prst="roundRect">
            <a:avLst>
              <a:gd name="adj" fmla="val 46511"/>
            </a:avLst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23" name="Text 120"/>
          <p:cNvSpPr/>
          <p:nvPr/>
        </p:nvSpPr>
        <p:spPr>
          <a:xfrm>
            <a:off x="13298806" y="5564505"/>
            <a:ext cx="952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25" dirty="0"/>
          </a:p>
        </p:txBody>
      </p:sp>
      <p:sp>
        <p:nvSpPr>
          <p:cNvPr id="124" name="Text 121"/>
          <p:cNvSpPr/>
          <p:nvPr/>
        </p:nvSpPr>
        <p:spPr>
          <a:xfrm>
            <a:off x="3369945" y="5775960"/>
            <a:ext cx="17811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Breakout</a:t>
            </a:r>
            <a:endParaRPr lang="en-US" sz="863" dirty="0"/>
          </a:p>
        </p:txBody>
      </p:sp>
      <p:sp>
        <p:nvSpPr>
          <p:cNvPr id="125" name="Shape 122"/>
          <p:cNvSpPr/>
          <p:nvPr/>
        </p:nvSpPr>
        <p:spPr>
          <a:xfrm>
            <a:off x="5084445" y="5787390"/>
            <a:ext cx="8195310" cy="114300"/>
          </a:xfrm>
          <a:prstGeom prst="roundRect">
            <a:avLst>
              <a:gd name="adj" fmla="val 250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26" name="Shape 123"/>
          <p:cNvSpPr/>
          <p:nvPr/>
        </p:nvSpPr>
        <p:spPr>
          <a:xfrm>
            <a:off x="9182100" y="5787390"/>
            <a:ext cx="9525" cy="1143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27" name="Shape 124"/>
          <p:cNvSpPr/>
          <p:nvPr/>
        </p:nvSpPr>
        <p:spPr>
          <a:xfrm>
            <a:off x="9182100" y="5806440"/>
            <a:ext cx="40958" cy="76200"/>
          </a:xfrm>
          <a:prstGeom prst="roundRect">
            <a:avLst>
              <a:gd name="adj" fmla="val 46511"/>
            </a:avLst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28" name="Text 125"/>
          <p:cNvSpPr/>
          <p:nvPr/>
        </p:nvSpPr>
        <p:spPr>
          <a:xfrm>
            <a:off x="13298806" y="5787390"/>
            <a:ext cx="952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25" dirty="0"/>
          </a:p>
        </p:txBody>
      </p:sp>
      <p:sp>
        <p:nvSpPr>
          <p:cNvPr id="129" name="Shape 126"/>
          <p:cNvSpPr/>
          <p:nvPr/>
        </p:nvSpPr>
        <p:spPr>
          <a:xfrm>
            <a:off x="14516100" y="3891915"/>
            <a:ext cx="3619500" cy="2152650"/>
          </a:xfrm>
          <a:prstGeom prst="roundRect">
            <a:avLst>
              <a:gd name="adj" fmla="val 5310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14666595" y="4023360"/>
            <a:ext cx="365036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 SESSIONS</a:t>
            </a:r>
            <a:endParaRPr lang="en-US" sz="713" dirty="0"/>
          </a:p>
        </p:txBody>
      </p:sp>
      <p:sp>
        <p:nvSpPr>
          <p:cNvPr id="131" name="Text 128"/>
          <p:cNvSpPr/>
          <p:nvPr/>
        </p:nvSpPr>
        <p:spPr>
          <a:xfrm>
            <a:off x="14666595" y="4244340"/>
            <a:ext cx="1066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 · JUN 29</a:t>
            </a:r>
            <a:endParaRPr lang="en-US" sz="750" dirty="0"/>
          </a:p>
        </p:txBody>
      </p:sp>
      <p:sp>
        <p:nvSpPr>
          <p:cNvPr id="132" name="Shape 129"/>
          <p:cNvSpPr/>
          <p:nvPr/>
        </p:nvSpPr>
        <p:spPr>
          <a:xfrm>
            <a:off x="15752445" y="4263390"/>
            <a:ext cx="131826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33" name="Shape 130"/>
          <p:cNvSpPr/>
          <p:nvPr/>
        </p:nvSpPr>
        <p:spPr>
          <a:xfrm>
            <a:off x="16411575" y="4263390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34" name="Shape 131"/>
          <p:cNvSpPr/>
          <p:nvPr/>
        </p:nvSpPr>
        <p:spPr>
          <a:xfrm>
            <a:off x="16411575" y="4277678"/>
            <a:ext cx="274082" cy="47625"/>
          </a:xfrm>
          <a:prstGeom prst="roundRect">
            <a:avLst>
              <a:gd name="adj" fmla="val 40000"/>
            </a:avLst>
          </a:prstGeom>
          <a:solidFill>
            <a:srgbClr val="3ECF8E"/>
          </a:solidFill>
          <a:ln/>
        </p:spPr>
      </p:sp>
      <p:sp>
        <p:nvSpPr>
          <p:cNvPr id="135" name="Text 132"/>
          <p:cNvSpPr/>
          <p:nvPr/>
        </p:nvSpPr>
        <p:spPr>
          <a:xfrm>
            <a:off x="17089756" y="424434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+₹8,420</a:t>
            </a:r>
            <a:endParaRPr lang="en-US" sz="825" dirty="0"/>
          </a:p>
        </p:txBody>
      </p:sp>
      <p:sp>
        <p:nvSpPr>
          <p:cNvPr id="136" name="Text 133"/>
          <p:cNvSpPr/>
          <p:nvPr/>
        </p:nvSpPr>
        <p:spPr>
          <a:xfrm>
            <a:off x="14666595" y="4511040"/>
            <a:ext cx="1066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TUE · JUN 30</a:t>
            </a:r>
            <a:endParaRPr lang="en-US" sz="750" dirty="0"/>
          </a:p>
        </p:txBody>
      </p:sp>
      <p:sp>
        <p:nvSpPr>
          <p:cNvPr id="137" name="Shape 134"/>
          <p:cNvSpPr/>
          <p:nvPr/>
        </p:nvSpPr>
        <p:spPr>
          <a:xfrm>
            <a:off x="15752445" y="4530090"/>
            <a:ext cx="131826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38" name="Shape 135"/>
          <p:cNvSpPr/>
          <p:nvPr/>
        </p:nvSpPr>
        <p:spPr>
          <a:xfrm>
            <a:off x="16411575" y="4530090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39" name="Shape 136"/>
          <p:cNvSpPr/>
          <p:nvPr/>
        </p:nvSpPr>
        <p:spPr>
          <a:xfrm>
            <a:off x="16411575" y="4544378"/>
            <a:ext cx="70961" cy="47625"/>
          </a:xfrm>
          <a:prstGeom prst="roundRect">
            <a:avLst>
              <a:gd name="adj" fmla="val 40000"/>
            </a:avLst>
          </a:prstGeom>
          <a:solidFill>
            <a:srgbClr val="3ECF8E"/>
          </a:solidFill>
          <a:ln/>
        </p:spPr>
      </p:sp>
      <p:sp>
        <p:nvSpPr>
          <p:cNvPr id="140" name="Text 137"/>
          <p:cNvSpPr/>
          <p:nvPr/>
        </p:nvSpPr>
        <p:spPr>
          <a:xfrm>
            <a:off x="17089756" y="451104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+₹2,180</a:t>
            </a:r>
            <a:endParaRPr lang="en-US" sz="825" dirty="0"/>
          </a:p>
        </p:txBody>
      </p:sp>
      <p:sp>
        <p:nvSpPr>
          <p:cNvPr id="141" name="Text 138"/>
          <p:cNvSpPr/>
          <p:nvPr/>
        </p:nvSpPr>
        <p:spPr>
          <a:xfrm>
            <a:off x="14666595" y="4777740"/>
            <a:ext cx="1066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WED · JUL 01</a:t>
            </a:r>
            <a:endParaRPr lang="en-US" sz="750" dirty="0"/>
          </a:p>
        </p:txBody>
      </p:sp>
      <p:sp>
        <p:nvSpPr>
          <p:cNvPr id="142" name="Shape 139"/>
          <p:cNvSpPr/>
          <p:nvPr/>
        </p:nvSpPr>
        <p:spPr>
          <a:xfrm>
            <a:off x="15752445" y="4796790"/>
            <a:ext cx="131826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43" name="Shape 140"/>
          <p:cNvSpPr/>
          <p:nvPr/>
        </p:nvSpPr>
        <p:spPr>
          <a:xfrm>
            <a:off x="16411575" y="4796790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44" name="Shape 141"/>
          <p:cNvSpPr/>
          <p:nvPr/>
        </p:nvSpPr>
        <p:spPr>
          <a:xfrm>
            <a:off x="16205121" y="4811078"/>
            <a:ext cx="206335" cy="47625"/>
          </a:xfrm>
          <a:prstGeom prst="roundRect">
            <a:avLst>
              <a:gd name="adj" fmla="val 40000"/>
            </a:avLst>
          </a:prstGeom>
          <a:solidFill>
            <a:srgbClr val="F16F7B"/>
          </a:solidFill>
          <a:ln/>
        </p:spPr>
      </p:sp>
      <p:sp>
        <p:nvSpPr>
          <p:cNvPr id="145" name="Text 142"/>
          <p:cNvSpPr/>
          <p:nvPr/>
        </p:nvSpPr>
        <p:spPr>
          <a:xfrm>
            <a:off x="17089756" y="477774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−₹6,340</a:t>
            </a:r>
            <a:endParaRPr lang="en-US" sz="825" dirty="0"/>
          </a:p>
        </p:txBody>
      </p:sp>
      <p:sp>
        <p:nvSpPr>
          <p:cNvPr id="146" name="Text 143"/>
          <p:cNvSpPr/>
          <p:nvPr/>
        </p:nvSpPr>
        <p:spPr>
          <a:xfrm>
            <a:off x="14666595" y="5044440"/>
            <a:ext cx="1066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JUL 02</a:t>
            </a:r>
            <a:endParaRPr lang="en-US" sz="750" dirty="0"/>
          </a:p>
        </p:txBody>
      </p:sp>
      <p:sp>
        <p:nvSpPr>
          <p:cNvPr id="147" name="Shape 144"/>
          <p:cNvSpPr/>
          <p:nvPr/>
        </p:nvSpPr>
        <p:spPr>
          <a:xfrm>
            <a:off x="15752445" y="5063490"/>
            <a:ext cx="131826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48" name="Shape 145"/>
          <p:cNvSpPr/>
          <p:nvPr/>
        </p:nvSpPr>
        <p:spPr>
          <a:xfrm>
            <a:off x="16411575" y="5063490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49" name="Shape 146"/>
          <p:cNvSpPr/>
          <p:nvPr/>
        </p:nvSpPr>
        <p:spPr>
          <a:xfrm>
            <a:off x="16411575" y="5077778"/>
            <a:ext cx="358735" cy="47625"/>
          </a:xfrm>
          <a:prstGeom prst="roundRect">
            <a:avLst>
              <a:gd name="adj" fmla="val 40000"/>
            </a:avLst>
          </a:prstGeom>
          <a:solidFill>
            <a:srgbClr val="3ECF8E"/>
          </a:solidFill>
          <a:ln/>
        </p:spPr>
      </p:sp>
      <p:sp>
        <p:nvSpPr>
          <p:cNvPr id="150" name="Text 147"/>
          <p:cNvSpPr/>
          <p:nvPr/>
        </p:nvSpPr>
        <p:spPr>
          <a:xfrm>
            <a:off x="17089756" y="5044440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+₹11,020</a:t>
            </a:r>
            <a:endParaRPr lang="en-US" sz="825" dirty="0"/>
          </a:p>
        </p:txBody>
      </p:sp>
      <p:sp>
        <p:nvSpPr>
          <p:cNvPr id="151" name="Text 148"/>
          <p:cNvSpPr/>
          <p:nvPr/>
        </p:nvSpPr>
        <p:spPr>
          <a:xfrm>
            <a:off x="14666595" y="5313045"/>
            <a:ext cx="1066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· JUL 03</a:t>
            </a:r>
            <a:endParaRPr lang="en-US" sz="750" dirty="0"/>
          </a:p>
        </p:txBody>
      </p:sp>
      <p:sp>
        <p:nvSpPr>
          <p:cNvPr id="152" name="Shape 149"/>
          <p:cNvSpPr/>
          <p:nvPr/>
        </p:nvSpPr>
        <p:spPr>
          <a:xfrm>
            <a:off x="15752445" y="5311140"/>
            <a:ext cx="262890" cy="118110"/>
          </a:xfrm>
          <a:prstGeom prst="roundRect">
            <a:avLst>
              <a:gd name="adj" fmla="val 24194"/>
            </a:avLst>
          </a:prstGeom>
          <a:ln w="7620">
            <a:solidFill>
              <a:srgbClr val="8F97F9">
                <a:alpha val="50000"/>
              </a:srgbClr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15798165" y="5328285"/>
            <a:ext cx="247650" cy="12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563" dirty="0"/>
          </a:p>
        </p:txBody>
      </p:sp>
      <p:sp>
        <p:nvSpPr>
          <p:cNvPr id="154" name="Shape 151"/>
          <p:cNvSpPr/>
          <p:nvPr/>
        </p:nvSpPr>
        <p:spPr>
          <a:xfrm>
            <a:off x="16110585" y="5332095"/>
            <a:ext cx="96012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55" name="Shape 152"/>
          <p:cNvSpPr/>
          <p:nvPr/>
        </p:nvSpPr>
        <p:spPr>
          <a:xfrm>
            <a:off x="16590645" y="5332095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56" name="Shape 153"/>
          <p:cNvSpPr/>
          <p:nvPr/>
        </p:nvSpPr>
        <p:spPr>
          <a:xfrm>
            <a:off x="16148924" y="5346382"/>
            <a:ext cx="441603" cy="47625"/>
          </a:xfrm>
          <a:prstGeom prst="roundRect">
            <a:avLst>
              <a:gd name="adj" fmla="val 40000"/>
            </a:avLst>
          </a:prstGeom>
          <a:solidFill>
            <a:srgbClr val="F16F7B"/>
          </a:solidFill>
          <a:ln/>
        </p:spPr>
      </p:sp>
      <p:sp>
        <p:nvSpPr>
          <p:cNvPr id="157" name="Text 154"/>
          <p:cNvSpPr/>
          <p:nvPr/>
        </p:nvSpPr>
        <p:spPr>
          <a:xfrm>
            <a:off x="17089756" y="5313045"/>
            <a:ext cx="895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−₹18,623</a:t>
            </a:r>
            <a:endParaRPr lang="en-US" sz="825" dirty="0"/>
          </a:p>
        </p:txBody>
      </p:sp>
      <p:sp>
        <p:nvSpPr>
          <p:cNvPr id="158" name="Text 155"/>
          <p:cNvSpPr/>
          <p:nvPr/>
        </p:nvSpPr>
        <p:spPr>
          <a:xfrm>
            <a:off x="14666595" y="5791200"/>
            <a:ext cx="365036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account · day 34 of 60-session validation run</a:t>
            </a:r>
            <a:endParaRPr lang="en-US" sz="750" dirty="0"/>
          </a:p>
        </p:txBody>
      </p:sp>
      <p:sp>
        <p:nvSpPr>
          <p:cNvPr id="159" name="Shape 156"/>
          <p:cNvSpPr/>
          <p:nvPr/>
        </p:nvSpPr>
        <p:spPr>
          <a:xfrm>
            <a:off x="16178928" y="9626918"/>
            <a:ext cx="1937623" cy="488632"/>
          </a:xfrm>
          <a:prstGeom prst="roundRect">
            <a:avLst>
              <a:gd name="adj" fmla="val 21443"/>
            </a:avLst>
          </a:prstGeom>
          <a:solidFill>
            <a:srgbClr val="1B1D27"/>
          </a:solidFill>
          <a:ln/>
          <a:effectLst>
            <a:outerShdw sx="100000" sy="100000" kx="0" ky="0" algn="bl" rotWithShape="0" blurRad="476250" dist="171450" dir="5400000">
              <a:srgbClr val="000000">
                <a:alpha val="50000"/>
              </a:srgbClr>
            </a:outerShdw>
          </a:effectLst>
        </p:spPr>
      </p:sp>
      <p:sp>
        <p:nvSpPr>
          <p:cNvPr id="160" name="Shape 157"/>
          <p:cNvSpPr/>
          <p:nvPr/>
        </p:nvSpPr>
        <p:spPr>
          <a:xfrm>
            <a:off x="16178928" y="10107930"/>
            <a:ext cx="1937623" cy="9525"/>
          </a:xfrm>
          <a:prstGeom prst="rect">
            <a:avLst/>
          </a:prstGeom>
          <a:solidFill>
            <a:srgbClr val="949EDC">
              <a:alpha val="20000"/>
            </a:srgbClr>
          </a:solidFill>
          <a:ln/>
        </p:spPr>
      </p:sp>
      <p:sp>
        <p:nvSpPr>
          <p:cNvPr id="161" name="Shape 158"/>
          <p:cNvSpPr/>
          <p:nvPr/>
        </p:nvSpPr>
        <p:spPr>
          <a:xfrm>
            <a:off x="16178928" y="9626918"/>
            <a:ext cx="1937623" cy="9525"/>
          </a:xfrm>
          <a:prstGeom prst="rect">
            <a:avLst/>
          </a:prstGeom>
          <a:solidFill>
            <a:srgbClr val="949EDC">
              <a:alpha val="20000"/>
            </a:srgbClr>
          </a:solidFill>
          <a:ln/>
        </p:spPr>
      </p:sp>
      <p:sp>
        <p:nvSpPr>
          <p:cNvPr id="162" name="Shape 159"/>
          <p:cNvSpPr/>
          <p:nvPr/>
        </p:nvSpPr>
        <p:spPr>
          <a:xfrm>
            <a:off x="16178928" y="9626918"/>
            <a:ext cx="22860" cy="488632"/>
          </a:xfrm>
          <a:prstGeom prst="rect">
            <a:avLst/>
          </a:prstGeom>
          <a:solidFill>
            <a:srgbClr val="EEB653"/>
          </a:solidFill>
          <a:ln/>
        </p:spPr>
      </p:sp>
      <p:sp>
        <p:nvSpPr>
          <p:cNvPr id="163" name="Shape 160"/>
          <p:cNvSpPr/>
          <p:nvPr/>
        </p:nvSpPr>
        <p:spPr>
          <a:xfrm>
            <a:off x="18108931" y="9626918"/>
            <a:ext cx="9525" cy="488632"/>
          </a:xfrm>
          <a:prstGeom prst="rect">
            <a:avLst/>
          </a:prstGeom>
          <a:solidFill>
            <a:srgbClr val="949EDC">
              <a:alpha val="20000"/>
            </a:srgbClr>
          </a:solidFill>
          <a:ln/>
        </p:spPr>
      </p:sp>
      <p:sp>
        <p:nvSpPr>
          <p:cNvPr id="164" name="Text 161"/>
          <p:cNvSpPr/>
          <p:nvPr/>
        </p:nvSpPr>
        <p:spPr>
          <a:xfrm>
            <a:off x="16335137" y="9739313"/>
            <a:ext cx="180448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41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BLOCKED</a:t>
            </a:r>
            <a:endParaRPr lang="en-US" sz="675" dirty="0"/>
          </a:p>
        </p:txBody>
      </p:sp>
      <p:sp>
        <p:nvSpPr>
          <p:cNvPr id="165" name="Text 162"/>
          <p:cNvSpPr/>
          <p:nvPr/>
        </p:nvSpPr>
        <p:spPr>
          <a:xfrm>
            <a:off x="16335137" y="9849802"/>
            <a:ext cx="180448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 → SELL TCS ×30</a:t>
            </a:r>
            <a:endParaRPr lang="en-US" sz="86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7050" cy="10287000"/>
          </a:xfrm>
          <a:prstGeom prst="rect">
            <a:avLst/>
          </a:prstGeom>
          <a:solidFill>
            <a:srgbClr val="171923"/>
          </a:solidFill>
          <a:ln/>
        </p:spPr>
      </p:sp>
      <p:sp>
        <p:nvSpPr>
          <p:cNvPr id="3" name="Shape 1"/>
          <p:cNvSpPr/>
          <p:nvPr/>
        </p:nvSpPr>
        <p:spPr>
          <a:xfrm>
            <a:off x="3059430" y="0"/>
            <a:ext cx="9525" cy="10287000"/>
          </a:xfrm>
          <a:prstGeom prst="rect">
            <a:avLst/>
          </a:prstGeom>
          <a:solidFill>
            <a:srgbClr val="949ED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5" name="Shape 3"/>
          <p:cNvSpPr/>
          <p:nvPr/>
        </p:nvSpPr>
        <p:spPr>
          <a:xfrm>
            <a:off x="223838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2400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3838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8" name="Text 6"/>
          <p:cNvSpPr/>
          <p:nvPr/>
        </p:nvSpPr>
        <p:spPr>
          <a:xfrm>
            <a:off x="357188" y="152400"/>
            <a:ext cx="834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8968" y="160020"/>
            <a:ext cx="688062" cy="144780"/>
          </a:xfrm>
          <a:prstGeom prst="roundRect">
            <a:avLst>
              <a:gd name="adj" fmla="val 26316"/>
            </a:avLst>
          </a:prstGeom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3738" y="186690"/>
            <a:ext cx="63472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57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MODE</a:t>
            </a:r>
            <a:endParaRPr lang="en-US" sz="638" dirty="0"/>
          </a:p>
        </p:txBody>
      </p:sp>
      <p:sp>
        <p:nvSpPr>
          <p:cNvPr id="11" name="Text 9"/>
          <p:cNvSpPr/>
          <p:nvPr/>
        </p:nvSpPr>
        <p:spPr>
          <a:xfrm>
            <a:off x="152400" y="436245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P&amp;L · 09:15 → NOW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152400" y="571500"/>
            <a:ext cx="3030093" cy="40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75" b="1" spc="-55" kern="0" dirty="0">
                <a:solidFill>
                  <a:srgbClr val="F1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−₹18,524</a:t>
            </a:r>
            <a:endParaRPr lang="en-US" sz="2775" dirty="0"/>
          </a:p>
        </p:txBody>
      </p:sp>
      <p:sp>
        <p:nvSpPr>
          <p:cNvPr id="13" name="Text 11"/>
          <p:cNvSpPr/>
          <p:nvPr/>
        </p:nvSpPr>
        <p:spPr>
          <a:xfrm>
            <a:off x="152400" y="970121"/>
            <a:ext cx="84617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</a:t>
            </a:r>
            <a:pPr algn="l" indent="0" marL="0">
              <a:buNone/>
            </a:pPr>
            <a:r>
              <a:rPr lang="en-US" sz="788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−₹20,540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1046202" y="970121"/>
            <a:ext cx="78617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unrl </a:t>
            </a:r>
            <a:pPr algn="l" indent="0" marL="0">
              <a:buNone/>
            </a:pPr>
            <a:r>
              <a:rPr lang="en-US" sz="788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+₹2,016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152400" y="1223486"/>
            <a:ext cx="2754630" cy="1158240"/>
          </a:xfrm>
          <a:prstGeom prst="roundRect">
            <a:avLst>
              <a:gd name="adj" fmla="val 9868"/>
            </a:avLst>
          </a:prstGeom>
          <a:solidFill>
            <a:srgbClr val="1B1D27"/>
          </a:solidFill>
          <a:ln w="7620">
            <a:solidFill>
              <a:srgbClr val="EEB65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" y="1345406"/>
            <a:ext cx="914400" cy="914400"/>
          </a:xfrm>
          <a:prstGeom prst="ellipse">
            <a:avLst/>
          </a:prstGeom>
          <a:solidFill>
            <a:srgbClr val="EEB653"/>
          </a:solidFill>
          <a:ln/>
        </p:spPr>
      </p:sp>
      <p:sp>
        <p:nvSpPr>
          <p:cNvPr id="17" name="Text 15"/>
          <p:cNvSpPr/>
          <p:nvPr/>
        </p:nvSpPr>
        <p:spPr>
          <a:xfrm>
            <a:off x="531257" y="1634966"/>
            <a:ext cx="49565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89585" y="1878806"/>
            <a:ext cx="57912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36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LIMIT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31595" y="1482923"/>
            <a:ext cx="1588389" cy="185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₹20,540 of ₹25,000 daily limit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1331595" y="1668899"/>
            <a:ext cx="1520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auto-halt at 100%. Exits always allowed.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31595" y="1973699"/>
            <a:ext cx="1343144" cy="148590"/>
          </a:xfrm>
          <a:prstGeom prst="roundRect">
            <a:avLst>
              <a:gd name="adj" fmla="val 25641"/>
            </a:avLst>
          </a:prstGeom>
          <a:solidFill>
            <a:srgbClr val="EEB653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88745" y="2002274"/>
            <a:ext cx="130504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8" kern="0" dirty="0">
                <a:solidFill>
                  <a:srgbClr val="EEB653"/>
                </a:solidFill>
                <a:highlight>
                  <a:srgbClr val="FDF8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ARMED </a:t>
            </a:r>
            <a:pPr algn="l" indent="0" marL="0">
              <a:buNone/>
            </a:pPr>
            <a:r>
              <a:rPr lang="en-US" sz="638" b="1" spc="38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13:15 IST</a:t>
            </a:r>
            <a:endParaRPr lang="en-US" sz="638" dirty="0"/>
          </a:p>
        </p:txBody>
      </p:sp>
      <p:sp>
        <p:nvSpPr>
          <p:cNvPr id="23" name="Shape 21"/>
          <p:cNvSpPr/>
          <p:nvPr/>
        </p:nvSpPr>
        <p:spPr>
          <a:xfrm>
            <a:off x="152400" y="2505551"/>
            <a:ext cx="2754630" cy="994410"/>
          </a:xfrm>
          <a:prstGeom prst="roundRect">
            <a:avLst>
              <a:gd name="adj" fmla="val 11494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370" y="267700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436245" y="2636996"/>
            <a:ext cx="40528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080141" y="2652236"/>
            <a:ext cx="7621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FYERS · 41ms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98120" y="285035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" y="297418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9" name="Text 27"/>
          <p:cNvSpPr/>
          <p:nvPr/>
        </p:nvSpPr>
        <p:spPr>
          <a:xfrm>
            <a:off x="436245" y="2934176"/>
            <a:ext cx="43088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679972" y="2949416"/>
            <a:ext cx="116228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13:42:31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8120" y="314753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" y="3271361"/>
            <a:ext cx="57150" cy="57150"/>
          </a:xfrm>
          <a:prstGeom prst="ellipse">
            <a:avLst/>
          </a:prstGeom>
          <a:solidFill>
            <a:srgbClr val="8F97F9"/>
          </a:solidFill>
          <a:ln/>
        </p:spPr>
      </p:sp>
      <p:sp>
        <p:nvSpPr>
          <p:cNvPr id="33" name="Text 31"/>
          <p:cNvSpPr/>
          <p:nvPr/>
        </p:nvSpPr>
        <p:spPr>
          <a:xfrm>
            <a:off x="436245" y="3231356"/>
            <a:ext cx="41874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622822" y="3246596"/>
            <a:ext cx="121943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· 27 signals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2400" y="8660606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CONTROLS</a:t>
            </a:r>
            <a:endParaRPr lang="en-US" sz="713" dirty="0"/>
          </a:p>
        </p:txBody>
      </p:sp>
      <p:sp>
        <p:nvSpPr>
          <p:cNvPr id="36" name="Shape 34"/>
          <p:cNvSpPr/>
          <p:nvPr/>
        </p:nvSpPr>
        <p:spPr>
          <a:xfrm>
            <a:off x="152400" y="8843486"/>
            <a:ext cx="2754630" cy="419100"/>
          </a:xfrm>
          <a:prstGeom prst="roundRect">
            <a:avLst>
              <a:gd name="adj" fmla="val 25000"/>
            </a:avLst>
          </a:prstGeom>
          <a:solidFill>
            <a:srgbClr val="EEB653">
              <a:alpha val="8000"/>
            </a:srgbClr>
          </a:solidFill>
          <a:ln w="7620">
            <a:solidFill>
              <a:srgbClr val="EEB653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851" y="8860631"/>
            <a:ext cx="2707729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69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⏸ PAUSE ALL TRADING</a:t>
            </a:r>
            <a:endParaRPr lang="en-US" sz="863" dirty="0"/>
          </a:p>
        </p:txBody>
      </p:sp>
      <p:sp>
        <p:nvSpPr>
          <p:cNvPr id="38" name="Shape 36"/>
          <p:cNvSpPr/>
          <p:nvPr/>
        </p:nvSpPr>
        <p:spPr>
          <a:xfrm>
            <a:off x="152400" y="9338786"/>
            <a:ext cx="2754630" cy="476250"/>
          </a:xfrm>
          <a:prstGeom prst="roundRect">
            <a:avLst>
              <a:gd name="adj" fmla="val 22000"/>
            </a:avLst>
          </a:prstGeom>
          <a:solidFill>
            <a:srgbClr val="3A1D22"/>
          </a:solidFill>
          <a:ln w="7620">
            <a:solidFill>
              <a:srgbClr val="F16F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441" y="9453086"/>
            <a:ext cx="9565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SWITCH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042" y="9601676"/>
            <a:ext cx="865346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spc="32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TO CONFIRM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152400" y="9891237"/>
            <a:ext cx="2837269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trades; you supervise. Pause and kill are the only manual levers — there is deliberately no order ticket.</a:t>
            </a:r>
            <a:endParaRPr lang="en-US" sz="713" dirty="0"/>
          </a:p>
        </p:txBody>
      </p:sp>
      <p:sp>
        <p:nvSpPr>
          <p:cNvPr id="42" name="Shape 40"/>
          <p:cNvSpPr/>
          <p:nvPr/>
        </p:nvSpPr>
        <p:spPr>
          <a:xfrm>
            <a:off x="3067050" y="476250"/>
            <a:ext cx="1522095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86125" y="173355"/>
            <a:ext cx="55256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91094" y="173355"/>
            <a:ext cx="59090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34401" y="173355"/>
            <a:ext cx="54006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26869" y="173355"/>
            <a:ext cx="4255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04798" y="173355"/>
            <a:ext cx="29229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87596" y="173355"/>
            <a:ext cx="53994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Digest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68546" y="436245"/>
            <a:ext cx="501848" cy="19050"/>
          </a:xfrm>
          <a:prstGeom prst="roundRect">
            <a:avLst>
              <a:gd name="adj" fmla="val 50000"/>
            </a:avLst>
          </a:prstGeom>
          <a:solidFill>
            <a:srgbClr val="8F97F9"/>
          </a:solidFill>
          <a:ln/>
        </p:spPr>
      </p:sp>
      <p:sp>
        <p:nvSpPr>
          <p:cNvPr id="50" name="Text 48"/>
          <p:cNvSpPr/>
          <p:nvPr/>
        </p:nvSpPr>
        <p:spPr>
          <a:xfrm>
            <a:off x="7141845" y="173355"/>
            <a:ext cx="4892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5330488" y="177165"/>
            <a:ext cx="151779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13:42:31 IST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16824603" y="120015"/>
            <a:ext cx="1310997" cy="236220"/>
          </a:xfrm>
          <a:prstGeom prst="roundRect">
            <a:avLst>
              <a:gd name="adj" fmla="val 50000"/>
            </a:avLst>
          </a:prstGeom>
          <a:solidFill>
            <a:srgbClr val="3ECF8E">
              <a:alpha val="8000"/>
            </a:srgbClr>
          </a:solidFill>
          <a:ln w="7620">
            <a:solidFill>
              <a:srgbClr val="3ECF8E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936998" y="209550"/>
            <a:ext cx="57150" cy="57150"/>
          </a:xfrm>
          <a:prstGeom prst="ellipse">
            <a:avLst/>
          </a:prstGeom>
          <a:solidFill>
            <a:srgbClr val="3ECF8E">
              <a:alpha val="2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7060823" y="184785"/>
            <a:ext cx="73306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 ·</a:t>
            </a:r>
            <a:endParaRPr lang="en-US" sz="713" dirty="0"/>
          </a:p>
        </p:txBody>
      </p:sp>
      <p:sp>
        <p:nvSpPr>
          <p:cNvPr id="55" name="Text 53"/>
          <p:cNvSpPr/>
          <p:nvPr/>
        </p:nvSpPr>
        <p:spPr>
          <a:xfrm>
            <a:off x="17784366" y="184785"/>
            <a:ext cx="31503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41ms</a:t>
            </a:r>
            <a:endParaRPr lang="en-US" sz="713" dirty="0"/>
          </a:p>
        </p:txBody>
      </p:sp>
      <p:sp>
        <p:nvSpPr>
          <p:cNvPr id="56" name="Shape 54"/>
          <p:cNvSpPr/>
          <p:nvPr/>
        </p:nvSpPr>
        <p:spPr>
          <a:xfrm>
            <a:off x="3067050" y="483870"/>
            <a:ext cx="15220950" cy="396240"/>
          </a:xfrm>
          <a:prstGeom prst="rect">
            <a:avLst/>
          </a:prstGeom>
          <a:solidFill>
            <a:srgbClr val="EEB653">
              <a:alpha val="11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067050" y="872490"/>
            <a:ext cx="15220950" cy="9525"/>
          </a:xfrm>
          <a:prstGeom prst="rect">
            <a:avLst/>
          </a:prstGeom>
          <a:solidFill>
            <a:srgbClr val="EEB653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219450" y="575310"/>
            <a:ext cx="205740" cy="205740"/>
          </a:xfrm>
          <a:prstGeom prst="ellipse">
            <a:avLst/>
          </a:prstGeom>
          <a:ln w="7620">
            <a:solidFill>
              <a:srgbClr val="EEB653">
                <a:alpha val="64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88970" y="58293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B653">
                    <a:alpha val="6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29965" y="598170"/>
            <a:ext cx="72509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 at 82% of limit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₹20,540 of ₹25,000 realized. New entries auto-halt at 100%; exits and stop-losses stay active.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5762684" y="65436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949EDC">
              <a:alpha val="1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762684" y="654368"/>
            <a:ext cx="1017270" cy="47625"/>
          </a:xfrm>
          <a:prstGeom prst="rect">
            <a:avLst/>
          </a:prstGeom>
          <a:solidFill>
            <a:srgbClr val="EEB653"/>
          </a:solidFill>
          <a:ln/>
        </p:spPr>
      </p:sp>
      <p:sp>
        <p:nvSpPr>
          <p:cNvPr id="63" name="Shape 61"/>
          <p:cNvSpPr/>
          <p:nvPr/>
        </p:nvSpPr>
        <p:spPr>
          <a:xfrm>
            <a:off x="17105709" y="560070"/>
            <a:ext cx="1029891" cy="236220"/>
          </a:xfrm>
          <a:prstGeom prst="roundRect">
            <a:avLst>
              <a:gd name="adj" fmla="val 28226"/>
            </a:avLst>
          </a:prstGeom>
          <a:solidFill>
            <a:srgbClr val="EEB653">
              <a:alpha val="10000"/>
            </a:srgbClr>
          </a:solidFill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180004" y="624840"/>
            <a:ext cx="88130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38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ENTRIES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219450" y="1003935"/>
            <a:ext cx="1013222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 read</a:t>
            </a:r>
            <a:endParaRPr lang="en-US" sz="1125" dirty="0"/>
          </a:p>
        </p:txBody>
      </p:sp>
      <p:sp>
        <p:nvSpPr>
          <p:cNvPr id="66" name="Text 64"/>
          <p:cNvSpPr/>
          <p:nvPr/>
        </p:nvSpPr>
        <p:spPr>
          <a:xfrm>
            <a:off x="4270772" y="1034415"/>
            <a:ext cx="634609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only — the AI nudges signal confidence (±0.15 max) and writes digests. It never places, sizes or cancels orders.</a:t>
            </a:r>
            <a:endParaRPr lang="en-US" sz="788" dirty="0"/>
          </a:p>
        </p:txBody>
      </p:sp>
      <p:sp>
        <p:nvSpPr>
          <p:cNvPr id="67" name="Shape 65"/>
          <p:cNvSpPr/>
          <p:nvPr/>
        </p:nvSpPr>
        <p:spPr>
          <a:xfrm>
            <a:off x="3219450" y="1285875"/>
            <a:ext cx="3619500" cy="1556385"/>
          </a:xfrm>
          <a:prstGeom prst="roundRect">
            <a:avLst>
              <a:gd name="adj" fmla="val 7344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69945" y="1480185"/>
            <a:ext cx="646152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</a:t>
            </a:r>
            <a:endParaRPr lang="en-US" sz="713" dirty="0"/>
          </a:p>
        </p:txBody>
      </p:sp>
      <p:sp>
        <p:nvSpPr>
          <p:cNvPr id="69" name="Text 67"/>
          <p:cNvSpPr/>
          <p:nvPr/>
        </p:nvSpPr>
        <p:spPr>
          <a:xfrm>
            <a:off x="5407938" y="1426845"/>
            <a:ext cx="140856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−0.22 CAUTIOUS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369945" y="1697355"/>
            <a:ext cx="3318510" cy="57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16F7B">
                  <a:alpha val="55000"/>
                </a:srgbClr>
              </a:gs>
              <a:gs pos="50000">
                <a:srgbClr val="949EDC">
                  <a:alpha val="12000"/>
                </a:srgbClr>
              </a:gs>
              <a:gs pos="100000">
                <a:srgbClr val="3ECF8E">
                  <a:alpha val="55000"/>
                </a:srgbClr>
              </a:gs>
            </a:gsLst>
            <a:lin ang="0" scaled="0"/>
          </a:gradFill>
          <a:ln/>
        </p:spPr>
      </p:sp>
      <p:sp>
        <p:nvSpPr>
          <p:cNvPr id="71" name="Shape 69"/>
          <p:cNvSpPr/>
          <p:nvPr/>
        </p:nvSpPr>
        <p:spPr>
          <a:xfrm>
            <a:off x="4664155" y="1659255"/>
            <a:ext cx="19050" cy="133350"/>
          </a:xfrm>
          <a:prstGeom prst="roundRect">
            <a:avLst>
              <a:gd name="adj" fmla="val 50000"/>
            </a:avLst>
          </a:prstGeom>
          <a:solidFill>
            <a:srgbClr val="EEB653"/>
          </a:solidFill>
          <a:ln/>
        </p:spPr>
      </p:sp>
      <p:sp>
        <p:nvSpPr>
          <p:cNvPr id="72" name="Text 70"/>
          <p:cNvSpPr/>
          <p:nvPr/>
        </p:nvSpPr>
        <p:spPr>
          <a:xfrm>
            <a:off x="3369945" y="1849755"/>
            <a:ext cx="561856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BEARISH −1</a:t>
            </a:r>
            <a:endParaRPr lang="en-US" sz="638" dirty="0"/>
          </a:p>
        </p:txBody>
      </p:sp>
      <p:sp>
        <p:nvSpPr>
          <p:cNvPr id="73" name="Text 71"/>
          <p:cNvSpPr/>
          <p:nvPr/>
        </p:nvSpPr>
        <p:spPr>
          <a:xfrm>
            <a:off x="5004911" y="1849755"/>
            <a:ext cx="124777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638" dirty="0"/>
          </a:p>
        </p:txBody>
      </p:sp>
      <p:sp>
        <p:nvSpPr>
          <p:cNvPr id="74" name="Text 72"/>
          <p:cNvSpPr/>
          <p:nvPr/>
        </p:nvSpPr>
        <p:spPr>
          <a:xfrm>
            <a:off x="6202799" y="1849755"/>
            <a:ext cx="561856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 BULLISH</a:t>
            </a:r>
            <a:endParaRPr lang="en-US" sz="638" dirty="0"/>
          </a:p>
        </p:txBody>
      </p:sp>
      <p:sp>
        <p:nvSpPr>
          <p:cNvPr id="75" name="Text 73"/>
          <p:cNvSpPr/>
          <p:nvPr/>
        </p:nvSpPr>
        <p:spPr>
          <a:xfrm>
            <a:off x="3369945" y="2044065"/>
            <a:ext cx="341806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liquidity commentary pressures banks into the afternoon; IT resilient after the TCS beat. Trend-following continues to outperform mean-reversion — consistent with the engine keeping RSI Reversion off.</a:t>
            </a:r>
            <a:endParaRPr lang="en-US" sz="863" dirty="0"/>
          </a:p>
        </p:txBody>
      </p:sp>
      <p:sp>
        <p:nvSpPr>
          <p:cNvPr id="76" name="Shape 74"/>
          <p:cNvSpPr/>
          <p:nvPr/>
        </p:nvSpPr>
        <p:spPr>
          <a:xfrm>
            <a:off x="3219450" y="2956560"/>
            <a:ext cx="3619500" cy="1508760"/>
          </a:xfrm>
          <a:prstGeom prst="roundRect">
            <a:avLst>
              <a:gd name="adj" fmla="val 7576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69945" y="3088005"/>
            <a:ext cx="365036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ADJUSTMENTS · LAST HOUR</a:t>
            </a:r>
            <a:endParaRPr lang="en-US" sz="713" dirty="0"/>
          </a:p>
        </p:txBody>
      </p:sp>
      <p:sp>
        <p:nvSpPr>
          <p:cNvPr id="78" name="Shape 76"/>
          <p:cNvSpPr/>
          <p:nvPr/>
        </p:nvSpPr>
        <p:spPr>
          <a:xfrm>
            <a:off x="3369945" y="3503295"/>
            <a:ext cx="33185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3369945" y="3318510"/>
            <a:ext cx="88784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→ BUY INFY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6374011" y="3329940"/>
            <a:ext cx="3906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+0.07</a:t>
            </a:r>
            <a:endParaRPr lang="en-US" sz="825" dirty="0"/>
          </a:p>
        </p:txBody>
      </p:sp>
      <p:sp>
        <p:nvSpPr>
          <p:cNvPr id="81" name="Shape 79"/>
          <p:cNvSpPr/>
          <p:nvPr/>
        </p:nvSpPr>
        <p:spPr>
          <a:xfrm>
            <a:off x="3369945" y="3819525"/>
            <a:ext cx="3318510" cy="9525"/>
          </a:xfrm>
          <a:prstGeom prst="rect">
            <a:avLst/>
          </a:prstGeom>
          <a:solidFill>
            <a:srgbClr val="949EDC">
              <a:alpha val="7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3369945" y="3634740"/>
            <a:ext cx="97845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→ BUY SBIN</a:t>
            </a:r>
            <a:endParaRPr lang="en-US" sz="825" dirty="0"/>
          </a:p>
        </p:txBody>
      </p:sp>
      <p:sp>
        <p:nvSpPr>
          <p:cNvPr id="83" name="Text 81"/>
          <p:cNvSpPr/>
          <p:nvPr/>
        </p:nvSpPr>
        <p:spPr>
          <a:xfrm>
            <a:off x="6374011" y="3646170"/>
            <a:ext cx="3906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−0.04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3369945" y="3950970"/>
            <a:ext cx="96273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EMA× → SELL TCS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6374011" y="3962400"/>
            <a:ext cx="3906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+0.02</a:t>
            </a:r>
            <a:endParaRPr lang="en-US" sz="825" dirty="0"/>
          </a:p>
        </p:txBody>
      </p:sp>
      <p:sp>
        <p:nvSpPr>
          <p:cNvPr id="86" name="Text 84"/>
          <p:cNvSpPr/>
          <p:nvPr/>
        </p:nvSpPr>
        <p:spPr>
          <a:xfrm>
            <a:off x="3369945" y="4211955"/>
            <a:ext cx="365036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 is capped at ±0.15 and logged with every signal.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219450" y="4579620"/>
            <a:ext cx="3619500" cy="1558290"/>
          </a:xfrm>
          <a:prstGeom prst="roundRect">
            <a:avLst>
              <a:gd name="adj" fmla="val 7335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369945" y="4711065"/>
            <a:ext cx="365036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SENTIMENT</a:t>
            </a:r>
            <a:endParaRPr lang="en-US" sz="713" dirty="0"/>
          </a:p>
        </p:txBody>
      </p:sp>
      <p:sp>
        <p:nvSpPr>
          <p:cNvPr id="89" name="Text 87"/>
          <p:cNvSpPr/>
          <p:nvPr/>
        </p:nvSpPr>
        <p:spPr>
          <a:xfrm>
            <a:off x="3369945" y="4893945"/>
            <a:ext cx="112395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</a:t>
            </a:r>
            <a:endParaRPr lang="en-US" sz="863" dirty="0"/>
          </a:p>
        </p:txBody>
      </p:sp>
      <p:sp>
        <p:nvSpPr>
          <p:cNvPr id="90" name="Shape 88"/>
          <p:cNvSpPr/>
          <p:nvPr/>
        </p:nvSpPr>
        <p:spPr>
          <a:xfrm>
            <a:off x="4512945" y="4916805"/>
            <a:ext cx="166116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5343525" y="4916805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5343525" y="4931093"/>
            <a:ext cx="305633" cy="47625"/>
          </a:xfrm>
          <a:prstGeom prst="roundRect">
            <a:avLst>
              <a:gd name="adj" fmla="val 40000"/>
            </a:avLst>
          </a:prstGeom>
          <a:solidFill>
            <a:srgbClr val="3ECF8E"/>
          </a:solidFill>
          <a:ln/>
        </p:spPr>
      </p:sp>
      <p:sp>
        <p:nvSpPr>
          <p:cNvPr id="93" name="Text 91"/>
          <p:cNvSpPr/>
          <p:nvPr/>
        </p:nvSpPr>
        <p:spPr>
          <a:xfrm>
            <a:off x="6193155" y="489775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88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</a:t>
            </a:r>
            <a:endParaRPr lang="en-US" sz="788" dirty="0"/>
          </a:p>
        </p:txBody>
      </p:sp>
      <p:sp>
        <p:nvSpPr>
          <p:cNvPr id="94" name="Text 92"/>
          <p:cNvSpPr/>
          <p:nvPr/>
        </p:nvSpPr>
        <p:spPr>
          <a:xfrm>
            <a:off x="3369945" y="5092065"/>
            <a:ext cx="112395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INFY</a:t>
            </a:r>
            <a:endParaRPr lang="en-US" sz="863" dirty="0"/>
          </a:p>
        </p:txBody>
      </p:sp>
      <p:sp>
        <p:nvSpPr>
          <p:cNvPr id="95" name="Shape 93"/>
          <p:cNvSpPr/>
          <p:nvPr/>
        </p:nvSpPr>
        <p:spPr>
          <a:xfrm>
            <a:off x="4512945" y="5114925"/>
            <a:ext cx="166116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5343525" y="5114925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5343525" y="5129213"/>
            <a:ext cx="229195" cy="47625"/>
          </a:xfrm>
          <a:prstGeom prst="roundRect">
            <a:avLst>
              <a:gd name="adj" fmla="val 40000"/>
            </a:avLst>
          </a:prstGeom>
          <a:solidFill>
            <a:srgbClr val="3ECF8E"/>
          </a:solidFill>
          <a:ln/>
        </p:spPr>
      </p:sp>
      <p:sp>
        <p:nvSpPr>
          <p:cNvPr id="98" name="Text 96"/>
          <p:cNvSpPr/>
          <p:nvPr/>
        </p:nvSpPr>
        <p:spPr>
          <a:xfrm>
            <a:off x="6193155" y="509587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88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</a:t>
            </a:r>
            <a:endParaRPr lang="en-US" sz="788" dirty="0"/>
          </a:p>
        </p:txBody>
      </p:sp>
      <p:sp>
        <p:nvSpPr>
          <p:cNvPr id="99" name="Text 97"/>
          <p:cNvSpPr/>
          <p:nvPr/>
        </p:nvSpPr>
        <p:spPr>
          <a:xfrm>
            <a:off x="3369945" y="5290185"/>
            <a:ext cx="112395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</a:t>
            </a:r>
            <a:endParaRPr lang="en-US" sz="863" dirty="0"/>
          </a:p>
        </p:txBody>
      </p:sp>
      <p:sp>
        <p:nvSpPr>
          <p:cNvPr id="100" name="Shape 98"/>
          <p:cNvSpPr/>
          <p:nvPr/>
        </p:nvSpPr>
        <p:spPr>
          <a:xfrm>
            <a:off x="4512945" y="5313045"/>
            <a:ext cx="166116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5343525" y="5313045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3525" y="5327332"/>
            <a:ext cx="76319" cy="47625"/>
          </a:xfrm>
          <a:prstGeom prst="roundRect">
            <a:avLst>
              <a:gd name="adj" fmla="val 40000"/>
            </a:avLst>
          </a:prstGeom>
          <a:solidFill>
            <a:srgbClr val="3ECF8E"/>
          </a:solidFill>
          <a:ln/>
        </p:spPr>
      </p:sp>
      <p:sp>
        <p:nvSpPr>
          <p:cNvPr id="103" name="Text 101"/>
          <p:cNvSpPr/>
          <p:nvPr/>
        </p:nvSpPr>
        <p:spPr>
          <a:xfrm>
            <a:off x="6193155" y="529399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88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</a:t>
            </a:r>
            <a:endParaRPr lang="en-US" sz="788" dirty="0"/>
          </a:p>
        </p:txBody>
      </p:sp>
      <p:sp>
        <p:nvSpPr>
          <p:cNvPr id="104" name="Text 102"/>
          <p:cNvSpPr/>
          <p:nvPr/>
        </p:nvSpPr>
        <p:spPr>
          <a:xfrm>
            <a:off x="3369945" y="5488305"/>
            <a:ext cx="112395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SBIN</a:t>
            </a:r>
            <a:endParaRPr lang="en-US" sz="863" dirty="0"/>
          </a:p>
        </p:txBody>
      </p:sp>
      <p:sp>
        <p:nvSpPr>
          <p:cNvPr id="105" name="Shape 103"/>
          <p:cNvSpPr/>
          <p:nvPr/>
        </p:nvSpPr>
        <p:spPr>
          <a:xfrm>
            <a:off x="4512945" y="5511165"/>
            <a:ext cx="166116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3525" y="5511165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5190649" y="5525453"/>
            <a:ext cx="152757" cy="47625"/>
          </a:xfrm>
          <a:prstGeom prst="roundRect">
            <a:avLst>
              <a:gd name="adj" fmla="val 40000"/>
            </a:avLst>
          </a:prstGeom>
          <a:solidFill>
            <a:srgbClr val="F16F7B"/>
          </a:solidFill>
          <a:ln/>
        </p:spPr>
      </p:sp>
      <p:sp>
        <p:nvSpPr>
          <p:cNvPr id="108" name="Text 106"/>
          <p:cNvSpPr/>
          <p:nvPr/>
        </p:nvSpPr>
        <p:spPr>
          <a:xfrm>
            <a:off x="6193155" y="549211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88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−0.2</a:t>
            </a:r>
            <a:endParaRPr lang="en-US" sz="788" dirty="0"/>
          </a:p>
        </p:txBody>
      </p:sp>
      <p:sp>
        <p:nvSpPr>
          <p:cNvPr id="109" name="Text 107"/>
          <p:cNvSpPr/>
          <p:nvPr/>
        </p:nvSpPr>
        <p:spPr>
          <a:xfrm>
            <a:off x="3369945" y="5686425"/>
            <a:ext cx="112395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TATAMOTORS</a:t>
            </a:r>
            <a:endParaRPr lang="en-US" sz="863" dirty="0"/>
          </a:p>
        </p:txBody>
      </p:sp>
      <p:sp>
        <p:nvSpPr>
          <p:cNvPr id="110" name="Shape 108"/>
          <p:cNvSpPr/>
          <p:nvPr/>
        </p:nvSpPr>
        <p:spPr>
          <a:xfrm>
            <a:off x="4512945" y="5709285"/>
            <a:ext cx="166116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3525" y="5709285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5114211" y="5723573"/>
            <a:ext cx="229195" cy="47625"/>
          </a:xfrm>
          <a:prstGeom prst="roundRect">
            <a:avLst>
              <a:gd name="adj" fmla="val 40000"/>
            </a:avLst>
          </a:prstGeom>
          <a:solidFill>
            <a:srgbClr val="F16F7B"/>
          </a:solidFill>
          <a:ln/>
        </p:spPr>
      </p:sp>
      <p:sp>
        <p:nvSpPr>
          <p:cNvPr id="113" name="Text 111"/>
          <p:cNvSpPr/>
          <p:nvPr/>
        </p:nvSpPr>
        <p:spPr>
          <a:xfrm>
            <a:off x="6193155" y="569023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88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</a:t>
            </a:r>
            <a:endParaRPr lang="en-US" sz="788" dirty="0"/>
          </a:p>
        </p:txBody>
      </p:sp>
      <p:sp>
        <p:nvSpPr>
          <p:cNvPr id="114" name="Text 112"/>
          <p:cNvSpPr/>
          <p:nvPr/>
        </p:nvSpPr>
        <p:spPr>
          <a:xfrm>
            <a:off x="3369945" y="5884545"/>
            <a:ext cx="112395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HDFCBANK</a:t>
            </a:r>
            <a:endParaRPr lang="en-US" sz="863" dirty="0"/>
          </a:p>
        </p:txBody>
      </p:sp>
      <p:sp>
        <p:nvSpPr>
          <p:cNvPr id="115" name="Shape 113"/>
          <p:cNvSpPr/>
          <p:nvPr/>
        </p:nvSpPr>
        <p:spPr>
          <a:xfrm>
            <a:off x="4512945" y="5907405"/>
            <a:ext cx="1661160" cy="76200"/>
          </a:xfrm>
          <a:prstGeom prst="roundRect">
            <a:avLst>
              <a:gd name="adj" fmla="val 37500"/>
            </a:avLst>
          </a:prstGeom>
          <a:solidFill>
            <a:srgbClr val="949EDC">
              <a:alpha val="7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5343525" y="5907405"/>
            <a:ext cx="9525" cy="76200"/>
          </a:xfrm>
          <a:prstGeom prst="rect">
            <a:avLst/>
          </a:prstGeom>
          <a:solidFill>
            <a:srgbClr val="949EDC">
              <a:alpha val="25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4961454" y="5921693"/>
            <a:ext cx="381953" cy="47625"/>
          </a:xfrm>
          <a:prstGeom prst="roundRect">
            <a:avLst>
              <a:gd name="adj" fmla="val 40000"/>
            </a:avLst>
          </a:prstGeom>
          <a:solidFill>
            <a:srgbClr val="F16F7B"/>
          </a:solidFill>
          <a:ln/>
        </p:spPr>
      </p:sp>
      <p:sp>
        <p:nvSpPr>
          <p:cNvPr id="118" name="Text 116"/>
          <p:cNvSpPr/>
          <p:nvPr/>
        </p:nvSpPr>
        <p:spPr>
          <a:xfrm>
            <a:off x="6193155" y="588835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88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−0.5</a:t>
            </a:r>
            <a:endParaRPr lang="en-US" sz="788" dirty="0"/>
          </a:p>
        </p:txBody>
      </p:sp>
      <p:sp>
        <p:nvSpPr>
          <p:cNvPr id="119" name="Shape 117"/>
          <p:cNvSpPr/>
          <p:nvPr/>
        </p:nvSpPr>
        <p:spPr>
          <a:xfrm>
            <a:off x="6953250" y="1285875"/>
            <a:ext cx="11182350" cy="1191101"/>
          </a:xfrm>
          <a:prstGeom prst="roundRect">
            <a:avLst>
              <a:gd name="adj" fmla="val 9596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103745" y="1432560"/>
            <a:ext cx="119086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13:30 · MIDDAY FLASH</a:t>
            </a:r>
            <a:endParaRPr lang="en-US" sz="675" dirty="0"/>
          </a:p>
        </p:txBody>
      </p:sp>
      <p:sp>
        <p:nvSpPr>
          <p:cNvPr id="121" name="Text 119"/>
          <p:cNvSpPr/>
          <p:nvPr/>
        </p:nvSpPr>
        <p:spPr>
          <a:xfrm>
            <a:off x="16853535" y="1417320"/>
            <a:ext cx="120777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gpt-runner · 6 sources</a:t>
            </a:r>
            <a:endParaRPr lang="en-US" sz="675" dirty="0"/>
          </a:p>
        </p:txBody>
      </p:sp>
      <p:sp>
        <p:nvSpPr>
          <p:cNvPr id="122" name="Text 120"/>
          <p:cNvSpPr/>
          <p:nvPr/>
        </p:nvSpPr>
        <p:spPr>
          <a:xfrm>
            <a:off x="7103745" y="1571625"/>
            <a:ext cx="119694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drag on RBI liquidity commentary; IT holds the tape</a:t>
            </a:r>
            <a:endParaRPr lang="en-US" sz="1013" dirty="0"/>
          </a:p>
        </p:txBody>
      </p:sp>
      <p:sp>
        <p:nvSpPr>
          <p:cNvPr id="123" name="Text 121"/>
          <p:cNvSpPr/>
          <p:nvPr/>
        </p:nvSpPr>
        <p:spPr>
          <a:xfrm>
            <a:off x="7103745" y="1771650"/>
            <a:ext cx="11207801" cy="37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RBI's afternoon commentary on tighter systemic liquidity pressured PSU and private banks — HDFCBANK and SBIN lead the drag. IT stays resilient after the TCS beat, with INFY holding above VWAP through the session. Crude's small uptick is a watch item for autos into the close.</a:t>
            </a:r>
            <a:endParaRPr lang="en-US" sz="863" dirty="0"/>
          </a:p>
        </p:txBody>
      </p:sp>
      <p:sp>
        <p:nvSpPr>
          <p:cNvPr id="124" name="Shape 122"/>
          <p:cNvSpPr/>
          <p:nvPr/>
        </p:nvSpPr>
        <p:spPr>
          <a:xfrm>
            <a:off x="7103745" y="2196941"/>
            <a:ext cx="493514" cy="148590"/>
          </a:xfrm>
          <a:prstGeom prst="roundRect">
            <a:avLst>
              <a:gd name="adj" fmla="val 25641"/>
            </a:avLst>
          </a:prstGeom>
          <a:solidFill>
            <a:srgbClr val="F16F7B">
              <a:alpha val="9000"/>
            </a:srgbClr>
          </a:solidFill>
          <a:ln/>
        </p:spPr>
      </p:sp>
      <p:sp>
        <p:nvSpPr>
          <p:cNvPr id="125" name="Text 123"/>
          <p:cNvSpPr/>
          <p:nvPr/>
        </p:nvSpPr>
        <p:spPr>
          <a:xfrm>
            <a:off x="7170420" y="2225516"/>
            <a:ext cx="43636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BANKS −</a:t>
            </a:r>
            <a:endParaRPr lang="en-US" sz="675" dirty="0"/>
          </a:p>
        </p:txBody>
      </p:sp>
      <p:sp>
        <p:nvSpPr>
          <p:cNvPr id="126" name="Shape 124"/>
          <p:cNvSpPr/>
          <p:nvPr/>
        </p:nvSpPr>
        <p:spPr>
          <a:xfrm>
            <a:off x="7654409" y="2196941"/>
            <a:ext cx="339209" cy="148590"/>
          </a:xfrm>
          <a:prstGeom prst="roundRect">
            <a:avLst>
              <a:gd name="adj" fmla="val 25641"/>
            </a:avLst>
          </a:prstGeom>
          <a:solidFill>
            <a:srgbClr val="3ECF8E">
              <a:alpha val="9000"/>
            </a:srgbClr>
          </a:solidFill>
          <a:ln/>
        </p:spPr>
      </p:sp>
      <p:sp>
        <p:nvSpPr>
          <p:cNvPr id="127" name="Text 125"/>
          <p:cNvSpPr/>
          <p:nvPr/>
        </p:nvSpPr>
        <p:spPr>
          <a:xfrm>
            <a:off x="7721084" y="2225516"/>
            <a:ext cx="282059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+</a:t>
            </a:r>
            <a:endParaRPr lang="en-US" sz="675" dirty="0"/>
          </a:p>
        </p:txBody>
      </p:sp>
      <p:sp>
        <p:nvSpPr>
          <p:cNvPr id="128" name="Shape 126"/>
          <p:cNvSpPr/>
          <p:nvPr/>
        </p:nvSpPr>
        <p:spPr>
          <a:xfrm>
            <a:off x="8050768" y="2196941"/>
            <a:ext cx="699254" cy="148590"/>
          </a:xfrm>
          <a:prstGeom prst="roundRect">
            <a:avLst>
              <a:gd name="adj" fmla="val 25641"/>
            </a:avLst>
          </a:prstGeom>
          <a:solidFill>
            <a:srgbClr val="EEB653">
              <a:alpha val="9000"/>
            </a:srgbClr>
          </a:solidFill>
          <a:ln/>
        </p:spPr>
      </p:sp>
      <p:sp>
        <p:nvSpPr>
          <p:cNvPr id="129" name="Text 127"/>
          <p:cNvSpPr/>
          <p:nvPr/>
        </p:nvSpPr>
        <p:spPr>
          <a:xfrm>
            <a:off x="8117443" y="2225516"/>
            <a:ext cx="64210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 WATCH</a:t>
            </a:r>
            <a:endParaRPr lang="en-US" sz="675" dirty="0"/>
          </a:p>
        </p:txBody>
      </p:sp>
      <p:sp>
        <p:nvSpPr>
          <p:cNvPr id="130" name="Shape 128"/>
          <p:cNvSpPr/>
          <p:nvPr/>
        </p:nvSpPr>
        <p:spPr>
          <a:xfrm>
            <a:off x="6953250" y="2591276"/>
            <a:ext cx="11182350" cy="933926"/>
          </a:xfrm>
          <a:prstGeom prst="roundRect">
            <a:avLst>
              <a:gd name="adj" fmla="val 12239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103745" y="2722721"/>
            <a:ext cx="124658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12:30 · MIDDAY DIGEST</a:t>
            </a:r>
            <a:endParaRPr lang="en-US" sz="675" dirty="0"/>
          </a:p>
        </p:txBody>
      </p:sp>
      <p:sp>
        <p:nvSpPr>
          <p:cNvPr id="132" name="Text 130"/>
          <p:cNvSpPr/>
          <p:nvPr/>
        </p:nvSpPr>
        <p:spPr>
          <a:xfrm>
            <a:off x="7103745" y="2861786"/>
            <a:ext cx="1196949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morning resolves into a trend afternoon</a:t>
            </a:r>
            <a:endParaRPr lang="en-US" sz="975" dirty="0"/>
          </a:p>
        </p:txBody>
      </p:sp>
      <p:sp>
        <p:nvSpPr>
          <p:cNvPr id="133" name="Text 131"/>
          <p:cNvSpPr/>
          <p:nvPr/>
        </p:nvSpPr>
        <p:spPr>
          <a:xfrm>
            <a:off x="7103745" y="3054191"/>
            <a:ext cx="11207801" cy="37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flipped negative around noon as the NIFTY broke its morning range low. Trend-following entries improved after 12:15; mean-reversion setups continued to underperform — consistent with the engine keeping RSI Reversion off.</a:t>
            </a:r>
            <a:endParaRPr lang="en-US" sz="863" dirty="0"/>
          </a:p>
        </p:txBody>
      </p:sp>
      <p:sp>
        <p:nvSpPr>
          <p:cNvPr id="134" name="Shape 132"/>
          <p:cNvSpPr/>
          <p:nvPr/>
        </p:nvSpPr>
        <p:spPr>
          <a:xfrm>
            <a:off x="6953250" y="3639503"/>
            <a:ext cx="11182350" cy="764143"/>
          </a:xfrm>
          <a:prstGeom prst="roundRect">
            <a:avLst>
              <a:gd name="adj" fmla="val 14958"/>
            </a:avLst>
          </a:prstGeom>
          <a:solidFill>
            <a:srgbClr val="1B1D27">
              <a:alpha val="80000"/>
            </a:srgbClr>
          </a:solidFill>
          <a:ln w="7620">
            <a:solidFill>
              <a:srgbClr val="949EDC">
                <a:alpha val="10000"/>
              </a:srgbClr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103745" y="3770947"/>
            <a:ext cx="1079421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4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08:45 · PRE-MARKET</a:t>
            </a:r>
            <a:endParaRPr lang="en-US" sz="675" dirty="0"/>
          </a:p>
        </p:txBody>
      </p:sp>
      <p:sp>
        <p:nvSpPr>
          <p:cNvPr id="136" name="Text 134"/>
          <p:cNvSpPr/>
          <p:nvPr/>
        </p:nvSpPr>
        <p:spPr>
          <a:xfrm>
            <a:off x="7103745" y="3910013"/>
            <a:ext cx="1196949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open expected; TCS results the main driver</a:t>
            </a:r>
            <a:endParaRPr lang="en-US" sz="975" dirty="0"/>
          </a:p>
        </p:txBody>
      </p:sp>
      <p:sp>
        <p:nvSpPr>
          <p:cNvPr id="137" name="Text 135"/>
          <p:cNvSpPr/>
          <p:nvPr/>
        </p:nvSpPr>
        <p:spPr>
          <a:xfrm>
            <a:off x="7103745" y="4102418"/>
            <a:ext cx="11969496" cy="20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 NIFTY points to a flat-to-mild-positive open. TCS beat consensus after yesterday's close — expect IT strength at the open. RBI minutes due 13:00 are the day's event risk.</a:t>
            </a:r>
            <a:endParaRPr lang="en-US" sz="863" dirty="0"/>
          </a:p>
        </p:txBody>
      </p:sp>
      <p:sp>
        <p:nvSpPr>
          <p:cNvPr id="138" name="Shape 136"/>
          <p:cNvSpPr/>
          <p:nvPr/>
        </p:nvSpPr>
        <p:spPr>
          <a:xfrm>
            <a:off x="6953250" y="4517946"/>
            <a:ext cx="11182350" cy="316230"/>
          </a:xfrm>
          <a:prstGeom prst="roundRect">
            <a:avLst>
              <a:gd name="adj" fmla="val 30120"/>
            </a:avLst>
          </a:prstGeom>
          <a:solidFill>
            <a:srgbClr val="8F97F9">
              <a:alpha val="6000"/>
            </a:srgbClr>
          </a:solidFill>
          <a:ln w="7620">
            <a:solidFill>
              <a:srgbClr val="8F97F9">
                <a:alpha val="30000"/>
              </a:srgbClr>
            </a:solidFill>
            <a:prstDash val="dash"/>
          </a:ln>
        </p:spPr>
      </p:sp>
      <p:sp>
        <p:nvSpPr>
          <p:cNvPr id="139" name="Text 137"/>
          <p:cNvSpPr/>
          <p:nvPr/>
        </p:nvSpPr>
        <p:spPr>
          <a:xfrm>
            <a:off x="7075170" y="4618911"/>
            <a:ext cx="1752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ⓘ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7259955" y="4611291"/>
            <a:ext cx="94157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Digests are generated three times a day from news and market internals. If the AI service is down, trading continues unaffected — signals simply skip the confidence adjustment.</a:t>
            </a:r>
            <a:endParaRPr lang="en-US" sz="788" dirty="0"/>
          </a:p>
        </p:txBody>
      </p:sp>
      <p:sp>
        <p:nvSpPr>
          <p:cNvPr id="141" name="Shape 139"/>
          <p:cNvSpPr/>
          <p:nvPr/>
        </p:nvSpPr>
        <p:spPr>
          <a:xfrm>
            <a:off x="16178928" y="9626918"/>
            <a:ext cx="1937623" cy="488632"/>
          </a:xfrm>
          <a:prstGeom prst="roundRect">
            <a:avLst>
              <a:gd name="adj" fmla="val 21443"/>
            </a:avLst>
          </a:prstGeom>
          <a:solidFill>
            <a:srgbClr val="1B1D27"/>
          </a:solidFill>
          <a:ln/>
          <a:effectLst>
            <a:outerShdw sx="100000" sy="100000" kx="0" ky="0" algn="bl" rotWithShape="0" blurRad="476250" dist="171450" dir="5400000">
              <a:srgbClr val="000000">
                <a:alpha val="50000"/>
              </a:srgbClr>
            </a:outerShdw>
          </a:effectLst>
        </p:spPr>
      </p:sp>
      <p:sp>
        <p:nvSpPr>
          <p:cNvPr id="142" name="Shape 140"/>
          <p:cNvSpPr/>
          <p:nvPr/>
        </p:nvSpPr>
        <p:spPr>
          <a:xfrm>
            <a:off x="16178928" y="10107930"/>
            <a:ext cx="1937623" cy="9525"/>
          </a:xfrm>
          <a:prstGeom prst="rect">
            <a:avLst/>
          </a:prstGeom>
          <a:solidFill>
            <a:srgbClr val="949EDC">
              <a:alpha val="20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16178928" y="9626918"/>
            <a:ext cx="1937623" cy="9525"/>
          </a:xfrm>
          <a:prstGeom prst="rect">
            <a:avLst/>
          </a:prstGeom>
          <a:solidFill>
            <a:srgbClr val="949EDC">
              <a:alpha val="20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16178928" y="9626918"/>
            <a:ext cx="22860" cy="488632"/>
          </a:xfrm>
          <a:prstGeom prst="rect">
            <a:avLst/>
          </a:prstGeom>
          <a:solidFill>
            <a:srgbClr val="EEB65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8108931" y="9626918"/>
            <a:ext cx="9525" cy="488632"/>
          </a:xfrm>
          <a:prstGeom prst="rect">
            <a:avLst/>
          </a:prstGeom>
          <a:solidFill>
            <a:srgbClr val="949EDC">
              <a:alpha val="20000"/>
            </a:srgbClr>
          </a:solidFill>
          <a:ln/>
        </p:spPr>
      </p:sp>
      <p:sp>
        <p:nvSpPr>
          <p:cNvPr id="146" name="Text 144"/>
          <p:cNvSpPr/>
          <p:nvPr/>
        </p:nvSpPr>
        <p:spPr>
          <a:xfrm>
            <a:off x="16335137" y="9739313"/>
            <a:ext cx="180448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41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BLOCKED</a:t>
            </a:r>
            <a:endParaRPr lang="en-US" sz="675" dirty="0"/>
          </a:p>
        </p:txBody>
      </p:sp>
      <p:sp>
        <p:nvSpPr>
          <p:cNvPr id="147" name="Text 145"/>
          <p:cNvSpPr/>
          <p:nvPr/>
        </p:nvSpPr>
        <p:spPr>
          <a:xfrm>
            <a:off x="16335137" y="9849802"/>
            <a:ext cx="1804488" cy="191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Crossover → SELL TCS ×30</a:t>
            </a:r>
            <a:endParaRPr lang="en-US" sz="86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7050" cy="10287000"/>
          </a:xfrm>
          <a:prstGeom prst="rect">
            <a:avLst/>
          </a:prstGeom>
          <a:solidFill>
            <a:srgbClr val="171923"/>
          </a:solidFill>
          <a:ln/>
        </p:spPr>
      </p:sp>
      <p:sp>
        <p:nvSpPr>
          <p:cNvPr id="3" name="Shape 1"/>
          <p:cNvSpPr/>
          <p:nvPr/>
        </p:nvSpPr>
        <p:spPr>
          <a:xfrm>
            <a:off x="3059430" y="0"/>
            <a:ext cx="9525" cy="10287000"/>
          </a:xfrm>
          <a:prstGeom prst="rect">
            <a:avLst/>
          </a:prstGeom>
          <a:solidFill>
            <a:srgbClr val="949ED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5" name="Shape 3"/>
          <p:cNvSpPr/>
          <p:nvPr/>
        </p:nvSpPr>
        <p:spPr>
          <a:xfrm>
            <a:off x="223838" y="172879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2400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3838" y="244316"/>
            <a:ext cx="47625" cy="47625"/>
          </a:xfrm>
          <a:prstGeom prst="roundRect">
            <a:avLst>
              <a:gd name="adj" fmla="val 30000"/>
            </a:avLst>
          </a:prstGeom>
          <a:solidFill>
            <a:srgbClr val="8F97F9"/>
          </a:solidFill>
          <a:ln/>
        </p:spPr>
      </p:sp>
      <p:sp>
        <p:nvSpPr>
          <p:cNvPr id="8" name="Text 6"/>
          <p:cNvSpPr/>
          <p:nvPr/>
        </p:nvSpPr>
        <p:spPr>
          <a:xfrm>
            <a:off x="357188" y="152400"/>
            <a:ext cx="834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8968" y="160020"/>
            <a:ext cx="688062" cy="144780"/>
          </a:xfrm>
          <a:prstGeom prst="roundRect">
            <a:avLst>
              <a:gd name="adj" fmla="val 26316"/>
            </a:avLst>
          </a:prstGeom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3738" y="186690"/>
            <a:ext cx="634722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57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MODE</a:t>
            </a:r>
            <a:endParaRPr lang="en-US" sz="638" dirty="0"/>
          </a:p>
        </p:txBody>
      </p:sp>
      <p:sp>
        <p:nvSpPr>
          <p:cNvPr id="11" name="Text 9"/>
          <p:cNvSpPr/>
          <p:nvPr/>
        </p:nvSpPr>
        <p:spPr>
          <a:xfrm>
            <a:off x="152400" y="436245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P&amp;L · 09:15 → NOW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152400" y="571500"/>
            <a:ext cx="3030093" cy="40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75" b="1" spc="-55" kern="0" dirty="0">
                <a:solidFill>
                  <a:srgbClr val="F1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−₹18,616</a:t>
            </a:r>
            <a:endParaRPr lang="en-US" sz="2775" dirty="0"/>
          </a:p>
        </p:txBody>
      </p:sp>
      <p:sp>
        <p:nvSpPr>
          <p:cNvPr id="13" name="Text 11"/>
          <p:cNvSpPr/>
          <p:nvPr/>
        </p:nvSpPr>
        <p:spPr>
          <a:xfrm>
            <a:off x="152400" y="970121"/>
            <a:ext cx="84617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</a:t>
            </a:r>
            <a:pPr algn="l" indent="0" marL="0">
              <a:buNone/>
            </a:pPr>
            <a:r>
              <a:rPr lang="en-US" sz="788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−₹20,540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1046202" y="970121"/>
            <a:ext cx="78617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unrl </a:t>
            </a:r>
            <a:pPr algn="l" indent="0" marL="0">
              <a:buNone/>
            </a:pPr>
            <a:r>
              <a:rPr lang="en-US" sz="788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+₹1,924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152400" y="1223486"/>
            <a:ext cx="2754630" cy="1158240"/>
          </a:xfrm>
          <a:prstGeom prst="roundRect">
            <a:avLst>
              <a:gd name="adj" fmla="val 9868"/>
            </a:avLst>
          </a:prstGeom>
          <a:solidFill>
            <a:srgbClr val="1B1D27"/>
          </a:solidFill>
          <a:ln w="7620">
            <a:solidFill>
              <a:srgbClr val="EEB65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" y="1345406"/>
            <a:ext cx="914400" cy="914400"/>
          </a:xfrm>
          <a:prstGeom prst="ellipse">
            <a:avLst/>
          </a:prstGeom>
          <a:solidFill>
            <a:srgbClr val="EEB653"/>
          </a:solidFill>
          <a:ln/>
        </p:spPr>
      </p:sp>
      <p:sp>
        <p:nvSpPr>
          <p:cNvPr id="17" name="Text 15"/>
          <p:cNvSpPr/>
          <p:nvPr/>
        </p:nvSpPr>
        <p:spPr>
          <a:xfrm>
            <a:off x="531257" y="1634966"/>
            <a:ext cx="49565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EB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89585" y="1878806"/>
            <a:ext cx="57912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36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LIMIT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31595" y="1482923"/>
            <a:ext cx="1588389" cy="185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₹20,540 of ₹25,000 daily limit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1331595" y="1668899"/>
            <a:ext cx="15201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auto-halt at 100%. Exits always allowed.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31595" y="1973699"/>
            <a:ext cx="1343144" cy="148590"/>
          </a:xfrm>
          <a:prstGeom prst="roundRect">
            <a:avLst>
              <a:gd name="adj" fmla="val 25641"/>
            </a:avLst>
          </a:prstGeom>
          <a:solidFill>
            <a:srgbClr val="EEB653">
              <a:alpha val="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88745" y="2002274"/>
            <a:ext cx="1305044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b="1" spc="38" kern="0" dirty="0">
                <a:solidFill>
                  <a:srgbClr val="EEB653">
                    <a:alpha val="26000"/>
                  </a:srgbClr>
                </a:solidFill>
                <a:highlight>
                  <a:srgbClr val="FDF8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ARMED </a:t>
            </a:r>
            <a:pPr algn="l" indent="0" marL="0">
              <a:buNone/>
            </a:pPr>
            <a:r>
              <a:rPr lang="en-US" sz="638" b="1" spc="38" kern="0" dirty="0">
                <a:solidFill>
                  <a:srgbClr val="EEB653">
                    <a:alpha val="2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13:15 IST</a:t>
            </a:r>
            <a:endParaRPr lang="en-US" sz="638" dirty="0"/>
          </a:p>
        </p:txBody>
      </p:sp>
      <p:sp>
        <p:nvSpPr>
          <p:cNvPr id="23" name="Shape 21"/>
          <p:cNvSpPr/>
          <p:nvPr/>
        </p:nvSpPr>
        <p:spPr>
          <a:xfrm>
            <a:off x="152400" y="2505551"/>
            <a:ext cx="2754630" cy="994410"/>
          </a:xfrm>
          <a:prstGeom prst="roundRect">
            <a:avLst>
              <a:gd name="adj" fmla="val 11494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370" y="267700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436245" y="2636996"/>
            <a:ext cx="40528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080141" y="2652236"/>
            <a:ext cx="7621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FYERS · 44ms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98120" y="285035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" y="2974181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9" name="Text 27"/>
          <p:cNvSpPr/>
          <p:nvPr/>
        </p:nvSpPr>
        <p:spPr>
          <a:xfrm>
            <a:off x="436245" y="2934176"/>
            <a:ext cx="43088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679972" y="2949416"/>
            <a:ext cx="116228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C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13:42:32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8120" y="3147536"/>
            <a:ext cx="2663190" cy="9525"/>
          </a:xfrm>
          <a:prstGeom prst="rect">
            <a:avLst/>
          </a:prstGeom>
          <a:solidFill>
            <a:srgbClr val="949EDC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" y="3271361"/>
            <a:ext cx="57150" cy="57150"/>
          </a:xfrm>
          <a:prstGeom prst="ellipse">
            <a:avLst/>
          </a:prstGeom>
          <a:solidFill>
            <a:srgbClr val="8F97F9"/>
          </a:solidFill>
          <a:ln/>
        </p:spPr>
      </p:sp>
      <p:sp>
        <p:nvSpPr>
          <p:cNvPr id="33" name="Text 31"/>
          <p:cNvSpPr/>
          <p:nvPr/>
        </p:nvSpPr>
        <p:spPr>
          <a:xfrm>
            <a:off x="436245" y="3231356"/>
            <a:ext cx="41874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622822" y="3246596"/>
            <a:ext cx="121943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· 27 signals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2400" y="8660606"/>
            <a:ext cx="30300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8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CONTROLS</a:t>
            </a:r>
            <a:endParaRPr lang="en-US" sz="713" dirty="0"/>
          </a:p>
        </p:txBody>
      </p:sp>
      <p:sp>
        <p:nvSpPr>
          <p:cNvPr id="36" name="Shape 34"/>
          <p:cNvSpPr/>
          <p:nvPr/>
        </p:nvSpPr>
        <p:spPr>
          <a:xfrm>
            <a:off x="152400" y="8843486"/>
            <a:ext cx="2754630" cy="419100"/>
          </a:xfrm>
          <a:prstGeom prst="roundRect">
            <a:avLst>
              <a:gd name="adj" fmla="val 25000"/>
            </a:avLst>
          </a:prstGeom>
          <a:solidFill>
            <a:srgbClr val="EEB653">
              <a:alpha val="8000"/>
            </a:srgbClr>
          </a:solidFill>
          <a:ln w="7620">
            <a:solidFill>
              <a:srgbClr val="EEB653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851" y="8860631"/>
            <a:ext cx="2707729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69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⏸ PAUSE ALL TRADING</a:t>
            </a:r>
            <a:endParaRPr lang="en-US" sz="863" dirty="0"/>
          </a:p>
        </p:txBody>
      </p:sp>
      <p:sp>
        <p:nvSpPr>
          <p:cNvPr id="38" name="Shape 36"/>
          <p:cNvSpPr/>
          <p:nvPr/>
        </p:nvSpPr>
        <p:spPr>
          <a:xfrm>
            <a:off x="152400" y="9338786"/>
            <a:ext cx="2754630" cy="476250"/>
          </a:xfrm>
          <a:prstGeom prst="roundRect">
            <a:avLst>
              <a:gd name="adj" fmla="val 22000"/>
            </a:avLst>
          </a:prstGeom>
          <a:solidFill>
            <a:srgbClr val="3A1D22"/>
          </a:solidFill>
          <a:ln w="7620">
            <a:solidFill>
              <a:srgbClr val="F16F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441" y="9453086"/>
            <a:ext cx="9565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SWITCH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042" y="9601676"/>
            <a:ext cx="865346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38" spc="32" kern="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TO CONFIRM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152400" y="9891237"/>
            <a:ext cx="2837269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trades; you supervise. Pause and kill are the only manual levers — there is deliberately no order ticket.</a:t>
            </a:r>
            <a:endParaRPr lang="en-US" sz="713" dirty="0"/>
          </a:p>
        </p:txBody>
      </p:sp>
      <p:sp>
        <p:nvSpPr>
          <p:cNvPr id="42" name="Shape 40"/>
          <p:cNvSpPr/>
          <p:nvPr/>
        </p:nvSpPr>
        <p:spPr>
          <a:xfrm>
            <a:off x="3067050" y="476250"/>
            <a:ext cx="15220950" cy="9525"/>
          </a:xfrm>
          <a:prstGeom prst="rect">
            <a:avLst/>
          </a:prstGeom>
          <a:solidFill>
            <a:srgbClr val="949EDC">
              <a:alpha val="1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86125" y="173355"/>
            <a:ext cx="55256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91094" y="173355"/>
            <a:ext cx="59090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34401" y="173355"/>
            <a:ext cx="54006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26869" y="173355"/>
            <a:ext cx="4255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04798" y="173355"/>
            <a:ext cx="29229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49496" y="173355"/>
            <a:ext cx="5399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Digest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79945" y="173355"/>
            <a:ext cx="48922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160895" y="436245"/>
            <a:ext cx="451128" cy="19050"/>
          </a:xfrm>
          <a:prstGeom prst="roundRect">
            <a:avLst>
              <a:gd name="adj" fmla="val 50000"/>
            </a:avLst>
          </a:prstGeom>
          <a:solidFill>
            <a:srgbClr val="8F97F9"/>
          </a:solidFill>
          <a:ln/>
        </p:spPr>
      </p:sp>
      <p:sp>
        <p:nvSpPr>
          <p:cNvPr id="51" name="Text 49"/>
          <p:cNvSpPr/>
          <p:nvPr/>
        </p:nvSpPr>
        <p:spPr>
          <a:xfrm>
            <a:off x="15330488" y="177165"/>
            <a:ext cx="151779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 OPEN · 13:42:32 IST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16824603" y="120015"/>
            <a:ext cx="1310997" cy="236220"/>
          </a:xfrm>
          <a:prstGeom prst="roundRect">
            <a:avLst>
              <a:gd name="adj" fmla="val 50000"/>
            </a:avLst>
          </a:prstGeom>
          <a:solidFill>
            <a:srgbClr val="3ECF8E">
              <a:alpha val="8000"/>
            </a:srgbClr>
          </a:solidFill>
          <a:ln w="7620">
            <a:solidFill>
              <a:srgbClr val="3ECF8E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936998" y="209550"/>
            <a:ext cx="57150" cy="57150"/>
          </a:xfrm>
          <a:prstGeom prst="ellipse">
            <a:avLst/>
          </a:prstGeom>
          <a:solidFill>
            <a:srgbClr val="3ECF8E">
              <a:alpha val="86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7060823" y="184785"/>
            <a:ext cx="73306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 ·</a:t>
            </a:r>
            <a:endParaRPr lang="en-US" sz="713" dirty="0"/>
          </a:p>
        </p:txBody>
      </p:sp>
      <p:sp>
        <p:nvSpPr>
          <p:cNvPr id="55" name="Text 53"/>
          <p:cNvSpPr/>
          <p:nvPr/>
        </p:nvSpPr>
        <p:spPr>
          <a:xfrm>
            <a:off x="17784366" y="184785"/>
            <a:ext cx="31503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43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44ms</a:t>
            </a:r>
            <a:endParaRPr lang="en-US" sz="713" dirty="0"/>
          </a:p>
        </p:txBody>
      </p:sp>
      <p:sp>
        <p:nvSpPr>
          <p:cNvPr id="56" name="Shape 54"/>
          <p:cNvSpPr/>
          <p:nvPr/>
        </p:nvSpPr>
        <p:spPr>
          <a:xfrm>
            <a:off x="3067050" y="483870"/>
            <a:ext cx="15220950" cy="396240"/>
          </a:xfrm>
          <a:prstGeom prst="rect">
            <a:avLst/>
          </a:prstGeom>
          <a:solidFill>
            <a:srgbClr val="EEB653">
              <a:alpha val="11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067050" y="872490"/>
            <a:ext cx="15220950" cy="9525"/>
          </a:xfrm>
          <a:prstGeom prst="rect">
            <a:avLst/>
          </a:prstGeom>
          <a:solidFill>
            <a:srgbClr val="EEB653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219450" y="575310"/>
            <a:ext cx="205740" cy="205740"/>
          </a:xfrm>
          <a:prstGeom prst="ellipse">
            <a:avLst/>
          </a:prstGeom>
          <a:ln w="7620">
            <a:solidFill>
              <a:srgbClr val="EEB653">
                <a:alpha val="57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88970" y="58293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B653">
                    <a:alpha val="5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29965" y="598170"/>
            <a:ext cx="72509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 at 82% of limit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₹20,540 of ₹25,000 realized. New entries auto-halt at 100%; exits and stop-losses stay active.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5762684" y="65436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949EDC">
              <a:alpha val="1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762684" y="654368"/>
            <a:ext cx="1017270" cy="47625"/>
          </a:xfrm>
          <a:prstGeom prst="rect">
            <a:avLst/>
          </a:prstGeom>
          <a:solidFill>
            <a:srgbClr val="EEB653"/>
          </a:solidFill>
          <a:ln/>
        </p:spPr>
      </p:sp>
      <p:sp>
        <p:nvSpPr>
          <p:cNvPr id="63" name="Shape 61"/>
          <p:cNvSpPr/>
          <p:nvPr/>
        </p:nvSpPr>
        <p:spPr>
          <a:xfrm>
            <a:off x="17105709" y="560070"/>
            <a:ext cx="1029891" cy="236220"/>
          </a:xfrm>
          <a:prstGeom prst="roundRect">
            <a:avLst>
              <a:gd name="adj" fmla="val 28226"/>
            </a:avLst>
          </a:prstGeom>
          <a:solidFill>
            <a:srgbClr val="EEB653">
              <a:alpha val="10000"/>
            </a:srgbClr>
          </a:solidFill>
          <a:ln w="7620">
            <a:solidFill>
              <a:srgbClr val="EEB653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180004" y="624840"/>
            <a:ext cx="88130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38" kern="0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ENTRIES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219450" y="1003935"/>
            <a:ext cx="59245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125" dirty="0"/>
          </a:p>
        </p:txBody>
      </p:sp>
      <p:sp>
        <p:nvSpPr>
          <p:cNvPr id="66" name="Text 64"/>
          <p:cNvSpPr/>
          <p:nvPr/>
        </p:nvSpPr>
        <p:spPr>
          <a:xfrm>
            <a:off x="3850005" y="1034415"/>
            <a:ext cx="528589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apply immediately in paper mode · overrides may only tighten global rules, never loosen them</a:t>
            </a:r>
            <a:endParaRPr lang="en-US" sz="788" dirty="0"/>
          </a:p>
        </p:txBody>
      </p:sp>
      <p:sp>
        <p:nvSpPr>
          <p:cNvPr id="67" name="Shape 65"/>
          <p:cNvSpPr/>
          <p:nvPr/>
        </p:nvSpPr>
        <p:spPr>
          <a:xfrm>
            <a:off x="3219450" y="1285875"/>
            <a:ext cx="7400925" cy="2587943"/>
          </a:xfrm>
          <a:prstGeom prst="roundRect">
            <a:avLst>
              <a:gd name="adj" fmla="val 4417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79470" y="1426845"/>
            <a:ext cx="778897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 &amp; GLOBAL RISK LIMITS</a:t>
            </a:r>
            <a:endParaRPr lang="en-US" sz="713" dirty="0"/>
          </a:p>
        </p:txBody>
      </p:sp>
      <p:sp>
        <p:nvSpPr>
          <p:cNvPr id="69" name="Text 67"/>
          <p:cNvSpPr/>
          <p:nvPr/>
        </p:nvSpPr>
        <p:spPr>
          <a:xfrm>
            <a:off x="3379470" y="1722120"/>
            <a:ext cx="19907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Allocated capital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284470" y="1725930"/>
            <a:ext cx="133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436870" y="1638300"/>
            <a:ext cx="5023485" cy="312420"/>
          </a:xfrm>
          <a:prstGeom prst="roundRect">
            <a:avLst>
              <a:gd name="adj" fmla="val 24390"/>
            </a:avLst>
          </a:prstGeom>
          <a:solidFill>
            <a:srgbClr val="20232F"/>
          </a:solidFill>
          <a:ln w="7620">
            <a:solidFill>
              <a:srgbClr val="949EDC">
                <a:alpha val="16000"/>
              </a:srgbClr>
            </a:solidFill>
            <a:prstDash val="solid"/>
          </a:ln>
        </p:spPr>
      </p:sp>
      <p:pic>
        <p:nvPicPr>
          <p:cNvPr id="7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870" y="1638300"/>
            <a:ext cx="5023485" cy="31242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3379470" y="2139315"/>
            <a:ext cx="19907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gross exposure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284470" y="2143125"/>
            <a:ext cx="133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436870" y="2055495"/>
            <a:ext cx="5023485" cy="312420"/>
          </a:xfrm>
          <a:prstGeom prst="roundRect">
            <a:avLst>
              <a:gd name="adj" fmla="val 24390"/>
            </a:avLst>
          </a:prstGeom>
          <a:solidFill>
            <a:srgbClr val="20232F"/>
          </a:solidFill>
          <a:ln w="7620">
            <a:solidFill>
              <a:srgbClr val="949EDC">
                <a:alpha val="16000"/>
              </a:srgbClr>
            </a:solidFill>
            <a:prstDash val="solid"/>
          </a:ln>
        </p:spPr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870" y="2055495"/>
            <a:ext cx="5023485" cy="312420"/>
          </a:xfrm>
          <a:prstGeom prst="rect">
            <a:avLst/>
          </a:prstGeom>
        </p:spPr>
      </p:pic>
      <p:sp>
        <p:nvSpPr>
          <p:cNvPr id="77" name="Text 73"/>
          <p:cNvSpPr/>
          <p:nvPr/>
        </p:nvSpPr>
        <p:spPr>
          <a:xfrm>
            <a:off x="3379470" y="2552700"/>
            <a:ext cx="19907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 limit</a:t>
            </a:r>
            <a:endParaRPr lang="en-US" sz="900" dirty="0"/>
          </a:p>
        </p:txBody>
      </p:sp>
      <p:sp>
        <p:nvSpPr>
          <p:cNvPr id="78" name="Text 74"/>
          <p:cNvSpPr/>
          <p:nvPr/>
        </p:nvSpPr>
        <p:spPr>
          <a:xfrm>
            <a:off x="5284470" y="2556510"/>
            <a:ext cx="1333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5436870" y="2472690"/>
            <a:ext cx="5023485" cy="304800"/>
          </a:xfrm>
          <a:prstGeom prst="roundRect">
            <a:avLst>
              <a:gd name="adj" fmla="val 25000"/>
            </a:avLst>
          </a:prstGeom>
          <a:solidFill>
            <a:srgbClr val="20232F"/>
          </a:solidFill>
          <a:ln w="7620">
            <a:solidFill>
              <a:srgbClr val="EEB653">
                <a:alpha val="35000"/>
              </a:srgbClr>
            </a:solidFill>
            <a:prstDash val="solid"/>
          </a:ln>
        </p:spPr>
      </p:sp>
      <p:pic>
        <p:nvPicPr>
          <p:cNvPr id="8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870" y="2472690"/>
            <a:ext cx="5023485" cy="304800"/>
          </a:xfrm>
          <a:prstGeom prst="rect">
            <a:avLst/>
          </a:prstGeom>
        </p:spPr>
      </p:pic>
      <p:sp>
        <p:nvSpPr>
          <p:cNvPr id="81" name="Text 76"/>
          <p:cNvSpPr/>
          <p:nvPr/>
        </p:nvSpPr>
        <p:spPr>
          <a:xfrm>
            <a:off x="3379470" y="2905125"/>
            <a:ext cx="19907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at</a:t>
            </a:r>
            <a:endParaRPr lang="en-US" sz="900" dirty="0"/>
          </a:p>
        </p:txBody>
      </p:sp>
      <p:sp>
        <p:nvSpPr>
          <p:cNvPr id="82" name="Shape 77"/>
          <p:cNvSpPr/>
          <p:nvPr/>
        </p:nvSpPr>
        <p:spPr>
          <a:xfrm>
            <a:off x="5303520" y="2901315"/>
            <a:ext cx="4413885" cy="152400"/>
          </a:xfrm>
          <a:prstGeom prst="rect">
            <a:avLst/>
          </a:prstGeom>
          <a:solidFill>
            <a:srgbClr val="3B3B3B"/>
          </a:solidFill>
          <a:ln/>
        </p:spPr>
      </p:sp>
      <p:pic>
        <p:nvPicPr>
          <p:cNvPr id="8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901315"/>
            <a:ext cx="4413885" cy="152400"/>
          </a:xfrm>
          <a:prstGeom prst="rect">
            <a:avLst/>
          </a:prstGeom>
        </p:spPr>
      </p:pic>
      <p:sp>
        <p:nvSpPr>
          <p:cNvPr id="84" name="Text 78"/>
          <p:cNvSpPr/>
          <p:nvPr/>
        </p:nvSpPr>
        <p:spPr>
          <a:xfrm>
            <a:off x="9755506" y="2912745"/>
            <a:ext cx="7048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EB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</a:t>
            </a:r>
            <a:endParaRPr lang="en-US" sz="900" dirty="0"/>
          </a:p>
        </p:txBody>
      </p:sp>
      <p:sp>
        <p:nvSpPr>
          <p:cNvPr id="85" name="Text 79"/>
          <p:cNvSpPr/>
          <p:nvPr/>
        </p:nvSpPr>
        <p:spPr>
          <a:xfrm>
            <a:off x="3379470" y="3261360"/>
            <a:ext cx="19907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open positions</a:t>
            </a:r>
            <a:endParaRPr lang="en-US" sz="900" dirty="0"/>
          </a:p>
        </p:txBody>
      </p:sp>
      <p:sp>
        <p:nvSpPr>
          <p:cNvPr id="86" name="Shape 80"/>
          <p:cNvSpPr/>
          <p:nvPr/>
        </p:nvSpPr>
        <p:spPr>
          <a:xfrm>
            <a:off x="5284470" y="3177540"/>
            <a:ext cx="967740" cy="312420"/>
          </a:xfrm>
          <a:prstGeom prst="roundRect">
            <a:avLst>
              <a:gd name="adj" fmla="val 24390"/>
            </a:avLst>
          </a:prstGeom>
          <a:solidFill>
            <a:srgbClr val="20232F"/>
          </a:solidFill>
          <a:ln w="7620">
            <a:solidFill>
              <a:srgbClr val="949EDC">
                <a:alpha val="16000"/>
              </a:srgbClr>
            </a:solidFill>
            <a:prstDash val="solid"/>
          </a:ln>
        </p:spPr>
      </p:sp>
      <p:pic>
        <p:nvPicPr>
          <p:cNvPr id="8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4470" y="3177540"/>
            <a:ext cx="967740" cy="312420"/>
          </a:xfrm>
          <a:prstGeom prst="rect">
            <a:avLst/>
          </a:prstGeom>
        </p:spPr>
      </p:pic>
      <p:sp>
        <p:nvSpPr>
          <p:cNvPr id="88" name="Text 81"/>
          <p:cNvSpPr/>
          <p:nvPr/>
        </p:nvSpPr>
        <p:spPr>
          <a:xfrm>
            <a:off x="6347460" y="3268980"/>
            <a:ext cx="104489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strategies</a:t>
            </a:r>
            <a:endParaRPr lang="en-US" sz="788" dirty="0"/>
          </a:p>
        </p:txBody>
      </p:sp>
      <p:sp>
        <p:nvSpPr>
          <p:cNvPr id="89" name="Text 82"/>
          <p:cNvSpPr/>
          <p:nvPr/>
        </p:nvSpPr>
        <p:spPr>
          <a:xfrm>
            <a:off x="3379470" y="3594735"/>
            <a:ext cx="778897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100% of the loss limit the engine halts new entries for the day and manages exits only. The kill switch remains available at all times.</a:t>
            </a:r>
            <a:endParaRPr lang="en-US" sz="750" dirty="0"/>
          </a:p>
        </p:txBody>
      </p:sp>
      <p:sp>
        <p:nvSpPr>
          <p:cNvPr id="90" name="Shape 83"/>
          <p:cNvSpPr/>
          <p:nvPr/>
        </p:nvSpPr>
        <p:spPr>
          <a:xfrm>
            <a:off x="10734675" y="1285875"/>
            <a:ext cx="7400925" cy="1468755"/>
          </a:xfrm>
          <a:prstGeom prst="roundRect">
            <a:avLst>
              <a:gd name="adj" fmla="val 7782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91" name="Text 84"/>
          <p:cNvSpPr/>
          <p:nvPr/>
        </p:nvSpPr>
        <p:spPr>
          <a:xfrm>
            <a:off x="10894695" y="1426845"/>
            <a:ext cx="778897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</a:t>
            </a:r>
            <a:endParaRPr lang="en-US" sz="713" dirty="0"/>
          </a:p>
        </p:txBody>
      </p:sp>
      <p:sp>
        <p:nvSpPr>
          <p:cNvPr id="92" name="Text 85"/>
          <p:cNvSpPr/>
          <p:nvPr/>
        </p:nvSpPr>
        <p:spPr>
          <a:xfrm>
            <a:off x="10894695" y="1687830"/>
            <a:ext cx="15716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candle</a:t>
            </a:r>
            <a:endParaRPr lang="en-US" sz="900" dirty="0"/>
          </a:p>
        </p:txBody>
      </p:sp>
      <p:sp>
        <p:nvSpPr>
          <p:cNvPr id="93" name="Shape 86"/>
          <p:cNvSpPr/>
          <p:nvPr/>
        </p:nvSpPr>
        <p:spPr>
          <a:xfrm>
            <a:off x="12418695" y="1638300"/>
            <a:ext cx="363855" cy="243840"/>
          </a:xfrm>
          <a:prstGeom prst="roundRect">
            <a:avLst>
              <a:gd name="adj" fmla="val 27344"/>
            </a:avLst>
          </a:prstGeom>
          <a:ln w="7620">
            <a:solidFill>
              <a:srgbClr val="949EDC">
                <a:alpha val="25000"/>
              </a:srgbClr>
            </a:solidFill>
            <a:prstDash val="solid"/>
          </a:ln>
        </p:spPr>
      </p:sp>
      <p:sp>
        <p:nvSpPr>
          <p:cNvPr id="94" name="Text 87"/>
          <p:cNvSpPr/>
          <p:nvPr/>
        </p:nvSpPr>
        <p:spPr>
          <a:xfrm>
            <a:off x="12502515" y="1703070"/>
            <a:ext cx="1962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</a:t>
            </a:r>
            <a:endParaRPr lang="en-US" sz="788" dirty="0"/>
          </a:p>
        </p:txBody>
      </p:sp>
      <p:sp>
        <p:nvSpPr>
          <p:cNvPr id="95" name="Shape 88"/>
          <p:cNvSpPr/>
          <p:nvPr/>
        </p:nvSpPr>
        <p:spPr>
          <a:xfrm>
            <a:off x="12839700" y="1638300"/>
            <a:ext cx="363855" cy="243840"/>
          </a:xfrm>
          <a:prstGeom prst="roundRect">
            <a:avLst>
              <a:gd name="adj" fmla="val 27344"/>
            </a:avLst>
          </a:prstGeom>
          <a:ln w="7620">
            <a:solidFill>
              <a:srgbClr val="949EDC">
                <a:alpha val="25000"/>
              </a:srgbClr>
            </a:solidFill>
            <a:prstDash val="solid"/>
          </a:ln>
        </p:spPr>
      </p:sp>
      <p:sp>
        <p:nvSpPr>
          <p:cNvPr id="96" name="Text 89"/>
          <p:cNvSpPr/>
          <p:nvPr/>
        </p:nvSpPr>
        <p:spPr>
          <a:xfrm>
            <a:off x="12923520" y="1703070"/>
            <a:ext cx="1962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3m</a:t>
            </a:r>
            <a:endParaRPr lang="en-US" sz="788" dirty="0"/>
          </a:p>
        </p:txBody>
      </p:sp>
      <p:sp>
        <p:nvSpPr>
          <p:cNvPr id="97" name="Shape 90"/>
          <p:cNvSpPr/>
          <p:nvPr/>
        </p:nvSpPr>
        <p:spPr>
          <a:xfrm>
            <a:off x="13260706" y="1638300"/>
            <a:ext cx="363855" cy="243840"/>
          </a:xfrm>
          <a:prstGeom prst="roundRect">
            <a:avLst>
              <a:gd name="adj" fmla="val 27344"/>
            </a:avLst>
          </a:prstGeom>
          <a:solidFill>
            <a:srgbClr val="8F97F9"/>
          </a:solidFill>
          <a:ln w="7620">
            <a:solidFill>
              <a:srgbClr val="8F97F9"/>
            </a:solidFill>
            <a:prstDash val="solid"/>
          </a:ln>
        </p:spPr>
      </p:sp>
      <p:sp>
        <p:nvSpPr>
          <p:cNvPr id="98" name="Text 91"/>
          <p:cNvSpPr/>
          <p:nvPr/>
        </p:nvSpPr>
        <p:spPr>
          <a:xfrm>
            <a:off x="13344526" y="1703070"/>
            <a:ext cx="1962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5m</a:t>
            </a:r>
            <a:endParaRPr lang="en-US" sz="788" dirty="0"/>
          </a:p>
        </p:txBody>
      </p:sp>
      <p:sp>
        <p:nvSpPr>
          <p:cNvPr id="99" name="Shape 92"/>
          <p:cNvSpPr/>
          <p:nvPr/>
        </p:nvSpPr>
        <p:spPr>
          <a:xfrm>
            <a:off x="13681710" y="1638300"/>
            <a:ext cx="423863" cy="243840"/>
          </a:xfrm>
          <a:prstGeom prst="roundRect">
            <a:avLst>
              <a:gd name="adj" fmla="val 27344"/>
            </a:avLst>
          </a:prstGeom>
          <a:ln w="7620">
            <a:solidFill>
              <a:srgbClr val="949EDC">
                <a:alpha val="25000"/>
              </a:srgbClr>
            </a:solidFill>
            <a:prstDash val="solid"/>
          </a:ln>
        </p:spPr>
      </p:sp>
      <p:sp>
        <p:nvSpPr>
          <p:cNvPr id="100" name="Text 93"/>
          <p:cNvSpPr/>
          <p:nvPr/>
        </p:nvSpPr>
        <p:spPr>
          <a:xfrm>
            <a:off x="13765530" y="1703070"/>
            <a:ext cx="25622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15m</a:t>
            </a:r>
            <a:endParaRPr lang="en-US" sz="788" dirty="0"/>
          </a:p>
        </p:txBody>
      </p:sp>
      <p:sp>
        <p:nvSpPr>
          <p:cNvPr id="101" name="Text 94"/>
          <p:cNvSpPr/>
          <p:nvPr/>
        </p:nvSpPr>
        <p:spPr>
          <a:xfrm>
            <a:off x="10894695" y="2070735"/>
            <a:ext cx="15716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square-off</a:t>
            </a:r>
            <a:endParaRPr lang="en-US" sz="900" dirty="0"/>
          </a:p>
        </p:txBody>
      </p:sp>
      <p:sp>
        <p:nvSpPr>
          <p:cNvPr id="102" name="Shape 95"/>
          <p:cNvSpPr/>
          <p:nvPr/>
        </p:nvSpPr>
        <p:spPr>
          <a:xfrm>
            <a:off x="12418695" y="1986915"/>
            <a:ext cx="1062990" cy="312420"/>
          </a:xfrm>
          <a:prstGeom prst="roundRect">
            <a:avLst>
              <a:gd name="adj" fmla="val 24390"/>
            </a:avLst>
          </a:prstGeom>
          <a:solidFill>
            <a:srgbClr val="20232F"/>
          </a:solidFill>
          <a:ln w="7620">
            <a:solidFill>
              <a:srgbClr val="949EDC">
                <a:alpha val="16000"/>
              </a:srgbClr>
            </a:solidFill>
            <a:prstDash val="solid"/>
          </a:ln>
        </p:spPr>
      </p:sp>
      <p:pic>
        <p:nvPicPr>
          <p:cNvPr id="10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8695" y="1986915"/>
            <a:ext cx="1062990" cy="312420"/>
          </a:xfrm>
          <a:prstGeom prst="rect">
            <a:avLst/>
          </a:prstGeom>
        </p:spPr>
      </p:pic>
      <p:sp>
        <p:nvSpPr>
          <p:cNvPr id="104" name="Text 96"/>
          <p:cNvSpPr/>
          <p:nvPr/>
        </p:nvSpPr>
        <p:spPr>
          <a:xfrm>
            <a:off x="13576935" y="2078355"/>
            <a:ext cx="187298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· intraday only, no overnight risk</a:t>
            </a:r>
            <a:endParaRPr lang="en-US" sz="788" dirty="0"/>
          </a:p>
        </p:txBody>
      </p:sp>
      <p:sp>
        <p:nvSpPr>
          <p:cNvPr id="105" name="Text 97"/>
          <p:cNvSpPr/>
          <p:nvPr/>
        </p:nvSpPr>
        <p:spPr>
          <a:xfrm>
            <a:off x="10894695" y="2436495"/>
            <a:ext cx="15716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900" dirty="0"/>
          </a:p>
        </p:txBody>
      </p:sp>
      <p:sp>
        <p:nvSpPr>
          <p:cNvPr id="106" name="Shape 98"/>
          <p:cNvSpPr/>
          <p:nvPr/>
        </p:nvSpPr>
        <p:spPr>
          <a:xfrm>
            <a:off x="12418695" y="2404110"/>
            <a:ext cx="628650" cy="209550"/>
          </a:xfrm>
          <a:prstGeom prst="roundRect">
            <a:avLst>
              <a:gd name="adj" fmla="val 27273"/>
            </a:avLst>
          </a:prstGeom>
          <a:solidFill>
            <a:srgbClr val="20232F"/>
          </a:solidFill>
          <a:ln/>
        </p:spPr>
      </p:sp>
      <p:sp>
        <p:nvSpPr>
          <p:cNvPr id="107" name="Text 99"/>
          <p:cNvSpPr/>
          <p:nvPr/>
        </p:nvSpPr>
        <p:spPr>
          <a:xfrm>
            <a:off x="12504420" y="2451735"/>
            <a:ext cx="5334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RELIANCE</a:t>
            </a:r>
            <a:endParaRPr lang="en-US" sz="750" dirty="0"/>
          </a:p>
        </p:txBody>
      </p:sp>
      <p:sp>
        <p:nvSpPr>
          <p:cNvPr id="108" name="Shape 100"/>
          <p:cNvSpPr/>
          <p:nvPr/>
        </p:nvSpPr>
        <p:spPr>
          <a:xfrm>
            <a:off x="13142595" y="2404110"/>
            <a:ext cx="342900" cy="209550"/>
          </a:xfrm>
          <a:prstGeom prst="roundRect">
            <a:avLst>
              <a:gd name="adj" fmla="val 27273"/>
            </a:avLst>
          </a:prstGeom>
          <a:solidFill>
            <a:srgbClr val="20232F"/>
          </a:solidFill>
          <a:ln/>
        </p:spPr>
      </p:sp>
      <p:sp>
        <p:nvSpPr>
          <p:cNvPr id="109" name="Text 101"/>
          <p:cNvSpPr/>
          <p:nvPr/>
        </p:nvSpPr>
        <p:spPr>
          <a:xfrm>
            <a:off x="13228320" y="2451735"/>
            <a:ext cx="2476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TCS</a:t>
            </a:r>
            <a:endParaRPr lang="en-US" sz="750" dirty="0"/>
          </a:p>
        </p:txBody>
      </p:sp>
      <p:sp>
        <p:nvSpPr>
          <p:cNvPr id="110" name="Shape 102"/>
          <p:cNvSpPr/>
          <p:nvPr/>
        </p:nvSpPr>
        <p:spPr>
          <a:xfrm>
            <a:off x="13580745" y="2404110"/>
            <a:ext cx="628650" cy="209550"/>
          </a:xfrm>
          <a:prstGeom prst="roundRect">
            <a:avLst>
              <a:gd name="adj" fmla="val 27273"/>
            </a:avLst>
          </a:prstGeom>
          <a:solidFill>
            <a:srgbClr val="20232F"/>
          </a:solidFill>
          <a:ln/>
        </p:spPr>
      </p:sp>
      <p:sp>
        <p:nvSpPr>
          <p:cNvPr id="111" name="Text 103"/>
          <p:cNvSpPr/>
          <p:nvPr/>
        </p:nvSpPr>
        <p:spPr>
          <a:xfrm>
            <a:off x="13666470" y="2451735"/>
            <a:ext cx="5334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HDFCBANK</a:t>
            </a:r>
            <a:endParaRPr lang="en-US" sz="750" dirty="0"/>
          </a:p>
        </p:txBody>
      </p:sp>
      <p:sp>
        <p:nvSpPr>
          <p:cNvPr id="112" name="Shape 104"/>
          <p:cNvSpPr/>
          <p:nvPr/>
        </p:nvSpPr>
        <p:spPr>
          <a:xfrm>
            <a:off x="14304645" y="2404110"/>
            <a:ext cx="400050" cy="209550"/>
          </a:xfrm>
          <a:prstGeom prst="roundRect">
            <a:avLst>
              <a:gd name="adj" fmla="val 27273"/>
            </a:avLst>
          </a:prstGeom>
          <a:solidFill>
            <a:srgbClr val="20232F"/>
          </a:solidFill>
          <a:ln/>
        </p:spPr>
      </p:sp>
      <p:sp>
        <p:nvSpPr>
          <p:cNvPr id="113" name="Text 105"/>
          <p:cNvSpPr/>
          <p:nvPr/>
        </p:nvSpPr>
        <p:spPr>
          <a:xfrm>
            <a:off x="14390370" y="2451735"/>
            <a:ext cx="304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INFY</a:t>
            </a:r>
            <a:endParaRPr lang="en-US" sz="750" dirty="0"/>
          </a:p>
        </p:txBody>
      </p:sp>
      <p:sp>
        <p:nvSpPr>
          <p:cNvPr id="114" name="Shape 106"/>
          <p:cNvSpPr/>
          <p:nvPr/>
        </p:nvSpPr>
        <p:spPr>
          <a:xfrm>
            <a:off x="14799945" y="2404110"/>
            <a:ext cx="400050" cy="209550"/>
          </a:xfrm>
          <a:prstGeom prst="roundRect">
            <a:avLst>
              <a:gd name="adj" fmla="val 27273"/>
            </a:avLst>
          </a:prstGeom>
          <a:solidFill>
            <a:srgbClr val="20232F"/>
          </a:solidFill>
          <a:ln/>
        </p:spPr>
      </p:sp>
      <p:sp>
        <p:nvSpPr>
          <p:cNvPr id="115" name="Text 107"/>
          <p:cNvSpPr/>
          <p:nvPr/>
        </p:nvSpPr>
        <p:spPr>
          <a:xfrm>
            <a:off x="14885670" y="2451735"/>
            <a:ext cx="304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SBIN</a:t>
            </a:r>
            <a:endParaRPr lang="en-US" sz="750" dirty="0"/>
          </a:p>
        </p:txBody>
      </p:sp>
      <p:sp>
        <p:nvSpPr>
          <p:cNvPr id="116" name="Shape 108"/>
          <p:cNvSpPr/>
          <p:nvPr/>
        </p:nvSpPr>
        <p:spPr>
          <a:xfrm>
            <a:off x="15295245" y="2404110"/>
            <a:ext cx="742950" cy="209550"/>
          </a:xfrm>
          <a:prstGeom prst="roundRect">
            <a:avLst>
              <a:gd name="adj" fmla="val 27273"/>
            </a:avLst>
          </a:prstGeom>
          <a:solidFill>
            <a:srgbClr val="20232F"/>
          </a:solidFill>
          <a:ln/>
        </p:spPr>
      </p:sp>
      <p:sp>
        <p:nvSpPr>
          <p:cNvPr id="117" name="Text 109"/>
          <p:cNvSpPr/>
          <p:nvPr/>
        </p:nvSpPr>
        <p:spPr>
          <a:xfrm>
            <a:off x="15380970" y="2451735"/>
            <a:ext cx="6477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TATAMOTORS</a:t>
            </a:r>
            <a:endParaRPr lang="en-US" sz="750" dirty="0"/>
          </a:p>
        </p:txBody>
      </p:sp>
      <p:sp>
        <p:nvSpPr>
          <p:cNvPr id="118" name="Shape 110"/>
          <p:cNvSpPr/>
          <p:nvPr/>
        </p:nvSpPr>
        <p:spPr>
          <a:xfrm>
            <a:off x="10734675" y="2868930"/>
            <a:ext cx="7400925" cy="1181100"/>
          </a:xfrm>
          <a:prstGeom prst="roundRect">
            <a:avLst>
              <a:gd name="adj" fmla="val 9677"/>
            </a:avLst>
          </a:prstGeom>
          <a:solidFill>
            <a:srgbClr val="1B1D27"/>
          </a:solidFill>
          <a:ln w="7620">
            <a:solidFill>
              <a:srgbClr val="949EDC">
                <a:alpha val="13000"/>
              </a:srgbClr>
            </a:solidFill>
            <a:prstDash val="solid"/>
          </a:ln>
        </p:spPr>
      </p:sp>
      <p:sp>
        <p:nvSpPr>
          <p:cNvPr id="119" name="Text 111"/>
          <p:cNvSpPr/>
          <p:nvPr/>
        </p:nvSpPr>
        <p:spPr>
          <a:xfrm>
            <a:off x="10894695" y="3009900"/>
            <a:ext cx="778897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656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</a:t>
            </a:r>
            <a:endParaRPr lang="en-US" sz="713" dirty="0"/>
          </a:p>
        </p:txBody>
      </p:sp>
      <p:sp>
        <p:nvSpPr>
          <p:cNvPr id="120" name="Shape 112"/>
          <p:cNvSpPr/>
          <p:nvPr/>
        </p:nvSpPr>
        <p:spPr>
          <a:xfrm>
            <a:off x="10894695" y="3211830"/>
            <a:ext cx="339090" cy="339090"/>
          </a:xfrm>
          <a:prstGeom prst="roundRect">
            <a:avLst>
              <a:gd name="adj" fmla="val 25281"/>
            </a:avLst>
          </a:prstGeom>
          <a:solidFill>
            <a:srgbClr val="20232F"/>
          </a:solidFill>
          <a:ln w="7620">
            <a:solidFill>
              <a:srgbClr val="949EDC">
                <a:alpha val="16000"/>
              </a:srgbClr>
            </a:solidFill>
            <a:prstDash val="solid"/>
          </a:ln>
        </p:spPr>
      </p:sp>
      <p:sp>
        <p:nvSpPr>
          <p:cNvPr id="121" name="Text 113"/>
          <p:cNvSpPr/>
          <p:nvPr/>
        </p:nvSpPr>
        <p:spPr>
          <a:xfrm>
            <a:off x="10864215" y="32194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9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</a:t>
            </a:r>
            <a:endParaRPr lang="en-US" sz="900" dirty="0"/>
          </a:p>
        </p:txBody>
      </p:sp>
      <p:sp>
        <p:nvSpPr>
          <p:cNvPr id="122" name="Text 114"/>
          <p:cNvSpPr/>
          <p:nvPr/>
        </p:nvSpPr>
        <p:spPr>
          <a:xfrm>
            <a:off x="11338560" y="3255645"/>
            <a:ext cx="121920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C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FYERS · websocket</a:t>
            </a:r>
            <a:endParaRPr lang="en-US" sz="938" dirty="0"/>
          </a:p>
        </p:txBody>
      </p:sp>
      <p:sp>
        <p:nvSpPr>
          <p:cNvPr id="123" name="Text 115"/>
          <p:cNvSpPr/>
          <p:nvPr/>
        </p:nvSpPr>
        <p:spPr>
          <a:xfrm>
            <a:off x="11338560" y="3392805"/>
            <a:ext cx="12192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PAPER-SIM-01</a:t>
            </a:r>
            <a:endParaRPr lang="en-US" sz="750" dirty="0"/>
          </a:p>
        </p:txBody>
      </p:sp>
      <p:sp>
        <p:nvSpPr>
          <p:cNvPr id="124" name="Shape 116"/>
          <p:cNvSpPr/>
          <p:nvPr/>
        </p:nvSpPr>
        <p:spPr>
          <a:xfrm>
            <a:off x="17175361" y="3352800"/>
            <a:ext cx="57150" cy="5715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25" name="Text 117"/>
          <p:cNvSpPr/>
          <p:nvPr/>
        </p:nvSpPr>
        <p:spPr>
          <a:xfrm>
            <a:off x="17289661" y="3328035"/>
            <a:ext cx="7621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FYERS · 44ms</a:t>
            </a:r>
            <a:endParaRPr lang="en-US" sz="750" dirty="0"/>
          </a:p>
        </p:txBody>
      </p:sp>
      <p:sp>
        <p:nvSpPr>
          <p:cNvPr id="126" name="Shape 118"/>
          <p:cNvSpPr/>
          <p:nvPr/>
        </p:nvSpPr>
        <p:spPr>
          <a:xfrm>
            <a:off x="10894695" y="3646170"/>
            <a:ext cx="802958" cy="262890"/>
          </a:xfrm>
          <a:prstGeom prst="roundRect">
            <a:avLst>
              <a:gd name="adj" fmla="val 28986"/>
            </a:avLst>
          </a:prstGeom>
          <a:ln w="7620">
            <a:solidFill>
              <a:srgbClr val="949EDC">
                <a:alpha val="30000"/>
              </a:srgbClr>
            </a:solidFill>
            <a:prstDash val="solid"/>
          </a:ln>
        </p:spPr>
      </p:sp>
      <p:sp>
        <p:nvSpPr>
          <p:cNvPr id="127" name="Text 119"/>
          <p:cNvSpPr/>
          <p:nvPr/>
        </p:nvSpPr>
        <p:spPr>
          <a:xfrm>
            <a:off x="10988040" y="3720465"/>
            <a:ext cx="61626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9AA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RECONNECT</a:t>
            </a:r>
            <a:endParaRPr lang="en-US" sz="788" dirty="0"/>
          </a:p>
        </p:txBody>
      </p:sp>
      <p:sp>
        <p:nvSpPr>
          <p:cNvPr id="128" name="Text 120"/>
          <p:cNvSpPr/>
          <p:nvPr/>
        </p:nvSpPr>
        <p:spPr>
          <a:xfrm>
            <a:off x="11773852" y="3716655"/>
            <a:ext cx="356143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trading stays locked until the 60-session paper validation passes.</a:t>
            </a:r>
            <a:endParaRPr lang="en-US" sz="750" dirty="0"/>
          </a:p>
        </p:txBody>
      </p:sp>
      <p:sp>
        <p:nvSpPr>
          <p:cNvPr id="129" name="Shape 121"/>
          <p:cNvSpPr/>
          <p:nvPr/>
        </p:nvSpPr>
        <p:spPr>
          <a:xfrm>
            <a:off x="10734675" y="4164330"/>
            <a:ext cx="7400925" cy="563880"/>
          </a:xfrm>
          <a:prstGeom prst="roundRect">
            <a:avLst>
              <a:gd name="adj" fmla="val 20270"/>
            </a:avLst>
          </a:prstGeom>
          <a:solidFill>
            <a:srgbClr val="1B1D27"/>
          </a:solidFill>
          <a:ln w="7620">
            <a:solidFill>
              <a:srgbClr val="F16F7B">
                <a:alpha val="25000"/>
              </a:srgbClr>
            </a:solidFill>
            <a:prstDash val="solid"/>
          </a:ln>
        </p:spPr>
      </p:sp>
      <p:sp>
        <p:nvSpPr>
          <p:cNvPr id="130" name="Text 122"/>
          <p:cNvSpPr/>
          <p:nvPr/>
        </p:nvSpPr>
        <p:spPr>
          <a:xfrm>
            <a:off x="10894695" y="4307205"/>
            <a:ext cx="444756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paper day</a:t>
            </a:r>
            <a:endParaRPr lang="en-US" sz="900" dirty="0"/>
          </a:p>
        </p:txBody>
      </p:sp>
      <p:sp>
        <p:nvSpPr>
          <p:cNvPr id="131" name="Text 123"/>
          <p:cNvSpPr/>
          <p:nvPr/>
        </p:nvSpPr>
        <p:spPr>
          <a:xfrm>
            <a:off x="10894695" y="4455795"/>
            <a:ext cx="444756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56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Restores the demo session — positions, orders and P&amp;L return to the scripted state.</a:t>
            </a:r>
            <a:endParaRPr lang="en-US" sz="788" dirty="0"/>
          </a:p>
        </p:txBody>
      </p:sp>
      <p:sp>
        <p:nvSpPr>
          <p:cNvPr id="132" name="Shape 124"/>
          <p:cNvSpPr/>
          <p:nvPr/>
        </p:nvSpPr>
        <p:spPr>
          <a:xfrm>
            <a:off x="17268825" y="4305300"/>
            <a:ext cx="706755" cy="281940"/>
          </a:xfrm>
          <a:prstGeom prst="roundRect">
            <a:avLst>
              <a:gd name="adj" fmla="val 27027"/>
            </a:avLst>
          </a:prstGeom>
          <a:ln w="7620">
            <a:solidFill>
              <a:srgbClr val="F16F7B">
                <a:alpha val="50000"/>
              </a:srgbClr>
            </a:solidFill>
            <a:prstDash val="solid"/>
          </a:ln>
        </p:spPr>
      </p:sp>
      <p:sp>
        <p:nvSpPr>
          <p:cNvPr id="133" name="Text 125"/>
          <p:cNvSpPr/>
          <p:nvPr/>
        </p:nvSpPr>
        <p:spPr>
          <a:xfrm>
            <a:off x="17362170" y="4389120"/>
            <a:ext cx="52006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1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 ↺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2026-07-05T02:53:14Z</dcterms:created>
  <dcterms:modified xsi:type="dcterms:W3CDTF">2026-07-05T02:53:14Z</dcterms:modified>
</cp:coreProperties>
</file>